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안녕하세요, 팀 마요선수입니다. 저희 서비스 이름은 '카페 인 제주'입니다. '제주 안의 카페'와 커피의 '카페인'을 겹친 말장난인데, 이름값을 하려면 정신이 번쩍 들 만큼 믿을 수 있어야겠지요. 한 문장으로 정의하면 — 모든 추천에 원문 인용을 붙이는 제주 카페 RAG 검색 서비스입니다. RAG는 검색 증강 생성, 그러니까 AI가 답을 지어내지 않도록 먼저 자료를 검색해 그 자료를 근거로만 답하게 하는 방식입니다. 저희는 거기서 한 걸음 더 나가, 근거를 요약이나 의역이 아니라 원문 인용 그대로 붙이도록 코드로 강제했습니다. 그래서 저희 정체성은 이 한 문장입니다 — 검색엔진에 LLM을 장식으로 붙인 게 아니라, LLM에게 잘 정제된 데이터와 읽을 수 있는 검색 도구를 쥐여줬다. 오늘 30분은 이 문장이 무슨 뜻인지 증명하는 시간입니다.</a:t>
            </a:r>
          </a:p>
          <a:p/>
          <a:p>
            <a:r>
              <a:t>[이 슬라이드 예상 질문]</a:t>
            </a:r>
          </a:p>
          <a:p>
            <a:r>
              <a:t>- '읽을 수 있는 검색 도구'라는 게 구체적으로 무엇을 뜻하나요?</a:t>
            </a:r>
          </a:p>
          <a:p>
            <a:r>
              <a:t>- 생성형 챗봇이 아니라 굳이 '검색 서비스'라고 부르는 이유가 있나요?</a:t>
            </a:r>
          </a:p>
          <a:p>
            <a:r>
              <a:t>- 서비스가 실제로 배포되어 있나요?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오늘 여정은 여덟 정거장입니다. 제주 카페 검색이 왜 어려운지 문제에서 출발해서, 사용자가 보는 서비스 화면, 시스템 아키텍처, 데이터 파이프라인, 신뢰를 지키는 장치들, 그리고 평가 결과까지 보신 다음, 배포된 실서비스를 라이브로 시연하고 마무리하겠습니다. 들어가기 전에 세 가지만 미리 예고드립니다. 첫째, 판단은 LLM에게 맡기되 사실과 강제는 코드가 쥔다. 둘째, 같은 데이터도 놓이는 층을 옮기면 독이 약이 된다. 셋째, 횟수가 아니라 사람 수를 센다. 지금은 암호처럼 들리셔도 괜찮습니다. 오늘 발표 전체가 이 세 문장의 증거 수집이었다는 걸 끝에서 확인하시게 될 겁니다. 그럼 첫 정거장, 문제부터 시작하겠습니다.</a:t>
            </a:r>
          </a:p>
          <a:p/>
          <a:p>
            <a:r>
              <a:t>[이 슬라이드 예상 질문]</a:t>
            </a:r>
          </a:p>
          <a:p>
            <a:r>
              <a:t>- 데모는 라이브인가요? 네트워크가 안 되면 어떻게 하나요?</a:t>
            </a:r>
          </a:p>
          <a:p>
            <a:r>
              <a:t>- 이 세 가지 교훈은 다른 RAG 프로젝트에도 일반화되나요?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본격적인 이야기에 앞서, 한 여행자의 하루를 따라가 보겠습니다. 2026년 7월, 3주 런케이션 — 배움과 휴가를 겸하는 장기 체류죠 — 으로 제주에 온 어느 여행자의 이야기입니다. 부푼 마음으로 네이버에서 추천 카페를 찾아 나섰는데요. 좁은 도로와 만차 주차장에서 이미 진이 빠지고, 카페 안은 만석에 웨이팅까지 길게 늘어서 있습니다. 고생 끝에 받아 든 커피 한 잔은 정작 취향에 맞지도 않았고요. 실망감을 안고 도망치듯 카페를 나오며 머릿속에 남은 생각은 딱 하나였습니다. '믿을 만한 제주 카페 정보는 대체 어디서, 어떻게 찾지?' 저희 프로젝트는 바로 이 물음에서 출발했습니다.</a:t>
            </a:r>
          </a:p>
          <a:p/>
          <a:p>
            <a:r>
              <a:t>[이 슬라이드 예상 질문]</a:t>
            </a:r>
          </a:p>
          <a:p>
            <a:r>
              <a:t>- 이 에피소드는 실제 경험인가요, 구성된 시나리오인가요?</a:t>
            </a:r>
          </a:p>
          <a:p>
            <a:r>
              <a:t>- 기존 지도 앱이나 블로그 검색으로는 정말 해결이 안 되는 문제인가요?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이 물음을 뜯어 보면 장벽이 세 겹입니다. 첫째, 광고 오염입니다. 블로그 상위 노출은 협찬 글이 점령해서, 무엇이 진짜 후기인지 구분할 방법이 없습니다. 둘째, 정보 변동입니다. 폐업과 이전, 이름 표기 변형이 끊이지 않습니다. 저희가 수집한 데이터에서 직접 재 보니, '해일리'·'헤일리'·'성산해일리카페'처럼 표기 차이로 같은 카페가 여러 개로 잡힌 중복이 142그룹이나 나왔습니다. 해일리 카페 하나가 일곱 조각으로 잡혀 있었죠. 셋째, 채널 분산입니다. 영상은 유튜브, 평점과 위치는 카카오, 후기와 영업시간은 네이버에 흩어져 있어서, 카페 하나를 믿고 가려면 채널 세 곳을 일일이 오가며 교차 검증해야 합니다. 저희가 유튜브에서 모은 제주 카페만 1,064곳입니다. 구슬이 서 말이어도 꿰어야 보배인데, 꿰다가 여행이 끝날 판입니다.</a:t>
            </a:r>
          </a:p>
          <a:p/>
          <a:p>
            <a:r>
              <a:t>[이 슬라이드 예상 질문]</a:t>
            </a:r>
          </a:p>
          <a:p>
            <a:r>
              <a:t>- 중복 142그룹이라는 수치는 어떻게 측정했나요?</a:t>
            </a:r>
          </a:p>
          <a:p>
            <a:r>
              <a:t>- 채널 분산으로 인한 교차 검증의 수고를 정량적으로 재 봤나요?</a:t>
            </a:r>
          </a:p>
          <a:p>
            <a:r>
              <a:t>- 광고 오염은 정량적으로 측정해 봤나요?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여기서 자연스러운 반문이 나옵니다. '요즘 다들 쓰는 LLM, 그러니까 챗GPT 같은 대형 언어 모델에 물어보면 되지 않나?' 그 답으로 나온 기술이 RAG, 검색 증강 생성입니다. LLM이 기억에 의존해 지어내지 않도록, 먼저 관련 문서를 검색해 오고 그걸 근거로 답을 만들게 하는 방식이죠. 그런데 교과서적인 RAG를 카페 추천에 그대로 쓰면 함정이 셋 있습니다. 후기 전체를 임베딩, 그러니까 문장을 숫자 좌표로 바꿔 뭉뚱그린 뒤 유사도로 줄을 세우는데, '0.83점이라 1등'이라는 말은 사용자에게 아무것도 설명해 주지 못합니다. 또 '너무 좋아요' 같은 감정 문장은 아무 검색어에나 끌려 나오는 만능 자석이 됩니다. 결정적으로, 폐업한 카페도 아홉 조각으로 쪼개진 카페도 점수만 높으면 그대로 추천됩니다. 앞서 본 3대 장벽이 점수에 고스란히 스며드는 거죠. 결국 도구가 아니라 데이터와 구조를 고쳐야 하는 문제였습니다.</a:t>
            </a:r>
          </a:p>
          <a:p/>
          <a:p>
            <a:r>
              <a:t>[이 슬라이드 예상 질문]</a:t>
            </a:r>
          </a:p>
          <a:p>
            <a:r>
              <a:t>- 리랭커나 프롬프트 개선으로 통상 RAG의 한계를 해결할 수는 없나요?</a:t>
            </a:r>
          </a:p>
          <a:p>
            <a:r>
              <a:t>- 유사도 점수를 사용자에게 그대로 보여주면 설명이 되는 것 아닌가요?</a:t>
            </a:r>
          </a:p>
          <a:p>
            <a:r>
              <a:t>- 다른 상용 RAG 서비스(예: 지도 앱 AI 검색)와 비교해 봤나요?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그래서 저희는 목표를 세 가지로 잡았습니다. 첫째, 하나로 묶기. 표기가 달라도 같은 카페면 카드 한 장으로 합칩니다. 둘째, 살아있는 곳만. 폐업과 휴업을 걸러내고 실존이 검증된 카페만 추천합니다. 셋째, 모든 문장에 출처. 추천문의 어느 문장을 짚어도 원문 근거까지 거슬러 올라갈 수 있게 합니다. 한마디로 신뢰를 말로 외치는 게 아니라 데이터 구조로 만들겠다는 겁니다. 오늘 발표는 이 세 목표를 뼈대로 진행됩니다. 이 목표들이 데이터 파이프라인에서, 검색 구조에서, 그리고 평가에서 각각 어떻게 구현되고 검증됐는지, 지금부터 순서대로 보여드리겠습니다.</a:t>
            </a:r>
          </a:p>
          <a:p/>
          <a:p>
            <a:r>
              <a:t>[이 슬라이드 예상 질문]</a:t>
            </a:r>
          </a:p>
          <a:p>
            <a:r>
              <a:t>- 세 목표의 달성 여부는 어떤 지표로 평가하나요?</a:t>
            </a:r>
          </a:p>
          <a:p>
            <a:r>
              <a:t>- 세 목표 중 가장 어려웠던 것은 무엇인가요?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이제 실제 서비스를 보겠습니다. 주소는 jeju-bh6i.onrender.com, 지금 접속되는 실제 배포본입니다. 사용자가 할 일은 하나뿐입니다 — 검색창에 '애월 노을 감성 카페'처럼 평소 말투로 치는 것. 그러면 결과 카드가 내려오고 카카오맵에 마커가 찍히며, 카드를 클릭하면 지도가 그 카페로 점프합니다. 카드의 '근거 보기'를 누르면 블로그 원문 인용은 '이런 곳이에요'로, 카카오 별점 리뷰와 쇼츠 댓글 반응은 좋아요/별로요 방향별로 — 세 개의 렌즈가 모달로 열립니다. 배포 구조는 단순합니다. Docker 컨테이너 하나에서 FastAPI가 API와 프론트를 함께 서빙합니다. 참고로 현재 프론트 검색창은 /agent 판단 루프를 호출하므로 시연 체감은 3~13초 쪽입니다. 무료 티어라 15분간 손님이 없으면 서버가 잠들어 첫 요청은 깨우는 시간이 걸리는데, 이런 제약도 숨기지 않고 말씀드리는 게 저희 컨셉입니다. 그럼 이 검색창 뒤에서 무슨 일이 벌어지는지 한 층 내려가 보겠습니다.</a:t>
            </a:r>
          </a:p>
          <a:p/>
          <a:p>
            <a:r>
              <a:t>[이 슬라이드 예상 질문]</a:t>
            </a:r>
          </a:p>
          <a:p>
            <a:r>
              <a:t>- 무료 티어 콜드스타트는 라이브 시연에서 어떻게 대비하나요?</a:t>
            </a:r>
          </a:p>
          <a:p>
            <a:r>
              <a:t>- 프론트와 API를 한 컨테이너에 두면 트래픽이 늘 때 확장은 어떻게 하나요?</a:t>
            </a:r>
          </a:p>
          <a:p>
            <a:r>
              <a:t>- 1~3초와 3~13초, 두 응답 시간의 차이는 어디서 오나요?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검색창은 하나지만 뒤에서는 질문을 세 갈래로 나눠 서로 다른 도구로 처리합니다. 첫째, '바다다'처럼 이름을 콕 집으면 이름 사전이 받습니다. 정본 831개에 별칭 469개, 표기 변형 1,300개를 아는 사전이 매치되면 임베딩 점수와 무관하게 무조건 1순위로 고정합니다. 유명 카페 '해지개'가 임베딩 검색에서 전멸했던 사건의 교훈입니다 — 책 제목을 정확히 아는 손님에게 '분위기 비슷한 책'만 권하는 사서가 되면 안 되니까요. 둘째, '애월 카페'처럼 조건이 없는 질문은 임베딩을 아예 생략하고, 지역만 거른 뒤 고유 블로거 수, 즉 다수결로 정렬합니다. 셋째, 조건이 있는 질문에서만 임베딩이 일하는데, 후보를 넓게 소집하고 '석양빛' 같은 사용자 말을 '노을' 태그로 번역하는 두 역할입니다. 번역이 안 되면 억지로 하지 않고 '해석 못 했다'고 남깁니다. 이렇게 골라진 결과가 어떤 카드로 나오는지 다음 장에서 뜯어보겠습니다.</a:t>
            </a:r>
          </a:p>
          <a:p/>
          <a:p>
            <a:r>
              <a:t>[이 슬라이드 예상 질문]</a:t>
            </a:r>
          </a:p>
          <a:p>
            <a:r>
              <a:t>- 세 분기 판정은 LLM이 하나요, 코드가 하나요?</a:t>
            </a:r>
          </a:p>
          <a:p>
            <a:r>
              <a:t>- 사전에 없는 신규 카페를 이름으로 검색하면 어떻게 되나요?</a:t>
            </a:r>
          </a:p>
          <a:p>
            <a:r>
              <a:t>- 브라우즈에서 임베딩을 생략해서 얻는 건 속도 말고 뭐가 있나요?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이번엔 카드 한 장을 해부해 보겠습니다. 먼저 이름은 정본입니다. 표기 차이로 아홉 조각 나 있던 프릳츠가 한 장으로 합쳐졌고, 조각마다 흩어졌던 블로거 수도 합산해 211명이 됐습니다. 이름 아래 근거줄 '애월 ✓ · 노을 · 블로거 21명 언급'은 LLM이 쓴 문장이 아니라 코드가 조립한 사실만 담습니다 — 판단 뒤에 근거를 지어 붙이는 게 아니라, 지어낼 수 없는 이유만 보여주자는 겁니다. '근거 보기' 모달에는 좋았던 점과 아쉬운 점이 원문 그대로 나란히 붙고, 부정 리뷰도 숨기지 않습니다 — 카드 자체에는 정량 신호만 남겼습니다. 마지막으로 폐업 카페 12곳은 추천 결과에서는 빠지지만, 이름으로 검색하면 '폐업한 곳이에요'라고 답합니다. 데이터에서 지워버리면 사용자는 모르고 찾아가기 때문입니다. 그런데 이 카드들이 대체 어떻게 골라졌는지, 그 과정 자체도 화면에 공개합니다.</a:t>
            </a:r>
          </a:p>
          <a:p/>
          <a:p>
            <a:r>
              <a:t>[이 슬라이드 예상 질문]</a:t>
            </a:r>
          </a:p>
          <a:p>
            <a:r>
              <a:t>- 근거줄을 LLM 없이 코드로만 조립하면 문장이 단조로워지지 않나요?</a:t>
            </a:r>
          </a:p>
          <a:p>
            <a:r>
              <a:t>- 폐업 여부는 어떻게 검출하고 최신으로 유지하나요?</a:t>
            </a:r>
          </a:p>
          <a:p>
            <a:r>
              <a:t>- 아쉬운 점을 그대로 노출하면 카페 업주 항의 리스크는 어떻게 보나요?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마지막은 이 검색의 성격이 드러나는 화면입니다. '이렇게 찾았어요' — 전체 카드가 지역, 태그, 상위 정렬로 줄어드는 깔때기를 그대로 공개하는 설계입니다(수치는 계약 예시). 지금도 조건어를 어떻게 해석했는지 번역 로그를 유사도 점수와 함께 응답에 담고, 해석 못 한 말은 못 했다고 남깁니다. 그리고 0건이면 억지로 채우지 않습니다. 실측 예로, 검증 파이프라인 트레이스에서 '우도 산방산뷰 카페'는 0건이었는데, 시스템은 '산방산뷰 조건을 빼고 찾았어요'라는 라벨을 달아 우도 후보 26곳을 복원하고 상위 8곳을 제시했습니다. 무엇을 양보했는지 사용자가 항상 압니다. 단 노키즈존 회피 같은 필수 조건은 어떤 완화에서도 풀지 않고, 끝까지 없으면 '못 찾았어요'가 정상 응답입니다. 이 정직함까지가 기능입니다. 깔때기 UI는 검증을 마친 데이터 위에서 다음 업데이트로 화면에 올라갑니다.</a:t>
            </a:r>
          </a:p>
          <a:p/>
          <a:p>
            <a:r>
              <a:t>[이 슬라이드 예상 질문]</a:t>
            </a:r>
          </a:p>
          <a:p>
            <a:r>
              <a:t>- 완화할 조건의 순서는 누가 어떻게 정하나요?</a:t>
            </a:r>
          </a:p>
          <a:p>
            <a:r>
              <a:t>- 0건 응답이 사용자 이탈로 이어지지 않나요?</a:t>
            </a:r>
          </a:p>
          <a:p>
            <a:r>
              <a:t>- 깔때기 숫자는 지금 배포본 화면에서 실제로 볼 수 있나요?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앞에서 무엇을 만들었는지 보셨으니 이제 어떻게 돌아가는지, 구조를 보겠습니다. 저희 시스템은 무대가 둘입니다. 왼쪽은 공장, 배치 타임입니다. 배치란 손님이 오기 전에 미리 한꺼번에 처리해 두는 작업을 말합니다. 요약과 태그 달기, 폐업 판정처럼 무겁고 실수할 수 있는 LLM 판단은 전부 이 공장에서 끝내고, 카페 한 곳당 카드 한 장씩, 831장의 파일로 구워 둡니다. 파일로 남기 때문에 사람이 눈으로 검수할 수 있습니다. 오른쪽은 창구, 런타임입니다. 창구 직원은 요리하지 않습니다 — 이미 구워진 카드를 꺼내 읽기만 합니다. 그래서 응답이 1~3초로 빠르고, 같은 질문에는 같은 답이 나옵니다. 런타임에서 LLM을 철거하기 전에는 6~9초였습니다. 그리고 두 무대를 잇는 다리는 배치가 구워 둔 읽기 전용 산출물뿐입니다 — 그 중심이 카드 저장소이고, 카드 곁에 검색용 임베딩 색인과 근거 원문 인덱스가 함께 구워집니다. 런타임은 원본 데이터를 절대 다시 건드리지 않습니다. 다음 장에서 이 공장에 들어가는 재료 네 가지를 보여드리겠습니다.</a:t>
            </a:r>
          </a:p>
          <a:p/>
          <a:p>
            <a:r>
              <a:t>[이 슬라이드 예상 질문]</a:t>
            </a:r>
          </a:p>
          <a:p>
            <a:r>
              <a:t>- 배치는 얼마나 자주, 어떤 주기로 다시 돌리나요?</a:t>
            </a:r>
          </a:p>
          <a:p>
            <a:r>
              <a:t>- 새로 생긴 카페는 언제 검색에 반영되나요?</a:t>
            </a:r>
          </a:p>
          <a:p>
            <a:r>
              <a:t>- 배치에서 LLM이 실수하면 어떻게 발견하나요?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공장에 들어가는 재료는 네 가지 데이터입니다. 핵심은 무역에서 말하는 비교우위처럼, 매체마다 제일 잘하는 것 하나만 맡긴다는 겁니다. 유튜브 1,988건은 그물입니다 — 어떤 카페가 요즘 화제인지 '발견'을 맡고, 여기서 고유 카페 1,064곳 명단이 나왔습니다. 네이버 블로그는 그 카페가 무엇인지 알려주는 '정보'이자, 몇 명의 블로거가 언급했는지 세는 투표용지입니다. 카카오맵은 텍스트가 아니라 '신원'을 줍니다 — place_id라는, 가게의 주민등록번호 같은 영구 번호로 중복을 해소하고, 별점 달린 실방문 리뷰 2만 건을 보탭니다. 마지막 쇼츠 댓글은 유일한 감정 데이터입니다. '2층 무더움', '에어컨 고장' 같은 문장은 블로그에는 절대 안 나오고 댓글에만 삽니다. 정보는 블로그에 살고 반응은 댓글에 산다 — 이 역할 분담은 저희가 가정한 게 아니라 데이터를 직접 재 보고 확정한 결과입니다.</a:t>
            </a:r>
          </a:p>
          <a:p/>
          <a:p>
            <a:r>
              <a:t>[이 슬라이드 예상 질문]</a:t>
            </a:r>
          </a:p>
          <a:p>
            <a:r>
              <a:t>- 왜 유튜브 텍스트를 주 검색 데이터로 쓰지 않았나요?</a:t>
            </a:r>
          </a:p>
          <a:p>
            <a:r>
              <a:t>- 댓글 같은 반응 데이터는 왜 검색(임베딩)에 안 넣나요?</a:t>
            </a:r>
          </a:p>
          <a:p>
            <a:r>
              <a:t>- 인스타그램 등 다른 소스는 검토했나요?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공장의 최종 산출물이 바로 이 카드입니다. 다섯 층으로 쌓입니다. 맨 아래 신원층은 place_id와 정본 이름, 좌표입니다. 이름은 표기가 흔들리지만 식별자는 흔들리지 않으니, 기초 공사를 신원으로 깝니다. 그 위 텍스트층은 검색용 자연어 요약인데, 다섯 층 가운데 임베딩 — 문장을 숫자 좌표로 바꿔 뜻이 비슷한 말끼리 가까이 놓이게 하는 기술 — 에 들어가는 건 이 층 하나뿐입니다. 태그층은 통제된 사전 태그와 주소에서 유도한 지역 코드로 필터를 맡습니다. 근거층은 좋았던 점과 아쉬운 점의 원문 인용인데, 카드 본체에는 주의 힌트만 싣고 인용 원문은 카페별 스니펫 인덱스 5만여 건에 따로 구워 둡니다 — '근거 보기' 때 코드가 원문 그대로 발췌합니다. 맨 위 신호층은 정렬용 다수결입니다 — 언급 횟수가 아니라 언급한 사람 수, 고유 블로거 수를 셉니다. 한 명이 열 번 말한 카페보다 열 명이 한 번씩 말한 카페가 진짜니까요. 그리고 규칙이 하나 있습니다. 이 카드는 런타임 내내 읽기 전용입니다. 카드가 틀리면 서비스를 고치는 게 아니라 배치를 다시 돌려 카드를 다시 굽습니다. 문제가 생겼을 때 어느 층에서 났는지 항상 추적할 수 있는 이유가 이 구조입니다.</a:t>
            </a:r>
          </a:p>
          <a:p/>
          <a:p>
            <a:r>
              <a:t>[이 슬라이드 예상 질문]</a:t>
            </a:r>
          </a:p>
          <a:p>
            <a:r>
              <a:t>- 카드가 틀렸다는 건 어떻게 발견하나요?</a:t>
            </a:r>
          </a:p>
          <a:p>
            <a:r>
              <a:t>- 왜 층을 물리적으로 분리하나요? 한 문서에 다 넣으면 안 되나요?</a:t>
            </a:r>
          </a:p>
          <a:p>
            <a:r>
              <a:t>- 근거층 인용이 진짜 원문이라는 걸 어떻게 보장하나요?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1.1분]</a:t>
            </a:r>
          </a:p>
          <a:p/>
          <a:p>
            <a:r>
              <a:t>마지막으로 창구의 실제 흐름입니다. 질문이 들어오면 먼저 코드가 접수합니다 — 지역을 감지하고, 이름 사전 1,300개 변형을 조회해서, 이름 조회냐 둘러보기냐 조건 검색이냐 세 갈래로 나눕니다. 조건 검색이면 임베딩이 번역기로 나섭니다. 앞 장에서 말씀드린, 뜻이 비슷한 말끼리 가까이 놓이는 성질을 써서 '석양빛'이 '노을' 태그 근처에 놓이는 것만 씁니다. 유사도 0.55를 못 넘으면 억지로 번역하지 않고 해석 불가로 남깁니다. 그다음 몸통은 전부 읽을 수 있는 코드입니다 — 후보를 모으고, 조건어가 카드에 실제로 있는지 검문하고, 노키즈존 같은 하드 배제는 어떤 완화에도 풀지 않고, 지역 완화 사다리를 타며 정렬합니다. 추천 이유까지 코드가 조립합니다. LLM은 이 몸통 밖에서 딱 두 번입니다. 하나는 판단 — 결과가 충분한지 심사하고 부족하면 뺄 조건을 지목합니다. 실패하면 기존 결과를 그대로 내는 무해한 폴백이라 LLM이 죽어도 검색은 삽니다. 다른 하나는 종합 — 변호사처럼 카드에 적힌 사실만 인용해 안내문을 씁니다. 참고로 질문을 구조로 분해하는 접수원 LLM도 모듈 구현과 시나리오 검증까지 마쳤고, 지금은 배선 대기 상태입니다. 그래서 현재 /search는 생성 LLM 0회 1~3초, 에이전트 경로도 3~13초입니다.</a:t>
            </a:r>
          </a:p>
          <a:p/>
          <a:p>
            <a:r>
              <a:t>[이 슬라이드 예상 질문]</a:t>
            </a:r>
          </a:p>
          <a:p>
            <a:r>
              <a:t>- 판단 LLM이 잘못 판정하면 어떻게 되나요?</a:t>
            </a:r>
          </a:p>
          <a:p>
            <a:r>
              <a:t>- 왜 접수를 LLM 의도 분석이 아니라 코드 3분기로 하나요?</a:t>
            </a:r>
          </a:p>
          <a:p>
            <a:r>
              <a:t>- 임베딩으로 검색해 놓고 어휘 게이트를 왜 또 두나요?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앞에서 보신 구조가 '공장과 창구' 두 무대였다면, 지금부터 5분 반 동안 그 공장 라인을 순서대로 보여드리겠습니다. 첫 단계는 수집입니다. 저희는 특정 유튜버를 구독하듯 따라가는 방식을 쓰지 않았습니다. 그러면 그 사람의 취향이 곧 저희 모집단이 되기 때문입니다. 대신 지역 열한 곳과 카테고리를 곱한 키워드 격자 59개로 그물을 넓게 쳤습니다. 이렇게 모은 원본 1,988건은 설명란이 0자인 영상까지 단 한 건도 버리지 않고 저장했습니다. 저희 표현으로 '정보 없는 데이터도 투표권은 있다'입니다 — 내용은 없어도 '이 카페가 언급됐다'는 사실 자체는 나중에 다수결 신호가 되기 때문입니다. 이 원칙이 뒤에 나올 반전의 복선이 됩니다.</a:t>
            </a:r>
          </a:p>
          <a:p/>
          <a:p>
            <a:r>
              <a:t>[이 슬라이드 예상 질문]</a:t>
            </a:r>
          </a:p>
          <a:p>
            <a:r>
              <a:t>- 유튜브에 아예 언급되지 않은 카페는 서비스에서 영영 빠지는 것 아닌가요?</a:t>
            </a:r>
          </a:p>
          <a:p>
            <a:r>
              <a:t>- 키워드 격자 59개는 어떻게 선정했고, 커버리지가 충분하다는 근거가 있나요?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이제 그물에 걸린 영상에서 카페 이름을 뽑습니다. 영상마다 정보의 생김새가 달라서 트랙을 둘로 나눴습니다. 설명란이 충실한 영상은 A트랙에서 상호와 위치 같은 슬롯을 뽑고, 설명란이 빈 쇼츠는 B트랙에서 제목과 맥락으로 카페명만 특정합니다. 그렇게 언급 1,504건이 나왔고, 정리하니 고유 카페 1,064곳 — 이후 모든 단계의 모집단입니다. 전량 40분, 약 2달러였습니다. 여기서 함정 둘을 실측으로 배웠습니다. gpt-5-mini는 출력 토큰이 모자라면 에러가 아니라 빈 응답을 조용히 돌려줍니다. 그리고 except가 에러를 삼키면 전멸이 '카페가 없는 영상'처럼 보입니다. 실패를 실패로 기록하는 것부터가 데이터 품질의 시작이었습니다.</a:t>
            </a:r>
          </a:p>
          <a:p/>
          <a:p>
            <a:r>
              <a:t>[이 슬라이드 예상 질문]</a:t>
            </a:r>
          </a:p>
          <a:p>
            <a:r>
              <a:t>- LLM이 카페가 아닌 장소를 카페로 뽑는 오탐은 어떻게 걸렀나요?</a:t>
            </a:r>
          </a:p>
          <a:p>
            <a:r>
              <a:t>- A/B 트랙의 분기 기준은 무엇이고, 각각 몇 건씩이었나요?</a:t>
            </a:r>
          </a:p>
          <a:p>
            <a:r>
              <a:t>- 더 큰 모델 대신 gpt-5-mini를 쓴 이유는 무엇인가요?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1,064곳을 뽑고 보니 3분의 2인 667곳이 정보 부족이었습니다. 처음엔 무명 카페라 정보가 없나 했는데, 네이버 블로그를 전량 크롤링해 보니 정보 부족 카페의 블로그 글 중앙값이 1,797건 — 정보 풍부 카페와 사실상 같았습니다. 정보가 없던 게 아니라 저희가 소스를 잘못 짚었던 겁니다. 보강 후 정보 풍부가 947곳으로 뒤집혔고, 이날 주 데이터셋이 유튜브에서 네이버로 교체됐습니다. 모델이 아니라 데이터를 고쳤더니 검색이 좋아진 첫 경험이었습니다. 덤으로 광맥도 찾았습니다. 쇼츠 댓글 1만 4천 개인데, '2층 무더움', '에어컨 고장' 같은 문장은 블로그엔 절대 안 나오고 여기에만 삽니다. 단, 이런 감정 문장을 검색 임베딩에 넣으면 아무 검색어에나 걸리는 만능 자석이 됩니다. 그래서 반응 텍스트는 임베딩 금지 — 표시와 정렬 신호로만 씁니다.</a:t>
            </a:r>
          </a:p>
          <a:p/>
          <a:p>
            <a:r>
              <a:t>[이 슬라이드 예상 질문]</a:t>
            </a:r>
          </a:p>
          <a:p>
            <a:r>
              <a:t>- 감정 문장이 실제로 검색을 오염시킨 사례(만능 자석)를 실측으로 확인했나요?</a:t>
            </a:r>
          </a:p>
          <a:p>
            <a:r>
              <a:t>- 블로그의 협찬·광고 글은 어떻게 거르나요?</a:t>
            </a:r>
          </a:p>
          <a:p>
            <a:r>
              <a:t>- 댓글이 어느 카페 이야기인지(귀속)는 어떻게 확정하나요?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다음은 실존입니다. 추천이 아무리 좋아도 가보니 문이 닫혀 있으면 신뢰가 그 자리에서 끝납니다. 신호 하나로 단정하지 않고 셋을 교차했습니다. 이름이 실제로 조회되는가, 카페명이 실제 담긴 2024년 이후 글이 있는가, 공공 카페 명부에 등재돼 있는가. 결과는 유지 876, 보류 134, 제외 49입니다. 재미있는 건 폐업 검출이 덤으로 나왔다는 점입니다. 블로그 정제 중 폐업 단서 11곳이 자동으로 잡혔고 — '2026-03-02 영업 종료, 부산 이전'까지 잡아냈습니다. 별개의 사례가 오아시스80입니다. 저희가 손으로 먼저 발견했던 휴업 카페를, 나중에 댓글 분석이 '폐건물인 줄 알았다'는 증언으로 독립적으로 다시 잡아냈습니다 — 사람의 발견을 파이프라인이 재현한 겁니다. 그리고 애매한 것은 자동으로 끝내지 않고 사람 검수 큐로 보냅니다. 틀린 확신보다 애매하다는 표시가 낫기 때문입니다.</a:t>
            </a:r>
          </a:p>
          <a:p/>
          <a:p>
            <a:r>
              <a:t>[이 슬라이드 예상 질문]</a:t>
            </a:r>
          </a:p>
          <a:p>
            <a:r>
              <a:t>- 공공 명부에 아직 없는 신생 카페는 제외되는 것 아닌가요?</a:t>
            </a:r>
          </a:p>
          <a:p>
            <a:r>
              <a:t>- 영업 중인데 폐업으로 오판한 사례(오탐)는 없었나요?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1.1분]</a:t>
            </a:r>
          </a:p>
          <a:p/>
          <a:p>
            <a:r>
              <a:t>이 섹션에서 가장 중요한 사건입니다. '해지개'라는 유명 카페가 있는데, 글쓴이마다 '해지개', '해지개 카페', '해지개카페'로 다르게 씁니다. 사람 눈엔 당연히 같은 가게죠. 그런데 이름 문자열로 데이터를 잇던 시스템에겐 전부 다른 카페였습니다. 한 카페의 언급이 여러 조각으로 흩어지니 신호가 부패하고, 검색이 계속 헛돌았습니다. 처방은 이름을 고치는 게 아니라, 이름으로 잇는 방식 자체를 은퇴시키는 것이었습니다. 카카오 place_id — 가게의 주민등록번호 같은 번호를 정본 키로 세웠습니다. 개명해도 주민번호는 안 바뀌듯이요. 번호로 대조하자 중복 122그룹이 자동으로 드러났고, 9조각 나 있던 프릳츠가 카드 1장으로 합쳐지며 흩어졌던 블로거 수가 합집합 211명으로 복원됐습니다. 지역 라벨도 같은 원리입니다. LLM 추측은 오염률이 24.6%, 넷에 하나가 오답이라 전량 폐기하고 주소에서 코드로 유도했습니다. 이렇게 이름 1,064개가 정본 카드 831장이 됐고, 애매한 26건만 사람이 O/X로 검수했습니다 — 전부 O였습니다.</a:t>
            </a:r>
          </a:p>
          <a:p/>
          <a:p>
            <a:r>
              <a:t>[이 슬라이드 예상 질문]</a:t>
            </a:r>
          </a:p>
          <a:p>
            <a:r>
              <a:t>- place_id가 없는 카페(약 25%)는 어떻게 병합·관리하나요?</a:t>
            </a:r>
          </a:p>
          <a:p>
            <a:r>
              <a:t>- 이름 유사도로 자동 병합하면 더 간단했을 텐데 왜 금지했나요?</a:t>
            </a:r>
          </a:p>
          <a:p>
            <a:r>
              <a:t>- 지역 라벨 오염률 24.6%는 어떤 방법으로 측정했나요?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공장의 마지막은 검색의 뼈대인 태그 사전입니다. 시점마다 주인이 다릅니다. 초안 20개는 사람의 감각으로 골랐습니다 — 여행자가 실제 검색창에 칠 말이면서, 블로그에서 근거를 찾을 수 있는 어휘만요. 그런데 LLM에게 '사전 20개만 쓰라'고 지시해도 새는 게 실측됐습니다. '밥당라떼' 같은 태그가 튀어나옵니다. 그래서 강제는 프롬프트가 아니라 코드 필터가 하고, 이탈한 태그는 버리지 않고 tags_extra에 쌓았습니다. 그러자 데이터가 사전의 구멍을 신고하기 시작합니다 — 포토존이 22번 쌓이면 그건 사전에 있어야 할 말이라는 뜻이라 승격시켰습니다. 마지막이 감사입니다. 주차편함 태그는 79%에 붙어 있어 필터로서 변별력이 없다고 보고 하드 필터에서 보류했고, 태그와 모순되는 원문 증거도 자동 검출합니다. 한 줄로 — 규칙은 코드로, 어휘 확장은 데이터로. 이렇게 구워진 카드가 다음 섹션의 검색 무대로 넘어갑니다.</a:t>
            </a:r>
          </a:p>
          <a:p/>
          <a:p>
            <a:r>
              <a:t>[이 슬라이드 예상 질문]</a:t>
            </a:r>
          </a:p>
          <a:p>
            <a:r>
              <a:t>- '조용'과 '조용함'처럼 비슷한 태그가 둘 다 남아 있는 노이즈는 어떻게 정리하나요?</a:t>
            </a:r>
          </a:p>
          <a:p>
            <a:r>
              <a:t>- 승격 임계값(몇 회 쌓이면 승격)은 어떻게 정했나요?</a:t>
            </a:r>
          </a:p>
          <a:p>
            <a:r>
              <a:t>- 주차편함이 79%나 붙었다면 태그 부여 자체가 후한 것 아닌가요?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1.2분]</a:t>
            </a:r>
          </a:p>
          <a:p/>
          <a:p>
            <a:r>
              <a:t>앞에서 검색이 도는 구조를 보셨습니다. 이번 섹션은 '이 검색을 왜 믿을 수 있는가' — 신뢰를 코드로 박아 넣은 장치 다섯 가지입니다. 첫 번째는 임베딩의 자리를 뒤집은 것입니다. 임베딩은 문장을 숫자 좌표로 바꿔 뜻이 비슷한 말끼리 가까이 놓는 기술인데, 통상 RAG는 카페 문서 전체를 임베딩해 유사도 점수로 줄을 세웁니다. 그러면 '왜 이 카페가 0.83점인지' 아무도 설명하지 못합니다. 저희는 번역용 임베딩 공간에 카페 831장 대신 태그 사전 23종의 태그·동의어 앵커 93개만 넣었습니다. 사용자의 말 '석양빛'을 사전 어휘 '노을'로 옮기는 번역기로만 쓰는 겁니다. 카페 문서 임베딩은 후보를 불러 모으는 소집용으로만 남기고, 관련성 판정권은 '조건어가 카드의 태그·요약에 실제로 있는가'를 보는 어휘 근거 게이트로 회수했습니다. 번역은 3단 게이트를 지납니다. 사전에 있으면 정확 매칭 — '선셋'은 바로 노을입니다. 없으면 임베딩 최근접을 보되 유사도 0.55를 넘어야만 채택 — '석양빛'은 임계를 넘는 최근접으로 노을이 됩니다. 그것도 안 되면 '물멍'처럼 해석 불가로 정직하게 남깁니다. 억지 번역 금지가 규칙입니다. 결과적으로 '왜 이 카페냐'의 근거는 지역 일치, 태그 충족, 블로거 다수결 — 전부 셀 수 있는 신호를 코드가 조립해 항상 답할 수 있습니다. 태그 충족과 다수결로만 순위를 매기는 완전 결정론 검색은 새 파이프라인에 구현해 시나리오 8종 검증까지 마쳤고 서버 배선(W5)을 앞두고 있습니다 — 현행 서버의 조건검색 순위는 게이트 통과분 안에서 지역 일치를 우선하고 임베딩 점수를 참고합니다.</a:t>
            </a:r>
          </a:p>
          <a:p/>
          <a:p>
            <a:r>
              <a:t>[이 슬라이드 예상 질문]</a:t>
            </a:r>
          </a:p>
          <a:p>
            <a:r>
              <a:t>- 임계값 0.55는 어떻게 정했나요? 낮추거나 높이면 무엇이 달라지나요?</a:t>
            </a:r>
          </a:p>
          <a:p>
            <a:r>
              <a:t>- 태그 사전 23종에 없는 개념을 물으면 검색이 아예 안 되는 것 아닌가요? 어휘 커버리지는 어떻게 늘리나요?</a:t>
            </a:r>
          </a:p>
          <a:p>
            <a:r>
              <a:t>- 조건어 번역 외에 카페 요약 임베딩 검색도 쓰지 않나요? 번역만으로 열린 질문을 다 감당할 수 있나요?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두 번째 장치, 하드 배제입니다. 조건에는 급이 있습니다. 조용함은 좀 아쉬워도 되지만, 노키즈존이나 애견동반은 어기면 방문 자체가 무의미한 하드조건입니다. 개편 전 평가에서 뼈아픈 사건이 있었습니다 — 골드셋 G030, '노키즈존은 피하고 아이와 가고 싶다'는 질문에 금지 카페가 상위 5개 안에 어김없이, 노출률 100%로 나타났습니다. 처방은 프롬프트가 아니라 코드입니다. 아이·아기·가족 같은 아이 동반 신호 11종이 감지되면 노키즈존 태그 카페를 후보 풀에서 아예 제거합니다. 점수 강등이 아니라 제거라서, 다음 슬라이드에서 보실 어떤 완화에도 되살아나지 않습니다. 애견동반이 필수인 분께 동반 불가 카페를 대안이라고 내미는 순간 신뢰는 끝나기 때문입니다. 정확히 말씀드리면, 배제 규칙의 창구는 태그 사전의 exclude_map 하나고 현재 등록된 배제 규칙은 노키즈존 1건입니다 — 애견동반은 가부형 하드 분류라 완화 금지 대상이지만, 풀에서 제거하는 배제 트리거는 아직 아닙니다. 반대로 노키즈존 자체를 찾는 분께는 배제하지 않고, 이름을 콕 집은 질문은 추천이 아니라 조회이므로 카드로 안내해 드립니다.</a:t>
            </a:r>
          </a:p>
          <a:p/>
          <a:p>
            <a:r>
              <a:t>[이 슬라이드 예상 질문]</a:t>
            </a:r>
          </a:p>
          <a:p>
            <a:r>
              <a:t>- 노키즈존 말고 다른 하드 배제 규칙도 있나요? 애견동반 케이스는 어떻게 처리되나요?</a:t>
            </a:r>
          </a:p>
          <a:p>
            <a:r>
              <a:t>- 카페 이름으로 직접 검색하면 노키즈존 카페도 나오나요?</a:t>
            </a:r>
          </a:p>
          <a:p>
            <a:r>
              <a:t>- 하드/소프트 구분은 누가, 무슨 기준으로 정하나요?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세 번째, 완화 사다리입니다. 조건에 맞는 카페가 0건일 때 이 서비스의 본색이 드러납니다. 통상 검색은 0건이면 그냥 비슷한 걸 상위 몇 개로 채워 넣지만, 저희는 사다리를 탑니다. 1단, 번역 확신도가 낮은 소프트조건부터 하나 빼고 다시 찾되, '조용함 조건을 빼고 찾았어요'라고 반드시 라벨을 붙입니다. 2단, 그래도 없으면 '제주시내, 한림까지 넓혀서 찾았어요'처럼 세부지역에서 권역, 인접 권역 순으로 넓히고, 이것도 명시합니다. 이 전 과정에서 방금 보신 하드조건 자물쇠는 계속 잠겨 있습니다. 사다리 끝까지 가도 없으면, 없다고 말합니다 — '조건에 맞는 카페를 찾지 못했어요', 정직한 0건이 정상 응답입니다. 이 동작은 관통 시나리오 8종으로 검증해 전부 통과했습니다. 예를 들어 '한경 노키즈존' 질의가 한림·대정으로 확장되면서도 노키즈존이라는 하드 태그를 끝까지 지키는지, 완전 0건에서 정말 0건이라고 답하는지까지 확인했습니다. 정확히 말씀드리면 이 라벨 사다리는 완화 모듈로 구현·검증을 마쳤고 서버 배선은 W5로 남아 있습니다 — 지금 서비스는 지역 단계 완화와 판단 루프의 조건 완화('X 조건을 빼고 다시 찾음' 기록을 그대로 노출)로 같은 원칙을 지키고 있습니다.</a:t>
            </a:r>
          </a:p>
          <a:p/>
          <a:p>
            <a:r>
              <a:t>[이 슬라이드 예상 질문]</a:t>
            </a:r>
          </a:p>
          <a:p>
            <a:r>
              <a:t>- 소프트 조건이 여러 개면 어떤 것부터 빼나요? 그 순서는 왜 그런가요?</a:t>
            </a:r>
          </a:p>
          <a:p>
            <a:r>
              <a:t>- 사용자가 완화를 원치 않으면(정확히 그 조건만) 거부할 수 있나요?</a:t>
            </a:r>
          </a:p>
          <a:p>
            <a:r>
              <a:t>- 실제 트래픽에서 0건이나 완화 발동 빈도는 얼마나 되나요?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0.8분]</a:t>
            </a:r>
          </a:p>
          <a:p/>
          <a:p>
            <a:r>
              <a:t>네 번째, 원문 인용 검증입니다. 지어내기를 두 겹으로 막습니다. 우선 서비스 화면의 '근거 보기'는 생성이 아예 없습니다 — 코드가 블로그·리뷰 원문 스니펫을 그대로 발췌해서 보여줍니다. 그리고 LLM이 인용을 잘라내는 자리에서는 잘린 문장이 원문 안에 통째로 존재하는지 코드가 부분문자열로 대조하고, 공백 차이만 빼면 한 글자라도 다르면 폐기합니다 — 배치의 극성 분리는 이 검증으로 이미 돌았고, 답변 종합은 종합 모듈에 같은 검증을 구현해 시나리오 검증까지 마친 상태로 서버 배선(W5)을 앞두고 있습니다. 의역과 요약은 물론, 두 문장을 이어 붙인 짜깁기 인용도 통과하지 못합니다. 파일럿 75건에서 검증 실패 0건이었습니다 — 평가 시점 스냅샷 수치입니다. 다만 한계도 정직하게 말씀드리겠습니다. 이 검증은 '그 문장이 실제로 존재한다'는 증명이지 '맥락까지 맞다'는 증명은 아닙니다. '조용하지 않아요'에서 '조용'만 잘라 오는 부정어 반전은 통과할 수 있고, 이건 코드로 못 막는 알려진 한계로 문서화했습니다 — 방어는 '카드에 없는 사실 금지' 프롬프트 규칙에 기대고 있습니다. 한계가 어디에 있는지 아는 것까지가 신뢰장치라고 생각합니다.</a:t>
            </a:r>
          </a:p>
          <a:p/>
          <a:p>
            <a:r>
              <a:t>[이 슬라이드 예상 질문]</a:t>
            </a:r>
          </a:p>
          <a:p>
            <a:r>
              <a:t>- 부정어 반전을 프롬프트로만 막는 게 충분한가요? 코드 레벨 대책 계획은요?</a:t>
            </a:r>
          </a:p>
          <a:p>
            <a:r>
              <a:t>- 75건이면 표본이 작지 않나요? 전량에서도 실패 0을 기대할 근거는요?</a:t>
            </a:r>
          </a:p>
          <a:p>
            <a:r>
              <a:t>- 인용의 출처가 협찬·광고 블로그면 어떻게 걸러내나요?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마지막 장치는 방향이 다릅니다. 앞의 넷이 출력을 검증했다면, 이건 입력을 설계합니다. 사람만 큰 숫자에 홀리는 게 아니라 LLM도 조회수가 큰 카페를 근거 없이 좋게 봅니다. 그래서 인기 수치는 LLM 입력에서 아예 차단하고 동점 정렬에만 씁니다. place_id 같은 식별자도 한 글자만 환각이 나면 다른 가게가 되므로, 전부 LLM을 우회해 코드가 운반합니다. LLM에게 건네는 건 요약·태그 같은 카드 원문 파트뿐입니다. 앞에서 쓴 비유로 정리하면, 접수원은 구조화만 하고 변호사는 증거로만 변론합니다. 정확히는, 질문 구조화 전담 접수원(router)은 시나리오 검증을 마치고 서버 배선(W5)을 기다리고 있고, 지금 서비스의 판단 루프에서는 judge가 결과의 충분·부족과 완화할 조건만 판정합니다. 그리고 판단 LLM이 실패해도 기존 결과를 유지하는 무해 폴백이라 서비스가 멈추지 않습니다. 접근 통제는 받는 쪽의 절제가 아니라 주는 쪽의 설계다 — 이 문장이 다섯 장치를 관통하는 원칙입니다. 이 장치들이 실전에서 어떤 결과를 냈는지, 이어지는 순서에서 보여드리겠습니다.</a:t>
            </a:r>
          </a:p>
          <a:p/>
          <a:p>
            <a:r>
              <a:t>[이 슬라이드 예상 질문]</a:t>
            </a:r>
          </a:p>
          <a:p>
            <a:r>
              <a:t>- 인기 수치를 빼면 추천 품질이 오히려 떨어지지 않나요? 인기는 어디에 쓰이나요?</a:t>
            </a:r>
          </a:p>
          <a:p>
            <a:r>
              <a:t>- LLM 호출이 실패하면 사용자 경험은 어떻게 되나요?</a:t>
            </a:r>
          </a:p>
          <a:p>
            <a:r>
              <a:t>- 블로그 원문에 악성 지시가 들어 있는 프롬프트 인젝션은 어떻게 방어하나요?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시스템을 만들었으니 이제 성적표를 보여드릴 차례입니다. 저희는 평가를 금·은·동 세 단으로 나눴습니다. Gold는 사람이 직접 만든 실제 질문 50개인데, 핵심은 채점을 둘로 쪼갠 겁니다 — 대표 카페를 찾았는가, 그리고 질문의 의도를 만족했는가. 이름을 맞혔다고 좋은 추천은 아니니까요. Silver는 자동 생성 질의 168개로 유형별 강약을 재고, Bronze는 정확도가 아니라 시스템 자체의 건강 — 중복은 없는지, 거절할 줄 아는지, 같은 질문에 같은 답이 나오는지를 봅니다. 한 가지 미리 말씀드리면, 지금부터 보실 수치는 7월 9일 구조 개편 전 시스템을 잰 스냅샷입니다. 이 이야기는 네 번째 슬라이드에서 다시 드리겠습니다.</a:t>
            </a:r>
          </a:p>
          <a:p/>
          <a:p>
            <a:r>
              <a:t>[이 슬라이드 예상 질문]</a:t>
            </a:r>
          </a:p>
          <a:p>
            <a:r>
              <a:t>- Gold 문항은 누가 만들었나 — 카드 데이터를 본 사람이 만들면 정답이 오염되는데 어떻게 방지했나?</a:t>
            </a:r>
          </a:p>
          <a:p>
            <a:r>
              <a:t>- Bronze의 '결정성'은 구체적으로 어떻게 측정했나?</a:t>
            </a:r>
          </a:p>
          <a:p>
            <a:r>
              <a:t>- 50문항이면 통계적으로 충분한 표본인가?</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0.9분]</a:t>
            </a:r>
          </a:p>
          <a:p/>
          <a:p>
            <a:r>
              <a:t>Gold에서 가장 중요한 건 두 숫자의 간극입니다. 필수 태그가 결과 어딘가에는 있는가 — Coverage 85.7%. 그런데 Top-5 전체가 일관되게 만족하는가 — Match는 59.3%입니다. 대표 카페 적중도 같은 무늬입니다. Top-5 기준 62%가 Top-10으로 넓히면 74%가 됩니다. 정답이 시스템 안에, 심지어 10등 안에는 들어와 있는데 5등 안으로 못 올라온다는 뜻입니다. 대표 카페 수록률이 99.6%이니 데이터 부족도 아닙니다. 그래서 진단은 한 문장입니다 — 병목은 데이터가 아니라 재정렬이다. 오른쪽 유형 분해도 봐 주십시오. 50문항 중 완전 실패는 18%뿐이고, 20%는 오히려 저희 기대 목록 밖에서 새 적합 후보를 찾은 경우였습니다. 지표는 실패로 집계했지만, 실제로는 검색이 일을 한 겁니다.</a:t>
            </a:r>
          </a:p>
          <a:p/>
          <a:p>
            <a:r>
              <a:t>[이 슬라이드 예상 질문]</a:t>
            </a:r>
          </a:p>
          <a:p>
            <a:r>
              <a:t>- Coverage와 Match의 정확한 계산식 차이는 무엇인가?</a:t>
            </a:r>
          </a:p>
          <a:p>
            <a:r>
              <a:t>- '재정렬 병목' 진단의 근거가 @5→@10 12%p 하나로 충분한가?</a:t>
            </a:r>
          </a:p>
          <a:p>
            <a:r>
              <a:t>- expected 밖의 새 후보가 '적합'하다는 판정은 누가 어떻게 했나?</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Silver는 질의 유형별 강약입니다. 카페명 조회 96%, 단일 지역 100% — 장소를 찾는 능력은 안정적입니다. 그런데 태그가 붙으면 84%, 지역과 태그가 겹치면 76.7%로 내려가고, 상위 5개 중 조건에 맞는 비율인 Precision@5는 40%까지 떨어집니다. 찾는 능력이 아니라 복합 의도를 정렬하는 능력이 약점이라는 겁니다. Bronze에서는 뼈아픈 숫자를 그대로 보여드리겠습니다. 서비스 밖 질문 거절률 0% — 서울이나 맥주를 물어도 제주 카페를 추천했습니다. 같은 의도를 다르게 표현했을 때 결과가 유지되는 안정성은 22.8%. 제외됐어야 할 카페 노출이 6.2%, 서빙 식별자 고유성 76.3% — 같은 카페가 다른 이름으로 두 번 나온다는 뜻입니다. 숨기지 않고 보여드리는 이유는 하나입니다. 이 네 숫자가 다음 슬라이드, 구조 개편이 겨냥한 과녁이기 때문입니다.</a:t>
            </a:r>
          </a:p>
          <a:p/>
          <a:p>
            <a:r>
              <a:t>[이 슬라이드 예상 질문]</a:t>
            </a:r>
          </a:p>
          <a:p>
            <a:r>
              <a:t>- 거절률 0%면 '서울 카페'를 물으면 실제로 무엇이 나왔나?</a:t>
            </a:r>
          </a:p>
          <a:p>
            <a:r>
              <a:t>- 표현 변형 안정성 22.8%는 어떤 방식으로 측정한 수치인가?</a:t>
            </a:r>
          </a:p>
          <a:p>
            <a:r>
              <a:t>- 카페명 조회의 Precision@5가 19.2%로 유독 낮은 이유는?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1.2분]</a:t>
            </a:r>
          </a:p>
          <a:p/>
          <a:p>
            <a:r>
              <a:t>이제 그 과녁을 어떻게 맞혔는지, 구조 변화의 연대기입니다. 처음엔 런타임에서 LLM이 결과를 고르고 소개문까지 썼습니다. 응답 6~9초, 그리고 결정성 90% — 같은 질문에 열에 하나는 다른 답이 나왔습니다. 7월 9일 밤, 두 가지를 했습니다. 먼저 place_id로 카드를 정본 병합해 이름 1,064개를 카드 831장으로 만들었습니다. 프릳츠가 9조각에서 1장이 됐죠. 아까 보신 식별자 고유성 76.3%의 구조적 처방입니다. 동시에 런타임 LLM을 전부 철거해 응답이 1~3초로 줄고, 검색은 같은 질문에 반드시 같은 답이 나오는 결정적 파이프라인이 됐습니다. 7월 10일엔 태그 번역기를 넣어 "석양빛" 같은 사용자 언어를 태그로 번역하게 하고, LLM은 두 역할 — 결과가 질문에 맞는지 판단하는 역할과 근거 종합 — 만 남겼습니다. 의도 분석 라우터는 모듈까지 구현돼 서버 배선을 기다리고 있습니다. 골드셋에서 노키즈존을 피하려는 가족에게 노키즈존이 추천된 G030 사건은 하드 배제로 원천 봉쇄했습니다. 전부 Bronze의 거절·안정성 약점을 겨냥한 변화입니다. 다만 정직하게 말씀드리면, 개편 후 퍼센트 지표 재측정은 아직입니다. 지금 확정된 건 관통 시나리오 8건 전부 통과 — 이것도 배포 서버가 아니라 W2~W4 모듈 파이프라인에서 잰 것입니다 — 와 속도 수치뿐이고, 같은 자로 다시 재는 것이 바로 다음 일입니다.</a:t>
            </a:r>
          </a:p>
          <a:p/>
          <a:p>
            <a:r>
              <a:t>[이 슬라이드 예상 질문]</a:t>
            </a:r>
          </a:p>
          <a:p>
            <a:r>
              <a:t>- 재측정을 아직 안 했는데 개선됐다고 어떻게 믿을 수 있나?</a:t>
            </a:r>
          </a:p>
          <a:p>
            <a:r>
              <a:t>- 런타임 LLM을 뺐는데 추천 이유 설명 품질은 떨어지지 않았나?</a:t>
            </a:r>
          </a:p>
          <a:p>
            <a:r>
              <a:t>- 하드 배제가 과잉 차단할 위험은 없나 — 노키즈존 자체를 찾는 사용자는?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0.7분]</a:t>
            </a:r>
          </a:p>
          <a:p/>
          <a:p>
            <a:r>
              <a:t>평가가 준 숙제를 표로 정리하며 이 장을 닫겠습니다. P0, 잘못된 추천 차단 — 폐업 카페 12장의 검색 제외와 노키즈존 하드 배제는 이미 반영됐습니다. 원래 계획은 감점이었는데 아예 후보에서 제거하는 쪽으로 상향했습니다. 다만 서비스 밖 질문 거절은 아직 남은 숙제입니다. P1 — place_id 병합은 완료됐고, 태그 기반 재정렬은 모듈 구현까지 끝나 서버에 배선하는 일이 남았습니다. P2 동의어 확장은 태그 번역기로 반영됐습니다. 보시다시피 완료와 남음을 섞지 않고 구분해서 말씀드리는 것, 그리고 데이터를 더 넣자는 항목이 없다는 것 — 이 두 가지가 이 표의 핵심입니다. 남은 건 이 개선분을 처음과 같은 자로 다시 재서, 전후 비교 그래프로 보여드리는 일입니다.</a:t>
            </a:r>
          </a:p>
          <a:p/>
          <a:p>
            <a:r>
              <a:t>[이 슬라이드 예상 질문]</a:t>
            </a:r>
          </a:p>
          <a:p>
            <a:r>
              <a:t>- 서비스 밖 질문 거절은 언제, 어떤 방식으로 구현할 계획인가?</a:t>
            </a:r>
          </a:p>
          <a:p>
            <a:r>
              <a:t>- 재정렬 모듈이 구현됐는데 서버 배선을 미룬 이유는?</a:t>
            </a:r>
          </a:p>
          <a:p>
            <a:r>
              <a:t>- 동의어 확장의 효과는 어떤 지표로 검증할 것인가?</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1.5분]</a:t>
            </a:r>
          </a:p>
          <a:p/>
          <a:p>
            <a:r>
              <a:t>이제 실제 화면으로 확인하겠습니다. 데모는 네 장면 고정 대본이고 애드립 없이 그대로 갑니다. (발표자 운영 메모 — 청중에겐 읽지 않음: Render 무료 티어는 15분 무활동이면 서버가 잠들어 첫 요청이 콜드스타트, 즉 잠든 서버가 깨어나는 지연을 먹습니다. 발표 직전 쉬는 시간에 배포 주소의 /health를 브라우저로 한 번 열어 미리 깨워 두십시오.) 장면1, 검색창에 '바다다'만 칩니다. 맨 위 카드에 이름 일치 배지가 붙는데, 임베딩 점수가 아니라 코드가 이름 사전 1,300개 표기를 대조해 1순위로 고정한 결과입니다. 장면2, '애월 카페'. 조건이 없으니 임베딩을 아예 돌리지 않고 지역 필터와 다수결 — 언급 횟수가 아니라 고유 블로거 수 — 정렬만 합니다. '전체 몇 곳 중'이라는 total이 함께 뜹니다. 장면3, '애월 노을 조용한 카페'. 카드마다 '애월 ✓ · 노을 · 블로거 N명' 근거줄이 붙는데 이건 LLM 문장이 아니라 코드가 조립한, 지어낼 수 없는 이유입니다. 보조 탭의 debug 응답으로 '노을·조용한'이 태그로 옮겨진 번역 로그와 후보가 줄어드는 깔때기도 보여드립니다. 장면4, 근거 보기를 누르면 블로그 원문 인용, 카카오 리뷰, 쇼츠 댓글 세 렌즈가 열립니다. 낮은 별점 리뷰도 그대로 둡니다 — 좋은 말만 고르지 않는 게 저희 컨셉이니까요. 어느 장면이든 15초 안에 응답이 없으면 준비된 스크린샷으로 즉시 전환하고 멘트는 동일하게 진행하겠습니다.</a:t>
            </a:r>
          </a:p>
          <a:p/>
          <a:p>
            <a:r>
              <a:t>[이 슬라이드 예상 질문]</a:t>
            </a:r>
          </a:p>
          <a:p>
            <a:r>
              <a:t>- 라이브 데모가 실패하면 어떻게 대응하나요?</a:t>
            </a:r>
          </a:p>
          <a:p>
            <a:r>
              <a:t>- 브라우즈와 조건 검색을 시스템이 어떻게 구분하나요?</a:t>
            </a:r>
          </a:p>
          <a:p>
            <a:r>
              <a:t>- 응답 3~13초면 실서비스 기준으로 느린 것 아닌가요?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1분]</a:t>
            </a:r>
          </a:p>
          <a:p/>
          <a:p>
            <a:r>
              <a:t>방금 보신 데모를 평가 다섯 항목 위에 얹으면 이렇습니다. 문제 정의 — 광고 오염, 실존, 무근거 추천이라는 장벽을 말이 아니라 숫자로 증명했습니다. 중복 142그룹, 지역 라벨 오염 24.6%, 폐업 12곳. 모델 설계 — 검색 API에는 생성 LLM이 0회입니다. 코드 주석에 '임베딩 전용'이라고 박혀 있고, LLM은 에이전트 경로의 양끝, 판단과 종합에만 남았습니다. 견고성 — LLM이 실패해도 기존 결과를 유지하는 무해 폴백이고, 지역 결과가 모자라면 완화 사다리를 타되 노키즈존 같은 하드 배제는 어떤 완화에도 풀리지 않습니다. 신뢰성 — 인용은 생성이 아니라 원문 발췌라 지어내기가 구조적으로 불가능하고, 3단 평가는 약점까지 공개했습니다. 다만 그 수치는 개편 전 스냅샷이라는 점을 정직하게 말씀드립니다. 보안 — 키는 서버에만 있고 브라우저로는 만료되는 임시 URL만 나갑니다. 전 항목에 파일명과 행 번호가 있으니 어느 것이든 파고들어 질문 주셔도 됩니다.</a:t>
            </a:r>
          </a:p>
          <a:p/>
          <a:p>
            <a:r>
              <a:t>[이 슬라이드 예상 질문]</a:t>
            </a:r>
          </a:p>
          <a:p>
            <a:r>
              <a:t>- 런타임에서 생성 LLM을 뺐는데 그럼 이 시스템을 왜 RAG라고 부를 수 있나요?</a:t>
            </a:r>
          </a:p>
          <a:p>
            <a:r>
              <a:t>- 브라우저에 노출되는 카카오 JS 키는 어떻게 보호하나요?</a:t>
            </a:r>
          </a:p>
          <a:p>
            <a:r>
              <a:t>- 평가 수치가 개편 전 것이면 지금 시스템의 성능은 모른다는 뜻 아닌가요?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0.6분]</a:t>
            </a:r>
          </a:p>
          <a:p/>
          <a:p>
            <a:r>
              <a:t>나흘의 작업을 세 줄로 줄이면 이렇습니다. 중요한 건 세 줄 모두 회의실 관념이 아니라 사건에서 나왔다는 점입니다. 첫째 줄은 지역 라벨 사건입니다 — LLM 추측의 넷에 하나가 틀려서, 판단은 맡기되 사실과 강제는 코드가 쥐는 걸로 정리됐습니다. 둘째 줄은 동료 시드 사건입니다 — 같은 키워드 데이터가 임베딩층에선 스팸이었는데 라벨층으로 옮기니 772곳의 주의사항 자산이 됐습니다. 셋째 줄은 프릳츠 사건입니다 — 아홉 조각으로 쪼개져 있던 블로거 신호를 합치니 211명이 됐고, 한 명이 열 번 말한 카페보다 열 명이 한 번씩 말한 카페가 진짜라는 원칙이 검색 정렬의 뼈대가 됐습니다.</a:t>
            </a:r>
          </a:p>
          <a:p/>
          <a:p>
            <a:r>
              <a:t>[이 슬라이드 예상 질문]</a:t>
            </a:r>
          </a:p>
          <a:p>
            <a:r>
              <a:t>- '층을 옮긴다'는 게 구현에서 정확히 무엇을 바꾸는 건가요?</a:t>
            </a:r>
          </a:p>
          <a:p>
            <a:r>
              <a:t>- 고유 블로거 수도 협찬·어뷰징으로 조작될 수 있지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0.5분]</a:t>
            </a:r>
          </a:p>
          <a:p/>
          <a:p>
            <a:r>
              <a:t>한계도 숨기지 않겠습니다. 표현이 바뀌면 결과가 흔들리고 — 개편 전 측정으로 안정성 22.8%였습니다 — 태그에는 조용과 조용함 같은 유사쌍 노이즈가 남아 있고, 카드 네 장 중 한 장은 아직 영구 식별자인 place_id가 없습니다. 그리고 평가 수치가 개편 전 시스템의 스냅샷이라 개편 후 재측정이 숙제로 남았습니다. 다만 한 가지를 짚어 드리면, 지난 발표 때 로드맵의 즉시·1주 항목이었던 폐업 차단과 정본 병합은 이번 주에 이미 구현이 끝났습니다. 저희 로드맵은 선언이 아니라 실제로 소화되는 목록이고, 다음 3주도 같은 속도로 갑니다.</a:t>
            </a:r>
          </a:p>
          <a:p/>
          <a:p>
            <a:r>
              <a:t>[이 슬라이드 예상 질문]</a:t>
            </a:r>
          </a:p>
          <a:p>
            <a:r>
              <a:t>- 개편 후 재측정을 아직 못 한 이유는 무엇인가요?</a:t>
            </a:r>
          </a:p>
          <a:p>
            <a:r>
              <a:t>- place_id가 없는 25%의 카드는 서비스에서 어떻게 다뤄지나요?</a:t>
            </a:r>
          </a:p>
          <a:p>
            <a:r>
              <a:t>- 조용/조용함 같은 태그 유사쌍은 애초에 왜 생겼나요?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배분: 0.4분]</a:t>
            </a:r>
          </a:p>
          <a:p/>
          <a:p>
            <a:r>
              <a:t>정리하겠습니다. 저희 시스템에서 임베딩은 카페를 찾지 않고 사용자의 언어를 번역합니다. LLM은 사실을 만들어내지 않고 검증된 증언을 배열합니다. 그래서 모든 추천 문장에는 출처가 있고, 아쉬운 점도 그대로 보여드리고, 없는 것은 없다고 말합니다. 신뢰는 저희에게 구호가 아니라 데이터 구조였습니다. 지금까지 카페 인 제주, 팀 마요선수였습니다. 질문 주시면 실측치와 코드 위치로 답하겠습니다. 감사합니다.</a:t>
            </a:r>
          </a:p>
          <a:p/>
          <a:p>
            <a:r>
              <a:t>[이 슬라이드 예상 질문]</a:t>
            </a:r>
          </a:p>
          <a:p>
            <a:r>
              <a:t>- 이 구조를 카페가 아닌 다른 도메인(맛집·숙소)에 옮기면 무엇을 다시 만들어야 하나요?</a:t>
            </a:r>
          </a:p>
          <a:p>
            <a:r>
              <a:t>- 실서비스로 확장한다면 비용 구조와 데이터 갱신 주기는 어떻게 되나요?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발표 시간에는 넘어가는 부록입니다. 발표 중에 낯선 기술 용어가 지나갔다면 여기로 돌아와 확인하시면 됩니다. 핵심만 한 줄로 다시 말씀드리면 — 저희 시스템에서 임베딩은 후보를 소집하고 사용자의 말을 태그로 옮기는 번역기 역할까지만 하고(카페 확정은 어휘 근거가 합니다), LLM은 공장(배치)에서 카드 만드는 판단을 끝내고 창구(런타임)에는 /agent 경로의 판단·종합 두 번에만 최소로 섭니다. 기본 /search 경로는 LLM 호출이 아예 없습니다.</a:t>
            </a:r>
          </a:p>
          <a:p/>
          <a:p>
            <a:r>
              <a:t>[이 슬라이드 예상 질문]</a:t>
            </a:r>
          </a:p>
          <a:p>
            <a:r>
              <a:t>- 임베딩 모델과 LLM을 각각 무엇으로 썼고 왜 그 모델인가요?</a:t>
            </a:r>
          </a:p>
          <a:p>
            <a:r>
              <a:t>- 벡터DB에는 정확히 무엇이 몇 건 들어있나요?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장도 부록입니다. 저희 팀이 나흘간 사건을 겪으며 만든 여덟 개의 낱말인데, 이 낱말들만 기억하시면 발표 전체가 다시 읽힙니다 — 태그 사전이 어휘를 통제하고, 하드와 소프트가 양보의 선을 긋고, 다수결이 사람 수를 세고, place_id가 신원을 보증하고, 만능 자석을 임베딩 밖으로 빼고, 완화 사다리와 깔때기가 과정을 투명하게 하고(완화 문구·깔때기의 사용자 화면 노출은 현재 구현 대기 — 질의응답에서 이 구분을 정확히 답할 것), 마지막으로 원문 검증이 모든 인용을 지켜냅니다. 질의응답 때 필요하면 이 장을 띄워두고 답하겠습니다.</a:t>
            </a:r>
          </a:p>
          <a:p/>
          <a:p>
            <a:r>
              <a:t>[이 슬라이드 예상 질문]</a:t>
            </a:r>
          </a:p>
          <a:p>
            <a:r>
              <a:t>- 하드조건과 소프트조건은 누가(코드인가 LLM인가) 어떻게 구분하나요?</a:t>
            </a:r>
          </a:p>
          <a:p>
            <a:r>
              <a:t>- 태그 사전 23종은 어떤 기준으로 뽑고 확장하나요?</a:t>
            </a:r>
          </a:p>
          <a:p>
            <a:r>
              <a:t>- 완화 사다리를 타고도 0건이면 무엇을 보여주나요?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status 전용 필드는 없고 closed(불리언)와 판정(유지/보류/빈값) 두 필드로 상태를 표현. 출처: data/processed/cards.json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버킷 14종 + 미지정 148장(17.8%). 미지정은 좌표/주소 미확보 카드와 대체로 겹침</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버킷 14종 + 미지정 148장(17.8%). 미지정은 좌표/주소 미확보 카드와 대체로 겹침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상위 10 중 5곳이 구좌 버킷. bloggers = 해당 카페를 언급한 고유 블로거 수</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카페명 키 -&gt; 스니펫 리스트(제목 t, date, blogger, link) 구조. 카드 831장 대비 커버율 91.9%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재료 표 — 민옥이 차트로 변환 예정. 이름변형 -&gt; {canonical, place_id} 딕셔너리 구조. 1,298개 이름 조각이 830개 정본으로 수렴(카드 831장과 1 차이는 빈 키 유래). 오탈자(해일리/헤일리), 영문표기, 띄어쓰기 변형까지 흡수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크롤링의 적법성이나 저작권 문제는 없나요?</a:t>
            </a:r>
          </a:p>
          <a:p>
            <a:r>
              <a:t>A(상세): 수집 경로부터 말씀드리면, 유튜브는 공식 Data API, 네이버는 검색 API(블로그 100건+지역검색 5건), 카카오는 로컬 API로 place_id와 좌표를 받았습니다. 저작권 측면에서는 서비스 화면에 원문 전체를 싣지 않습니다 — 블로그 인용은 스니펫을 160자로 절단한 발췌 최대 3건이고, 반드시 원문 블로그 링크를 함께 붙여 트래픽이 원저작자에게 돌아가게 했습니다. 다만 카카오 리뷰 전문 20,328건 등 일부 데이터의 수집 방식과 약관 정합성은 상업화 전에 재점검이 필요합니다(재확인 필요). 현재는 해커톤 범위의 연구·데모 목적이고, 이 경계를 넘을 때 법적 검토가 선행돼야 한다는 게 저희의 정직한 답입니다.</a:t>
            </a:r>
          </a:p>
          <a:p>
            <a:r>
              <a:t>근거: .env.example(NAVER_CLIENT_ID/SECRET·API_KEY·KAKAO_KEY 공식 API 키 구조), app/server.py:451-467(_pick_blog_quotes [:160] 절단·최대 3건), 카드 응답 blog_links 필드, 07/0708 작업 정리(카카오 리뷰 20,328건)</a:t>
            </a:r>
          </a:p>
          <a:p/>
          <a:p>
            <a:r>
              <a:t>Q: 데이터 최신성은 어떻게 유지하나요? 폐업한 카페가 계속 추천되면요?</a:t>
            </a:r>
          </a:p>
          <a:p>
            <a:r>
              <a:t>A(상세): 저희는 데이터 열화를 걱정이 아니라 기능으로 뒤집었습니다. 블로그 정제 단계가 폐업 단서 11곳을 자동 검출했고 — 수리코는 '2026-03-02 영업 종료, 부산 이전'까지 잡았습니다 — 쇼츠 댓글에서 폐업 제보 10건(성창힐은 교차 확인까지 됐습니다), 팀원 직접 제보(애월빵공장)까지 세 경로가 서로를 교차 검증합니다. 실제 강등된 12곳은 자동 검출 11에 애월빵공장 제보 1을 더한 것인데, 지우지 않고 closed로 강등해서 검색·브라우즈에선 빼되 이름으로 조회하면 '폐업했어요'라고 안내합니다 — 지우면 사용자가 모르고 찾아가니까요. 근거 스니펫도 2024년 1월 1일 이후 글만 필터해 옛 정보를 걸러냅니다. 다만 크론 같은 정기 자동 재수집은 아직 없습니다. 지금은 배치 파이프라인 재실행으로 카드를 다시 굽는 수동 갱신인데, 배치와 런타임이 분리된 구조라 갱신 비용 자체는 낮습니다.</a:t>
            </a:r>
          </a:p>
          <a:p>
            <a:r>
              <a:t>근거: HANDOFF.md 7/9 밤(폐업 강등 12 = closed_hint 11 + 애월빵공장 제보 1), 07/0708 작업 정리 ⑦(댓글 폐업 제보 10건·성창힐 교차 확인), app/server.py:365-428 + pipeline/build_evidence_index.py(postdate&gt;=20240101 필터 — pre-index·서버 폴백 동일 적용)</a:t>
            </a:r>
          </a:p>
          <a:p/>
          <a:p>
            <a:r>
              <a:t>Q: 데이터 수집에 비용과 기간이 얼마나 들었나요?</a:t>
            </a:r>
          </a:p>
          <a:p>
            <a:r>
              <a:t>A(상세): 유튜브 raw 1,988건에서 카페 언급을 추출하는 Pass 1이 gpt-5-mini로 약 40분, 약 2달러였습니다. 네이버 블로그는 1,064곳 전량에 후기 100건+지역검색 5건씩을 실패 0으로 크롤했고, 그 정제가 996콜에 약 40분, 약 2달러였습니다. 임베딩 등 나머지를 더해도 배치 전체 LLM 비용은 5달러 안쪽으로 추정합니다 — 항목별 정확한 합산은 재확인 예정입니다. 싸게 끝난 비결은 모델이 아니라 설계입니다 — 무겁고 실수 가능한 LLM 판단을 배치에서 한 번만 하고 결과를 카드로 저장하니, 같은 데이터를 두 번 정제할 일이 없습니다. 파일럿으로 소표본을 먼저 돌려 눈으로 확인한 뒤 전량을 돌린 것도 재작업 비용을 막았습니다.</a:t>
            </a:r>
          </a:p>
          <a:p>
            <a:r>
              <a:t>근거: 07/0707 작업 정리(Pass 1 ~40분/~$2, gpt-5-mini reasoning=minimal), 07/0708 작업 정리(블로그 정제 996콜/~40분/~$2, 크롤 실패 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카페 1,064곳이라는 규모는 어떻게 나온 숫자이고, 충분한 건가요?</a:t>
            </a:r>
          </a:p>
          <a:p>
            <a:r>
              <a:t>A(상세): 수집을 특정 채널을 따라가는 방식이 아니라, 지역 11개×카테고리 3개에 광역·테마를 더한 키워드 격자 41개, 카페 무드 보강 18개로 그물을 넓게 쳤습니다. 그 결과 격자로 1,359건, 보강까지 더해 유튜브 raw 1,988건이 됐고, 거기서 카페 언급 1,504건, 중복을 걷어낸 고유 카페 1,064곳이 모집단이 됐으며, place_id 기준 병합을 거쳐 최종 정본 카드는 831장입니다. 참고로 공공 명부의 제주 카페는 2,863곳이니 전수는 아닙니다 — 저희 모집단의 정의는 '미디어에 언급된, 여행자가 실제로 찾는 카페'입니다. 그 목적에 대한 커버리지는 평가로 확인했는데, 사람이 만든 골드 질문 50개 기준 대표 카페가 DB에 수록된 비율이 99.6%였습니다 — 평가 시점 스냅샷 수치임을 밝힙니다. 즉 개선 병목은 데이터 양이 아니라 재정렬이라는 게 평가의 결론이었습니다.</a:t>
            </a:r>
          </a:p>
          <a:p>
            <a:r>
              <a:t>근거: 07/0707 작업 정리(격자 41+18, raw 1,359→1,988, 언급 1,504, 고유 1,064, 공공 명부 2,863), cards.json 실측 831장, 발표덱 v2 슬라이드 16(수록률 99.6%·'병목은 데이터가 아니라 재정렬' — 평가 시점 스냅샷, 실측 확인)</a:t>
            </a:r>
          </a:p>
          <a:p/>
          <a:p>
            <a:r>
              <a:t>Q: 유튜브·블로그에 안 나오는 숨은 카페는 편향으로 빠지는 것 아닌가요?</a:t>
            </a:r>
          </a:p>
          <a:p>
            <a:r>
              <a:t>A(상세): 정직하게 인정합니다. 저희 모집단은 유튜브 격자 수집에서 출발하니 미디어에 한 번도 언급되지 않은 카페는 빠지고, 공공 명부 2,863곳 대비 1,064곳이면 전수의 약 37%입니다. 다만 두 가지를 말씀드리고 싶습니다. 첫째, 이 서비스의 목적이 '여행자가 찾을 만한 카페 추천'이라 언급 자체가 관심의 신호입니다 — 저희는 그 신호를 도배에 안 속게 횟수가 아니라 사람 수로 셌습니다. 둘째, 데이터가 스스로 명단을 넓히는 경로가 있습니다 — 쇼츠 댓글에서 발굴된 후보 55곳을 검증해 12곳을 편입하고 비카페 26곳·미확인 17곳은 기각했습니다. 채널 편향은 격자 수집으로, 도배 편향은 고유 블로거 수 다수결로 각각 방어한 셈이고, 완전한 전수 커버는 이 서비스의 목표가 아니라고 말씀드리는 게 정확합니다.</a:t>
            </a:r>
          </a:p>
          <a:p>
            <a:r>
              <a:t>근거: 07/0707 작업 정리(공공 명부 2,863·키워드 격자 수집), 07/0709 작업 정리 ⑦⑧(발굴 검증 55→편입 12/기각 43), HANDOFF 결정 14(고유 블로거 수 다수결)</a:t>
            </a:r>
          </a:p>
          <a:p/>
          <a:p>
            <a:r>
              <a:t>Q: 블로그 상위 노출은 광고·협찬이 점령했는데, 그 오염은 어떻게 걸렀나요?</a:t>
            </a:r>
          </a:p>
          <a:p>
            <a:r>
              <a:t>A(상세): 광고 오염은 저희 문제 정의의 1번이었고, 대응은 세 겹입니다. 첫째, 인기 신호를 언급 횟수가 아니라 고유 블로거 수로 셉니다 — 협찬 도배는 소수가 반복 게시하는 패턴이라, 사람 수를 세면 힘이 빠집니다. 둘째, 매체별 역할 분담입니다. '2층 에어컨 고장(무더움)' 같은 문장은 — 실제 저희 댓글 정제 데이터에 남아 있는 기록입니다 — 블로그에는 절대 나오지 않고 쇼츠 댓글에만 살아 있어서, 반응은 댓글에서, 만족도는 별점 달린 카카오 실방문 리뷰에서 가져와 교차합니다. 셋째, 부정·혼합 여론을 숨기지 않습니다 — 근거 보기에서 낮은 별점 리뷰도 그대로 노출하고, 반응 톤이 부정이면 부정이라고 표시합니다. 다만 협찬 글 하나하나를 판별하는 분류기는 없습니다. 다수결과 매체 교차로 우회한 것이지 개별 판별을 해결한 건 아니라고 말씀드리는 게 정직합니다.</a:t>
            </a:r>
          </a:p>
          <a:p>
            <a:r>
              <a:t>근거: 발표덱 v2 슬라이드 5(3대 장벽)·21(횟수가 아니라 사람 수), HANDOFF 결정 14·20·26, app/server.py:430-449(_pick_review_quotes — 별점 1~3 리뷰도 최대 3건 보존), data/processed/댓글 정제.jsonl('2층 에어컨 고장 (무더움)' 실존 확인)</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타깃 사용자는 누구인가요?</a:t>
            </a:r>
          </a:p>
          <a:p>
            <a:r>
              <a:t>A(상세): 발표 도입부의 페르소나가 그대로 타깃입니다 — 제주 런케이션이나 여행을 와서, 믿을 만한 카페를 찾으려고 유튜버 추천 영상을 보고, 짜기로 유명한 카카오 평점으로 거르고, 블로그로 영업시간과 찐후기를 확인하고, 폐업은 아닌지까지 체크하는 사람입니다. 이 교차 검증에 최소 15분이 듭니다 — 구슬이 서 말인데 꿰다가 여행이 끝나는 상황이죠. 카페인제주는 그 검증 절차 자체를 파이프라인으로 옮긴 서비스라서, '애월 노을 감성 카페'라고 치면 폐업 필터·다수결·원문 근거를 통과한 카드가 1~3초에 나옵니다. 정보 탐색 비용이 큰 단기 여행자일수록 효용이 큽니다.</a:t>
            </a:r>
          </a:p>
          <a:p>
            <a:r>
              <a:t>근거: 발표덱 v2 슬라이드 2·3(런케이션 페르소나)·5('최소 １５분' — 슬라이드 원문 실측 확인), HANDOFF.md(응답 1~3초 실측)</a:t>
            </a:r>
          </a:p>
          <a:p/>
          <a:p>
            <a:r>
              <a:t>Q: 카카오에 너무 의존하는 것 아닌가요? 카카오맵 정책이 바뀌면 어떻게 되죠?</a:t>
            </a:r>
          </a:p>
          <a:p>
            <a:r>
              <a:t>A(상세): 설계 결정 24에서 이 둘을 명시적으로 갈라놨습니다. 지도 SDK는 '액자'입니다 — 네이버지도든 구글맵이든 교체 가능하고, 실제로 카카오 JS 키가 없으면 SVG 폴백 지도로 서비스가 그대로 동작합니다. 개발 기본값이 그 상태였습니다. 더 깊은 의존은 place_id인데, 이건 외부에 종속된 표시용 키가 아니라 내부 병합 키입니다 — 이름 변형 1,298개가 어느 정본에 속하는지 매핑 파일로 저장돼 있어서, 카카오를 못 쓰게 되면 다른 식별자 체계로 재매핑하는 배치를 한 번 돌리면 됩니다. 물론 그 비용이 0은 아니라서, '영구 키'라는 표현은 카카오 생태계 안에서의 영구성이라고 정직하게 한정하겠습니다. 데이터의 본체인 텍스트·태그·근거는 네이버·유튜브 유래라 카카오와 독립적입니다.</a:t>
            </a:r>
          </a:p>
          <a:p>
            <a:r>
              <a:t>근거: HANDOFF 결정 24(place_id=영구 키, 지도 SDK=액자·교체 가능), web/index.html(키 없으면 SVG 폴백), 정본매핑.json 실측 1,298항목→830정본</a:t>
            </a:r>
          </a:p>
          <a:p/>
          <a:p>
            <a:r>
              <a:t>Q: 다른 지역이나 맛집 도메인으로 확장할 수 있나요?</a:t>
            </a:r>
          </a:p>
          <a:p>
            <a:r>
              <a:t>A(상세): 정직하게, 확장은 논의한 적이 없어서 지금 드리는 답은 구상이 아니라 구조 이야기입니다. 파이프라인의 각 단계 — 키워드 격자 수집, LLM 추출, 주소 기반 지역 유도, place_id 정본화, 카드 조립 — 는 제주에 하드코딩된 게 아니라 절차입니다. 부산 카페라면 키워드 격자의 지역 축과 지역 버킷을 부산 행정구역으로 바꾸면 되고, 맛집이라면 태그 사전 23종을 음식 도메인 어휘로 다시 만들어야 합니다. 태그 사전이 '초안은 사람의 감각, 확장은 데이터의 빈도'로 진화하는 방법론이라 이식 절차 자체는 검증돼 있습니다. 다만 저희가 서빙 코퍼스를 정할 때 실험 3번으로 결정했듯, 도메인마다 데이터 소스 실험을 다시 해야 하니 공짜 확장은 아닙니다.</a:t>
            </a:r>
          </a:p>
          <a:p>
            <a:r>
              <a:t>근거: HANDOFF 결정 1(키워드 격자)·15(태그 사전 진화), app/tagdict.py(활성 태그 23종), app/server.py REGIONS 22개(지역 버킷 구조), 07/0708 ⑥(서빙 코퍼스 실험 방법론)</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수익화는 어떻게 구상하고 있나요?</a:t>
            </a:r>
          </a:p>
          <a:p>
            <a:r>
              <a:t>A(상세): 해커톤 프로젝트라 수익화는 논의하지 않았고, 없는 계획을 지어내지 않겠습니다. 다만 설계가 수익 모델의 경계를 이미 정해놓은 부분은 말씀드릴 수 있습니다. 저희 정체성은 '순위의 근거를 전부 설명 가능하게'입니다 — 인기 수치조차 검색 순위가 아니라 동점 정렬에만 쓰도록 자리를 제한했을 정도입니다. 그래서 특정 카페를 돈 받고 올려주는 모델을 붙이는 순간 서비스의 존재 이유가 무너집니다. 반대로 순위를 건드리지 않는 방향 — 검증된 카드 데이터나 근거 API를 제공하는 형태 같은 — 이라면 구조와 충돌하지 않을 겁니다. 어디까지나 구조상의 가능성이고, 실제 검토는 하지 않았다는 게 정확한 답입니다.</a:t>
            </a:r>
          </a:p>
          <a:p>
            <a:r>
              <a:t>근거: HANDOFF 결정 8(인기≠적합성 — 차트인은 동점 정렬·카피에만)·결정 26(신뢰가 컨셉), 발표덱 v2 슬라이드 1(모든 추천에 원문 인용 — 실측 확인)</a:t>
            </a:r>
          </a:p>
          <a:p/>
          <a:p>
            <a:r>
              <a:t>Q: 네이버지도·카카오맵 같은 기존 서비스와 무엇이 다른가요?</a:t>
            </a:r>
          </a:p>
          <a:p>
            <a:r>
              <a:t>A(상세): 세 가지가 다릅니다. 첫째, 근거입니다 — 기존 서비스는 순위의 이유를 설명하지 않지만, 저희는 '애월 일치 · 오션뷰 태그 · 블로거 26명 언급'처럼 코드가 결정적으로 조립한 추천 이유와 원문 인용을 카드마다 붙입니다. 인용은 LLM이 쓰는 게 아니라 원문 스니펫에서 코드가 그대로 발췌하는 방식이라 지어낸 근거가 구조적으로 불가능하고, 단계별 후보 수를 보여주는 검색 깔때기는 현재 debug 모드로 노출되며 정식 응답 필드(파도8)로 확장 대기 중입니다. 둘째, 정직함입니다 — 좋은 말만 고르지 않고 낮은 별점 리뷰와 아쉬운 점을 나란히 보여주며, 0건이면 0건이라고 답합니다. 셋째, 자연어 조건 검색입니다 — '노을 보기 좋은 조용한 카페' 같은 문장을 통제 태그로 번역하고, 임베딩 유사도로 모은 후보를 어휘 근거 게이트·하드 배제·지역 필터라는 읽을 수 있는 조건 층으로 거릅니다. 조건 없는 탐색은 유사도 점수가 아니라 고유 블로거 수 다수결로 정렬합니다. 물론 지도와 리뷰 데이터 자체는 기존 플랫폼 위에 서 있습니다 — 저희가 더한 건 데이터가 아니라 검증과 설명이라는 층입니다.</a:t>
            </a:r>
          </a:p>
          <a:p>
            <a:r>
              <a:t>근거: 발표덱 v2 슬라이드 6·8(일반 RAG 비교표 — 실측 확인), app/server.py:276-295(match_info — matched 코드 조립)·451-467(원문 그대로 발췌)·604-624(깔때기는 debug 노출), HANDOFF 결정 26·29, FRONTEND_파도8_초안.md(funnel 정식 필드 구현 대기)</a:t>
            </a:r>
          </a:p>
          <a:p/>
          <a:p>
            <a:r>
              <a:t>Q: 조건에 맞는 카페가 없다고 0건을 보여주면 사용자가 떠나지 않나요?</a:t>
            </a:r>
          </a:p>
          <a:p>
            <a:r>
              <a:t>A(상세): 좋은 지적이고, 저희도 0건을 그냥 던지지 않습니다. 지금 서비스에 켜져 있는 사다리는 두 층입니다 — 지역은 세부지역→버킷→전체 순으로 단계 완화해 relaxed 표시와 함께 대안을 붙이고, 프론트가 실제로 부르는 /agent 경로에서는 판단 LLM이 '부족'으로 보면 조건어를 하나 빼고 재검색합니다(최대 2루프). 그래도 내부에 없으면 카카오맵 외부 검색 폴백을 시도하고, 그 결과에는 '카카오맵에서 찾았어요' 배지를 달아 출처를 구분합니다. 여기에 번역 확신도가 낮은 소프트 조건부터 빼고 '조용함 조건을 빼고 찾았어요', '애월엔 없지만 옆 동네 한림에 있어요' 같은 라벨을 모든 양보에 붙이는 완화 사다리는 W3 모듈로 구현돼 시나리오 검증(예: 우도 산방산뷰 0건→라벨 완화)을 통과했고, 서버 배선(W5)이 다음 작업입니다. 단 하나의 예외가 하드조건입니다 — 아이와 함께 갈 카페를 찾는 분에게 노키즈존을 대안이라고 내미는 순간 신뢰가 끝나기 때문에, 하드 배제는 어떤 완화에도 풀리지 않습니다. 저희 관점에서는 억지 추천으로 헛걸음시키는 쪽이 진짜 이탈 요인입니다.</a:t>
            </a:r>
          </a:p>
          <a:p>
            <a:r>
              <a:t>근거: app/server.py:586-598(지역 완화 사다리)·717-724(_drop_condition, /agent 루프)·191-217(하드 배제, 골드셋 G030 사건 유래), eval/w234_검증.py 시나리오 5~7(W3 라벨 완화 — 단 app/relax.py는 server.py 미배선·W5 대기 실측), 제주카페_발표.pptx(15장) 슬라이드 12(완화 사다리 라벨 원문 실측 확인)</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배포 환경은 무엇이고 비용은 얼마나 드나요?</a:t>
            </a:r>
          </a:p>
          <a:p>
            <a:r>
              <a:t>A(상세): python:3.12-slim 기반 Docker 이미지 하나에 백엔드 FastAPI와 프론트 정적 HTML을 같이 담아, Render 무료 플랜 — 512MB RAM, 싱가포르 리전 — 에 올렸습니다. main 브랜치에 푸시하면 자동 재배포되고, /health 엔드포인트로 헬스체크가 걸려 있습니다. 로컬 개발에서는 API와 프론트를 두 포트로 띄우지만, 배포에서는 서버 하나가 둘 다 서빙합니다. 비용은 서버 0원에, 런타임에서 생성 LLM을 철거했기 때문에 검색 한 번의 API 비용이 질의 임베딩 호출 1회 수준입니다(조건어 태그 번역 임베딩은 캐시됩니다). 판단 루프가 있는 /agent 경로만 gpt-5-mini를 2~4회 부르는데, mini 모델이라 이것도 미미합니다.</a:t>
            </a:r>
          </a:p>
          <a:p>
            <a:r>
              <a:t>근거: render.yaml(plan: free·region: singapore·healthCheckPath: /health·autoDeploy), Dockerfile(단일 컨테이너 주석), app/server.py:884-886(StaticFiles 마운트), 결정 28(런타임 LLM 0)</a:t>
            </a:r>
          </a:p>
          <a:p/>
          <a:p>
            <a:r>
              <a:t>Q: 무료 티어면 콜드스타트 문제가 있지 않나요?</a:t>
            </a:r>
          </a:p>
          <a:p>
            <a:r>
              <a:t>A(상세): 정직하게, 무료 티어의 태생적 한계라 있습니다. 15분 동안 요청이 없으면 슬립하고, 다음 첫 요청이 서버가 깨어날 때까지 기다립니다. 저희가 통제할 수 있는 건 '깨어난 뒤의 속도'였습니다. 실제로 배포 첫날, 근거 보기가 57MB 원본 파일을 런타임에 파싱하느라 첫 로드에 17.6초가 걸리는 걸 발견했고, 빌드 타임에 미리 인덱스를 구워두는 pre-index 방식으로 바꿔 0.16초로 줄였습니다 — 100배 개선입니다. 슬립 자체를 없애려면 유료 플랜 전환이나 주기적 핑이 필요한데, 데모 단계에서는 시연 직전에 미리 서버를 깨워두는 운영으로 대응합니다. 오늘 시연도 그렇게 준비했습니다.</a:t>
            </a:r>
          </a:p>
          <a:p>
            <a:r>
              <a:t>근거: render.yaml 주석(512MB RAM·15분 무활동 슬립), pipeline/build_evidence_index.py:3-7(17.6초 실측 배경 주석)·app/server.py:370, MEMORY 07-10 배포 디버깅 기록(0.16초)</a:t>
            </a:r>
          </a:p>
          <a:p/>
          <a:p>
            <a:r>
              <a:t>Q: API 키 보안은 어떻게 관리하나요?</a:t>
            </a:r>
          </a:p>
          <a:p>
            <a:r>
              <a:t>A(상세): 세 겹으로 관리합니다. 첫째, 저장 계층 — .env와 config.local.js는 gitignore와 dockerignore 양쪽에서 차단해 저장소에도 Docker 이미지에도 들어가지 않고, 배포 키는 Render 대시보드에 sync:false로 직접 입력해 설정 파일에 값이 남지 않습니다. 둘째, 전달 계층 — /photos는 구글 키를 서버에만 두고, 만료되는 임시 사진 URL만 프론트로 내려줍니다. photo name조차 저장하지 않고 매 호출 새로 발급받습니다. 셋째, 예외 처리 — 성격상 브라우저에 노출될 수밖에 없는 카카오 JS 키는 카카오 콘솔의 도메인 등록으로 다른 사이트에서 못 쓰게 묶었습니다. 실제로 프로젝트 초기에 키가 노출된 사건이 한 번 있었는데, 우회책을 쌓는 대신 즉시 재발급이라는 근본 해결로 처리했고 그 경험이 지금의 체계를 만들었습니다.</a:t>
            </a:r>
          </a:p>
          <a:p>
            <a:r>
              <a:t>근거: .env.example(서버/클라이언트 키 구분 구조), .gitignore·.dockerignore, render.yaml(sync:false), app/server.py:324-348(/photos 임시 URL·photo name 저장 금지), MEMORY Feedback(카카오키 노출→재발급, 07-07 — 세션 메모리 출처)</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응답 속도는 얼마나 나오나요?</a:t>
            </a:r>
          </a:p>
          <a:p>
            <a:r>
              <a:t>A(상세): 경로가 둘입니다. 기본 /search는 이름 사전 조회, 다수결 정렬, 임베딩 검색+코드 필터로만 구성된 결정적 파이프라인이라 1~3초에 답합니다. 원래는 런타임에 LLM 선별층이 있어 6~9초였는데, '이 시스템의 실체는 검색엔진이고 그건 강등이 아니라 정돈'이라는 결정과 함께 생성 LLM을 철거하니 3배 빨라졌습니다. 프론트 검색창이 실제로 부르는 /agent는 결과가 부족할 때 gpt-5-mini가 충분/부족을 판단하고 조건을 완화해 재검색하는 루프가 있어 실측 3~13초입니다 — 그동안 스켈레톤 로딩과 '검색→판단→완화' 진행 캡션을 보여줘 기다림을 설명합니다. 속도의 비결은 캐시나 하드웨어가 아니라, LLM의 일자리를 오프라인 배치로 옮긴 아키텍처 자체입니다.</a:t>
            </a:r>
          </a:p>
          <a:p>
            <a:r>
              <a:t>근거: HANDOFF.md:9·07/0709 작업 정리:42(6~9초 실측→1~3초), 결정 28~30, web/index.html:693-795(/agent 실측 3~13초 주석·타임아웃 30초)</a:t>
            </a:r>
          </a:p>
          <a:p/>
          <a:p>
            <a:r>
              <a:t>Q: 외부 API나 LLM이 죽으면 서비스는 어떻게 되나요?</a:t>
            </a:r>
          </a:p>
          <a:p>
            <a:r>
              <a:t>A(상세): 실패를 전제로 설계했습니다. /agent의 판단 LLM이 실패하면 폴백이 '충분 판정'이라, 이미 찾아둔 검색 결과가 그대로 나갑니다 — 실패가 결과를 악화시키지 않는 방향으로 폴백을 골랐습니다. 종합 문장 생성이 실패하면 프론트가 카드 요약의 첫 문장으로 대신합니다. 백엔드 전체가 안 뜨면 프론트가 내장 mock 데이터로 전환하면서 '(오프라인 데모 — 서버 미접속)'이라고 명시하고, 카카오 지도 키가 없으면 SVG 폴백 지도로 동작합니다. 태그 임베딩 파일이 없거나 임베딩 API가 실패해도 번역기가 정확 매칭만으로 자동 강등될 뿐 서버는 죽지 않습니다. 원칙은 하나입니다 — 어떤 실패도 조용히 거짓 결과를 만들지 말고, 무엇으로 강등됐는지 보이게 하라.</a:t>
            </a:r>
          </a:p>
          <a:p>
            <a:r>
              <a:t>근거: app/server.py:662-691(judge 실패 폴백='충분')·694-714(synthesize 실패 시 intro=""), web/index.html(mock 폴백·오프라인 표기·SVG 지도), app/tagtrans.py:65,79-80(graceful degradation)</a:t>
            </a:r>
          </a:p>
          <a:p/>
          <a:p>
            <a:r>
              <a:t>Q: 사용자가 늘어나면 지금 구조로 감당할 수 있나요?</a:t>
            </a:r>
          </a:p>
          <a:p>
            <a:r>
              <a:t>A(상세): 현재 스펙을 정직하게 말씀드리면 무료 티어 512MB 컨테이너 한 대이고, 동시 접속 부하 테스트는 하지 않았습니다(재확인 필요). 다만 확장에 유리한 성질이 둘 있습니다. 첫째, 런타임에 쓰기가 없습니다 — 카드 831장과 벡터 985문서는 전부 읽기 전용이고, 카드가 틀리면 서버를 고치는 게 아니라 배치를 다시 돌려 카드를 다시 굽는 구조라, 컨테이너를 여러 대로 복제해도 정합성 문제가 없습니다. 둘째, 무거운 판단이 전부 배치로 빠져 있어 런타임 요청 하나의 비용이 임베딩 1회+코드 필터 수준입니다. 병목이 온다면 로컬 파일 기반 Chroma와 외부 API 쿼터일 텐데, 그때는 벡터 스토어 분리와 플랜 업그레이드가 자연스러운 다음 수순입니다.</a:t>
            </a:r>
          </a:p>
          <a:p>
            <a:r>
              <a:t>근거: render.yaml(free·512MB), Dockerfile(단일 컨테이너), 기술아키텍처 덱 슬라이드 3('런타임 내내 읽기 전용·카드가 틀리면 카드를 다시 굽는다' — 원문 실측 확인), cards.json 831장·cards 컬렉션 985문서 실측</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개발 기간은 얼마나 걸렸나요?</a:t>
            </a:r>
          </a:p>
          <a:p>
            <a:r>
              <a:t>A(상세): 7일에 유튜브 격자 수집과 고유 카페 1,064곳 추출, 8일에 네이버 블로그 보강과 검색 MVP 관통, 9일에 검색 3분기·place_id 정본화·카드 병합·런타임 개편, 10일에 Render 첫 배포와 디버깅까지 — 나흘입니다. 짧게 가능했던 비결은 두 가지였습니다. 하나는 MVP 먼저 — 둘째 날에 이미 임베딩→API→웹까지 끝에서 끝으로 도는 관통을 만들어 놓고, 그 위에서 해지개 사건이나 지역 오염 24.6% 같은 진짜 문제를 실측으로 발견했습니다. 다른 하나는 매일의 확정 결정을 문서로 남긴 것 — 나흘간 30개의 설계 결정이 전부 사건과 실측에 근거해 기록됐고, 덕분에 다음 날 같은 논쟁을 반복하지 않았습니다.</a:t>
            </a:r>
          </a:p>
          <a:p>
            <a:r>
              <a:t>근거: 07/0707~0709 작업 정리 md 3일치 + MEMORY 07-10(배포), HANDOFF.md 확정 결정 1~30, 발표덱 v2 슬라이드 21('９６시간을 세 줄로' — 원문 실측 확인)</a:t>
            </a:r>
          </a:p>
          <a:p/>
          <a:p>
            <a:r>
              <a:t>Q: 팀 내 역할 분담은 어떻게 했나요?</a:t>
            </a:r>
          </a:p>
          <a:p>
            <a:r>
              <a:t>A(상세): 크게 세 영역이었습니다 — 수집·정제 파이프라인과 검색 백엔드, 카카오맵과 근거 모달이 있는 프론트엔드, 그리고 Gold 50·Silver 168·Bronze 3단 평가 체계와 하이브리드 시드 데이터셋입니다. 분담에 의도된 장치가 하나 있는데, 평가 문항을 카드 데이터를 본 사람이 만들면 '아는 카페' 위주로 내는 오염이 생기기 때문에, 데이터를 보지 않은 팀원이 골드셋을 전담했습니다. 영역 사이의 협업은 말이 아니라 문서 계약으로 했습니다 — 프론트와 백엔드 사이에 '파도'라고 부르는 버전 있는 응답 계약 문서를 두고, '필드는 추가만, 없으면 렌더링하지 않는다'는 하위호환 원칙으로 서로를 막지 않고 병렬로 달렸습니다. 팀원별 상세 소개는 팀 소개 슬라이드에서 따로 드리겠습니다.</a:t>
            </a:r>
          </a:p>
          <a:p>
            <a:r>
              <a:t>근거: 07/0708 작업 정리:144(골든셋=카드 데이터 안 본 팀원 전담), FRONTEND_지침.md 3원칙(파도 계약), 07/0709 ⑥(동료 하이브리드 시드), 발표덱 v2 슬라이드 15(Gold 50·Silver 168·Bronze — 원문 실측 확인)</a:t>
            </a:r>
          </a:p>
          <a:p/>
          <a:p>
            <a:r>
              <a:t>Q: 개발하면서 가장 어려웠던 지점은 무엇이었나요?</a:t>
            </a:r>
          </a:p>
          <a:p>
            <a:r>
              <a:t>A(상세): 기술적으로 가장 아팠던 건 검색 알고리즘이 아니라 신원 — 이 이름과 저 이름이 같은 카페인가 — 였습니다. 세 사건이 연달아 왔습니다. 데이터에 멀쩡히 있는 유명 카페 해지개가 이름 검색에서 전멸했습니다 — 고유명사 조회는 의미 유사도 도구인 임베딩의 직업이 아니었던 겁니다. 프릳츠 한 곳이 표기 차이로 9조각 나서 블로거 신호가 91·50·40명 등 아홉 조각으로 흩어져 부패해 있었고, LLM이 영상만 보고 추측한 지역 라벨은 넷에 하나가 오답이었습니다. 해법은 하나의 원칙으로 수렴했습니다 — 식별자는 전부 LLM을 우회해 코드가 운반한다. 이름은 사전 조회로 1순위 고정하고, 지역은 주소 문자열에서 코드로 유도하고, 신원은 카카오 place_id로 정본화해 중복 142그룹을 병합했습니다. 한 문장으로 하면 '이름은 흔들리지만 식별자는 흔들리지 않는다'가 이 프로젝트에서 가장 비싸게 배운 교훈입니다.</a:t>
            </a:r>
          </a:p>
          <a:p>
            <a:r>
              <a:t>근거: 07/0709 작업 정리 ①(해지개)·②(지역 오염 24.6%)·⑤(place_id), DEDUP_검수시트_지침.md(프릳츠 9조각: 91·91·91·50·40·14·14·2·1·142그룹), HANDOFF 결정 22·24·30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LLM 호출 비용은 총 얼마나 들었나요?</a:t>
            </a:r>
          </a:p>
          <a:p>
            <a:r>
              <a:t>A(상세): 비용 구조가 저희 아키텍처를 그대로 반영합니다. LLM이 일하는 곳은 오프라인 배치라서, 유튜브 raw에서 카페를 추출하는 Pass 1이 약 2달러, 블로그 996곳 정제가 약 2달러 — 굵직한 배치의 합이 5달러 미만입니다. 댓글 정제 등 나머지 배치도 같은 gpt-5-mini에 같은 파일럿→전량 방식이라 규모가 비슷한데, 항목별 정확한 합산치는 재확인이 필요합니다. 반면 런타임은 /search에 생성 호출이 0회이고 질의 임베딩 1회뿐이라, 검색량이 늘어도 비용이 거의 늘지 않습니다. /agent 경로만 mini 모델을 2~4회 부릅니다. 요약하면 '비용은 카드를 구울 때 한 번, 서빙은 공짜에 가깝게'가 저희의 비용 설계입니다.</a:t>
            </a:r>
          </a:p>
          <a:p>
            <a:r>
              <a:t>근거: 07/0707 작업 정리(Pass 1 ~$2)·07/0708 작업 정리(정제 996콜 ~$2), 결정 28(런타임 LLM 0), app/server.py:63(client 주석 '임베딩 전용')·791-842(run_agent 루프)</a:t>
            </a:r>
          </a:p>
          <a:p/>
          <a:p>
            <a:r>
              <a:t>Q: 팀 협업은 구체적으로 어떤 방식으로 진행했나요?</a:t>
            </a:r>
          </a:p>
          <a:p>
            <a:r>
              <a:t>A(상세): 두 가지 습관이 협업의 뼈대였습니다. 첫째, 논쟁이 생기면 회의를 늘리는 대신 실험을 돌렸습니다 — 임베딩에 넣을 텍스트를 정할 때 같은 8문항을 유튜브·블로그·시드·하이브리드 네 코퍼스에 던져 블로그 5승으로 결판냈고, 동료의 시드 데이터도 지역 정합 18/20 대 11/20 정면 비교 실측으로 '임베딩엔 배제, 라벨층에만 이식'을 결정했습니다. 층을 옮기면 독이 약이 된다는 원칙이 여기서 나왔습니다. 둘째, 사람 사이 인터페이스를 문서 계약으로 만들었습니다 — 프론트·백엔드는 '파도'라는 버전 있는 응답 계약으로, 개별 구현은 W1~W5 같은 작업 지침서로 주고받아 서로 기다리지 않고 병렬로 진행했습니다. 그리고 애매한 판단은 자동화하지 않고 사람에게 보내되, 이름 변형 26건 검수처럼 O/X만 묻는 형태로 가볍게 유지했습니다.</a:t>
            </a:r>
          </a:p>
          <a:p>
            <a:r>
              <a:t>근거: 07/0708 ⑥(4자 비교 blog 5승), 07/0709 ⑥(18/20 vs 11/20·결정 27), FRONTEND_지침.md(파도 계약), W1·W2-4 지침서, 결정 30(검수는 사람이 O/X만)</a:t>
            </a:r>
          </a:p>
          <a:p/>
          <a:p>
            <a:r>
              <a:t>Q: AI 코딩 도구는 얼마나 활용했나요? 그럼 팀이 직접 한 일은 뭔가요?</a:t>
            </a:r>
          </a:p>
          <a:p>
            <a:r>
              <a:t>A(상세): 저희는 AI 도구 활용을 숨기지 않습니다 — 코드 작성의 상당 부분을 Claude Code 같은 AI 에이전트와 협업했고, 그게 나흘 만에 수집부터 배포까지 관통할 수 있었던 이유 중 하나입니다. 대신 사람의 자리가 분명했습니다. 첫째, 방향 결정 — '런타임 LLM을 전부 철거한다', '이름 유사도 자동 병합은 금지한다' 같은 확정 결정 30개는 전부 해지개 사건, 지역 오염 24.6% 같은 실측을 보고 사람이 내렸습니다. 둘째, 검증 — 모든 LLM 배치는 파일럿 결과를 사람이 눈으로 검수한 뒤에 전량을 돌렸고, 병합이 애매한 26건은 사람이 O/X로 전수 검수했습니다. 셋째, 평가 설계 — 무엇을 성공으로 볼지 정하는 Gold/Silver/Bronze 체계와 문항 작성이요. 도구가 빨라진 만큼 판단의 품질이 병목이 된다는 걸 체감한 프로젝트였고, 그 판단의 기록이 곧 이 발표 자료입니다.</a:t>
            </a:r>
          </a:p>
          <a:p>
            <a:r>
              <a:t>근거: HANDOFF.md 확정 결정 1~30(전부 사건·실측 유래), 데이터처리_상세 5원칙(파일럿→육안→전량), 결정 30(이름변형 26건 사람 O/X 검수), MEMORY 영역분담 기록(클로드코드/코워크 협업 구조)</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이게 RAG 맞나요? 임베딩을 번역에만 쓰면 그냥 태그 필터 검색 아닌가요?</a:t>
            </a:r>
          </a:p>
          <a:p>
            <a:r>
              <a:t>A(상세): 네, RAG의 세 요소가 전부 실재합니다. 조건 검색 분기는 질의를 임베딩해 Chroma의 카드 요약 985문서에서 후보를 소집하고(Retrieval), 프론트가 쓰는 /agent 경로에서 그 카드의 근거만 인용해 LLM이 답변을 종합합니다(Augmented Generation). 태그 필터 검색과 결정적으로 다른 점은, 사전에 없는 열린 표현도 임베딩 검색이 받아낸다는 것입니다. 저희가 바꾼 것은 유사도 점수의 '권한'입니다 — 통상 RAG에서는 0.83이라는 설명 불가능한 점수가 최종 판결인데, 저희는 유사도에게 후보 소집과 게이트 통과자들 사이의 순위까지만 맡기고, 최종 자격은 '조건어가 근거에 실재하는가'를 보는 어휘 근거 게이트가 결정합니다. 브라우즈 순위는 다수결(고유 블로거 수)이고, 태그 충족 수·다수결로 조건검색 순위까지 다시 매기는 재정렬은 W2-4 retrieve 모듈에 구현돼 시나리오 검증까지 끝났으며 서빙 배선(W5)을 기다리고 있습니다. 그래서 저희 표현으로는 'RAG가 아닌 것'이 아니라 '임베딩을 찾는 도구에서 번역하는 도구로 강등시킨 RAG'입니다.</a:t>
            </a:r>
          </a:p>
          <a:p>
            <a:r>
              <a:t>근거: server.py:541(질의 임베딩→chroma n_results=max(k*8,64)), 태그사전_임베딩.npz 실측 93앵커×3072차원, cards 컬렉션 985문서, _grounded 어휘 게이트(server.py:258-274)·순위=지역 사다리 내 점수순(server.py:586-599), 태그충족+다수결 재정렬=app/retrieve.py:243-255(구현·검증, W5 배선 대기), /agent synthesize(server.py:694-714), 덱 v2 슬라이드 8 '임베딩의 역할' 비교표(실재 확인)</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임베딩을 번역기로 쓰는 방식이 일반 유사도 검색보다 낫다는 정량 근거가 있나요?</a:t>
            </a:r>
          </a:p>
          <a:p>
            <a:r>
              <a:t>A(상세): 정직하게 말씀드리면, '번역 방식 vs 순수 유사도'를 같은 문항으로 붙인 직접 A/B 수치는 아직 없습니다. 지금 가진 정량 근거는 방향이 반대입니다 — 순수 유사도 검색 시스템을 잰 평가에서 같은 의도의 다른 표현에 결과가 흔들리는 안정성@10이 22.8%로 실측됐고, 유명 카페 해지개가 top-10에서 전멸(1위 유사도 0.328, 노이즈 수준)했으며, 키워드 스팸 데이터의 지역 정합이 18/20 대 11/20으로 갈렸습니다. 번역 레이어는 이 실측된 실패들에 대한 처방(평가지의 P2, 동의어 확장)으로 나온 설계입니다 — 표현이 달라도 같은 태그로 접히면 그 뒤의 정렬은 결정적이니까요. 관통 검증으로는 시나리오 8종이 전부 통과했지만 이건 합격/불합격 판정이지 퍼센트 지표가 아닙니다. 개편 후 골든셋 Hit@5 재측정이 로드맵에 있고 — 다만 문항셋·채점 하네스는 평가 담당 팀원의 산출물이라 저장소에는 없어 재측정은 팀 협조로 진행합니다 — 그때 전후 비교 수치로 답을 완성하겠습니다.</a:t>
            </a:r>
          </a:p>
          <a:p>
            <a:r>
              <a:t>근거: Bronze 안정성@10 22.8%(덱 v2 슬라이드 17·22, 개편 전 스냅샷), 해지개 사건(07/0709 작업 정리 ①, 1위 0.328), 동료 시드 비교 18/20 vs 11/20(_compare_seed_out.txt), eval/w234_검증.py 시나리오 8/8, 로드맵 '골든셋 Hit@5 재측정'(덱 v2 슬라이드 22 원문 확인), 평가 하네스는 저장소 부재(hit_at_k.py=스텁)</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LLM을 양끝 2회 쓰는 이유는 무엇인가요? 아예 0회면 안 되나요 — 실제로 한때 0회였다고 들었습니다.</a:t>
            </a:r>
          </a:p>
          <a:p>
            <a:r>
              <a:t>A(상세): 실제로 저희는 런타임 LLM을 전부 철거해 봤고, 그 결과 응답이 6~9초에서 1~3초로 줄면서 '이 시스템의 실체는 검색엔진'이라는 정체성이 확정됐습니다. 그 0회 파이프라인이 지금도 /search로 살아 있습니다. 그런데 0회로 운영하면서 코드가 못 하는 일이 실측됐습니다 — 결과가 부족할 때 어떤 조건을 양보해야 사용자 의도가 덜 다치는지의 판단과, 근거를 문장으로 종합하는 일입니다. 그래서 현재 /agent에는 판단(judge, 최대 2회)과 종합(synthesize, 1회)만 복귀시켰고, 검색·발췌·정렬의 주어는 여전히 코드입니다. '클럽이 많은 곳'에 승마클럽이 나온 표면 토큰 함정은 의도 구조화(질문 재작성)가 필수임을 검증한 사건인데(결정 6), 정확히 말씀드리면 그 자리는 지금 두 겹입니다 — 현재 배선에서는 어휘 근거 게이트가 코드로 그 함정을 방어하고 있고, LLM 의도 구조화(W2 router)는 구현과 시나리오 검증(8/8)까지 끝나 배선(W5)을 기다립니다. 중요한 건 폴백 설계입니다. 판단 LLM이 실패하면 '충분'으로 간주해 기존 결과를 그대로 내고, 종합 LLM이 실패하면 intro를 비워 프론트가 요약 첫 문장으로 대체합니다 — LLM은 있으면 좋아지고 없어도 안 죽는 층입니다.</a:t>
            </a:r>
          </a:p>
          <a:p>
            <a:r>
              <a:t>근거: 결정 28~30(런타임 LLM 철거, HANDOFF 7/9 밤), 응답 6~9초→1~3초 실측, 승마클럽 사건→결정 6+어휘 게이트의 코드 방어 주석(server.py:250-257 '승마클럽 사건 임베딩층 방어'), server.py:662-691(judge 최대 2회, 실패 폴백='충분')·:694-714(synthesize, 실패 시 intro=""), W2 router=구현·시나리오 8/8·배선 대기(eval/w234_검증.py), 덱 15장 슬라이드 9 '접수원과 변호사'(W2-4 정본 설계 기준, 실재 확인)</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태그 사전에 없는 롱테일 질의 — '물멍', '겨울에 따뜻한' 같은 표현은 어떻게 되나요?</a:t>
            </a:r>
          </a:p>
          <a:p>
            <a:r>
              <a:t>A(상세): 롱테일은 세 단계로 처리됩니다. 첫째 사전의 태그·동의어와 정확 매칭, 둘째 임베딩 최근접 — '석양빛'처럼 사전에 없는 표현도 노을 태그 근처에 놓이면 유사도 0.55 이상일 때 번역됩니다. 셋째, 둘 다 실패하면 원칙이 '강제 번역 금지'입니다 — '물멍'은 unresolved로 기록되고, W2-4 관통 검증 시나리오 8번에서 해석 불가 안내까지 통과를 실측했습니다(현 /search 응답에도 unresolved 필드로 실려 오고, 안내 문구의 화면 노출은 파도8 프론트 구현 대기입니다). 그리고 unresolved는 버려지지 않습니다 — 임계 미달이어도 가장 가까운 태그를 참고로 남기고 번역 내역 전부가 translation 필드에 기록됩니다. 사전을 데이터로 키우는 루프는 같은 원리로 이미 실증돼 있습니다 — 카드 태그의 사전 이탈분(tags_extra)에서 포토존이 22회 쌓여 승격된 것처럼, 미해석 질의 로그도 같은 방식의 승격 재료로 설계돼 있습니다(질의 쪽 운영 데이터는 이제 쌓는 단계입니다). '오늘의 쓰레기가 내일의 사전'이라는 루프가 롱테일 대응 메커니즘입니다.</a:t>
            </a:r>
          </a:p>
          <a:p>
            <a:r>
              <a:t>근거: app/tagtrans.py:49-99(3단 translate, THRESHOLD 0.55, nearest 참고 보존), eval/w234_검증.py 시나리오 8 '물멍'(unresolved+안내, 통과 실측 — W2-4 파이프라인), /search 응답 translation·unresolved 필드(server.py:604-607), 결정 15(이탈 태그 tags_extra 보존→포토존 22·핸드드립 11·한라산뷰 10 승격 — 카드 태그 쪽 루프), 덱 기술아키텍처 슬라이드 5(3단 게이트·석양빛→노을 0.82, 실재 확인)</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Final Intent 65.1%는 낮지 않나요?</a:t>
            </a:r>
          </a:p>
          <a:p>
            <a:r>
              <a:t>A(상세): 숫자 자체는 인정합니다. 다만 두 가지를 봐 주셨으면 합니다. 첫째, 이 평가는 merge.py 병합과 완화 사다리·번역기가 완성되기 전 시스템을 잰 스냅샷입니다 — 같은 평가지의 식별자 고유성 76.3%가 그 증거인데, 지금은 정본 카드 831장으로 병합이 끝난 상태입니다. 둘째, 65.1%를 분해하면 이야기가 달라집니다 — 대표 카페 수록률이 99.6%라 데이터 부족이 아니고, 태그 커버리지 85.7% 대 매치 59.3%의 간극은 '정답이 결과 어딘가엔 있는데 Top-5로 못 올라온다'는 재정렬 병목을 가리킵니다. 유형 분해로는 완전 실패가 18%였고, 20%(10문항)는 오히려 기대 목록 밖의 새 적합 후보를 찾은 경우였습니다. 평가가 처방(P0·P1)을 알려줬고 — P0 폐업 차단과 P1의 place_id 병합은 서빙에 반영 완료, P1의 태그 기반 재정렬은 retrieve 모듈로 구현·시나리오 검증까지 끝나 배선(W5) 대기 — 개선 후 수치는 아직 재측정 전이라는 것까지 정직하게 말씀드립니다.</a:t>
            </a:r>
          </a:p>
          <a:p>
            <a:r>
              <a:t>근거: 덱 v2 슬라이드 16(65.1%, 99.6%, 85.7% vs 59.3%, 유형 분해 완전실패 18%·새 후보 10문항=20% — 원문 확인)·슬라이드 22(측정 시점=merge.py 미완·고유성 76.3%), cards.json 831장 실측, matched 코드 조립(server.py:276-295)·하드배제·폐업 강등=서빙 반영분, 태그 재정렬=app/retrieve.py:243-255(구현·검증, 미배선)</a:t>
            </a:r>
          </a:p>
          <a:p/>
          <a:p>
            <a:r>
              <a:t>Q: 표현 변형 안정성 22.8%의 원인은 무엇이고 대책은 뭔가요?</a:t>
            </a:r>
          </a:p>
          <a:p>
            <a:r>
              <a:t>A(상세): 22.8%는 같은 의도를 표현만 바꿔 물었을 때 top-10이 유지되는 비율(표현 변형 안정성@10)인데, 측정 시점의 시스템이 임베딩 유사도 중심 검색이었던 게 원인으로 진단됐습니다. 임베딩 공간에서 '오션뷰', '바다 보이는', '해변 앞'은 서로 다른 좌표라서 표면 표현이 바뀌면 후보 순위가 통째로 흔들립니다. 저희 대책은 검색을 더 잘하는 게 아니라 문제를 앞 단계로 옮기는 것입니다 — 표현 변형을 태그 번역기가 흡수해서(사전 태그 23종+동의어 70개의 정확 매칭, 그리고 그 93개 표현을 앵커로 한 임베딩 최근접) 어떤 표현이든 같은 태그로 수렴시키면, 그 뒤의 필터·게이트는 결정적 코드라 입력이 같으면 출력이 같습니다. 이것이 평가지의 P2 처방('오션뷰=바다 보이는=해변 앞' 동의어 묶음을 검색 전 확장)이고, 번역 레이어는 이미 서빙 중입니다. 다만 정직하게 두 가지를 덧붙이면 — 사전 정본 파일(태그사전v2.json)은 아직 작성 중이라 런타임은 코드 내장 사전(활성 23종)+앵커 npz로 돌고 있고, 개선 후 안정성을 재측정한 수치는 아직 없어 골든셋 재측정 때 함께 잴 계획입니다.</a:t>
            </a:r>
          </a:p>
          <a:p>
            <a:r>
              <a:t>근거: Bronze 안정성@10 22.8%(덱 v2 슬라이드 17·22), P2 처방 원문 '오션뷰=바다 보이는=해변 앞 동의어 묶음을 검색 전 단계에서 확장'(슬라이드 17 확인), app/tagtrans.py 3단 번역(THRESHOLD 0.55), 앵커 93개=태그 23+동의어 70 실측(app/tagdict.py 픽스처, 태그당 동의어 1~7개 — W1 설계 기준은 3~6개), 태그사전v2.json 파일 부재→내장 픽스처 서빙(tagdict.py:104-106), /search=결정적 파이프라인(server.py:502-630)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인용 검증이 '존재 증명'일 뿐 '맥락 증명'이 아니지 않나요? '조용하지 않아요'에서 '조용'이 매칭되는 부정어 반전이면 어떻게 되죠?</a:t>
            </a:r>
          </a:p>
          <a:p>
            <a:r>
              <a:t>A(상세): 맞습니다. 코드의 부분문자열 대조가 보장하는 건 '지어낸 인용이 아니다'까지이고, 그 문장의 맥락이 추천 이유와 맞는지는 별개 문제입니다 — 부정어 반전은 그 한계의 정확한 예시입니다. 저희 방어는 세 겹입니다. 첫째, 발췌를 요약·의역 없이 원문 그대로 절단해 보여주기 때문에 '조용하지 않아요'라는 반전이 사용자 눈에 그대로 보입니다 — 편집이 없다는 것 자체가 반전 은폐를 막습니다. 둘째, 좋았다/아쉬웠다의 극성 판정은 텍스트 해석이 아니라 카카오 별점이라는 독립 신호에 걸었습니다 — 별점 4~5와 1~3을 따로 뽑고, LLM 극성 판정과 별점이 충돌하면 별점이 이깁니다. 셋째, 근거 극성 파일럿에서 가십·밈·동행 불평 같은 오염 4유형을 실측해 프롬프트에 반영했고, '태그는 있는데 반대 증거가 있는 카페'를 검출하는 tag_audit이 태그 품질 재평가 장치로 있습니다. 그래도 문장 단위 극성을 코드가 100% 판정하지는 못한다는 것이 현재의 정직한 한계입니다.</a:t>
            </a:r>
          </a:p>
          <a:p>
            <a:r>
              <a:t>근거: _pick_blog_quotes 원문 [:160] 무편집 절단(server.py:451-467), _pick_review_quotes 별점 4~5/1~3 분리·부정 보존(server.py:430-449), 덱 v2 슬라이드 14 '카카오 별점이 LLM 극성 판정과 충돌하면 별점이 이긴다'(원문 확인)+근거극성_지침:14(별점 우선·로그), 극성 파일럿 75건 검증 실패 0(슬라이드 14), 오염 실측 4유형=가십·밈·동행 불평 등(근거극성_지침:22), tag_audit(근거극성_지침)</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1천 곳에서 10만 곳으로 늘면 어디가 깨지나요?</a:t>
            </a:r>
          </a:p>
          <a:p>
            <a:r>
              <a:t>A(상세): 층별로 정직하게 답하겠습니다. 먼저 깨지는 곳 — 첫째, 이름 사전 1,300변형의 부분포함 매칭은 10만 곳이면 오탐이 늘어 자료구조 재설계가 필요합니다. 둘째, 이름변형을 사람이 O/X 검수하는 방식은 26건이라 가능했지 수천 건이면 병목입니다 — 다만 place_id 자동 병합(142그룹)은 그대로 스케일됩니다. 셋째, 근거 스니펫 5만여 건(51,661건)을 사전 인덱스로 통째 메모리에 올리는 방식은 단순 비례로 수 GB가 되어 DB로 옮겨야 합니다. 반대로 버티는 곳 — 벡터 검색 자체는 문서 수에 강하고, 배치 정제는 996콜에 약 $2·40분이었으니 단순 비례로도 감당 범위입니다. 지역 버킷 14종과 사전 태그 23종은 제주라서 작은 것이고, 전국이면 어휘를 늘려야 하는데 그 확장 메커니즘(tags_extra 승격 루프)은 이미 한 차례 실증됐습니다(포토존·핸드드립·한라산뷰 승격). 요컨대 층 분리 덕에 '전체가 무너진다'가 아니라 '어느 층을 교체한다'로 답할 수 있는 구조입니다.</a:t>
            </a:r>
          </a:p>
          <a:p>
            <a:r>
              <a:t>근거: ALIAS2CANON 1,300변형(len&gt;=3 부분포함, server.py:76-123), 이름변형 26건 사람 검수 vs place_id 142그룹 자동 병합(결정 30), evidence_snippets 51,661건·원본 57MB→pre-index(build_evidence_index.py), Pass1 ~40분/~$2·정제 996콜/~$2 실측, 태그 승격 루프(결정 15, 승격 3종 실증), 버킷 14종·활성 태그 23종 실측</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place_id가 없는 19%의 카페는 어떻게 처리하나요?</a:t>
            </a:r>
          </a:p>
          <a:p>
            <a:r>
              <a:t>A(상세): 먼저 숫자를 정리하면, 작업표 1,015곳 기준 821곳(81%)이 place_id를 확보했고, 정본 카드 831장 기준으로는 623장(75%)입니다. 핵심은 place_id의 직업이 검색이 아니라는 점입니다 — 검색과 태그 매칭은 텍스트와 태그로 돌기 때문에 place_id 없는 카페도 똑같이 추천됩니다. place_id가 없어서 못 받는 서비스는 두 가지인데, 첫째 자동 병합 대상에서 빠지는 것은 이름변형 26건을 사람이 O/X로만 검수해 메웠고, 둘째 좌표가 없으면 지도 마커에서 빠질 수 있지만 지역 버킷 자체는 주소 문자열에서 코드로 유도하므로 주소가 있는 한 지역 필터는 정상 작동합니다. 정직하게 한계도 덧붙이면, 주소까지 없어 버킷 미지정인 카드 148장(17.8%)은 지역을 지정한 질의에서는 빠지고 전체 완화 단계에서만 등장합니다. 덧붙이면 일부러 place_id를 무효화한 경우도 있습니다 — 새빌처럼 주차장·충전소 같은 부속시설에 잘못 매칭된 번호는 방어 규칙으로 버렸습니다. 즉 19%는 방치가 아니라 '키 없이도 돌아가는 층 + 사람 검수 보완'으로 설계된 상태입니다.</a:t>
            </a:r>
          </a:p>
          <a:p>
            <a:r>
              <a:t>근거: place_id 821/1,015=81%(HOLD 57 삼심 후), 카드 기준 623/831=75.0% 실측, 버킷 미지정 148장=17.8% 실측(cards.json)+지역 필터의 버킷 None 제외(server.py 지역 tier), 결정 24(place_id=영구 키)·결정 30(이름 유사도 자동 병합 금지, 검수는 O/X만), 지역 주소 유도 880곳(결정 22), 새빌 부속시설 방어(merge.py)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왜 Chroma, FastAPI, gpt-5-mini인가요?</a:t>
            </a:r>
          </a:p>
          <a:p>
            <a:r>
              <a:t>A(상세): 세 선택 모두 '이 규모에서 이 일을 하는 데 충분한가'를 기준으로 했고, 사후에 실측으로 확인했습니다. Chroma는 985문서 규모에서 별도 서버 없이 로컬 파일로 붙고, 컬렉션 이름 하나(cards/smoke)로 신구 임베딩을 나란히 보존해 회귀 테스트가 환경변수 한 줄입니다. FastAPI는 파이프라인과 같은 파이썬 스택이라 카드 로딩·검증 코드를 공유하고, uvicorn 하나로 프론트까지 단일 컨테이너에 담아 Render 무료 티어에 배포됩니다. gpt-5-mini는 영상 raw 1,988건 추출이 약 40분·$2, 블로그 정제 996콜이 또 $2 수준이라는 실측 비용이 근거이고, 무엇보다 저희 구조에선 LLM의 출력을 코드가 재검증(식별자 우회, 인용 원문 대조, 태그 사전 강제)하기 때문에 더 크고 비싼 모델의 이유가 없었습니다. 정직하게 덧붙이면 대안 스택끼리 벤치마크를 돌린 것은 아니고, 10만 곳 규모가 되면 Chroma부터 재평가 대상입니다.</a:t>
            </a:r>
          </a:p>
          <a:p>
            <a:r>
              <a:t>근거: requirements.txt 핀 버전(chromadb 1.5.9, fastapi 0.115.6), CHROMA_COLLECTION=cards/smoke 회귀 설계(server.py:66-67, render.yaml), Pass1 ~40분/~$2·정제 996콜/~$2 실측(07/0707·0708 작업 정리), Dockerfile 단일 컨테이너·Render free, 결정 5·15·26(코드 재검증 구조)</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골든셋을 데이터를 본 사람이 만들면 평가 오염 아닌가요?</a:t>
            </a:r>
          </a:p>
          <a:p>
            <a:r>
              <a:t>A(상세): 정확히 그 위험 때문에 출제자 분리를 계획 단계에 못 박았습니다 — 기록에 '골든셋은 카드 데이터 안 본 팀원만, 민옥·코워크 둘 다 오염됨'이라고 적혀 있습니다. 데이터를 수집하고 정제한 사람은 어떤 카페가 잘 나올지 알기 때문에 스스로를 출제에서 배제했고, Gold 50문항 출제는 그 분담대로 데이터를 만지지 않은 팀원 몫이었습니다 — 문항셋과 채점 하네스는 그 팀원의 산출물이라 저장소 밖에 있고, 원칙 준수는 계획 기록과 분담 체계로 담보됩니다. 보완 장치도 있습니다 — Silver 168문항은 사람이 아니라 데이터에서 자동 생성한 질의(카페명·지역·태그·지역+태그 4유형)라 출제자 편향이 없고, Bronze는 정답이 필요 없는 시스템 건강 지표(중복률·거절률·안정성 등)입니다. 한계도 정직하게 말씀드리면, 같은 팀 안의 분리이지 외부인 블라인드 평가는 아니고, 결과 수치가 좋게 나오길 바라는 동기까지 제거되지는 않습니다. 배포가 됐으니 다음 단계로는 실사용자 질의를 모아 평가셋을 외부화하는 것을 생각하고 있습니다.</a:t>
            </a:r>
          </a:p>
          <a:p>
            <a:r>
              <a:t>근거: 07/0708 작업 정리:144 '골든셋 25문항 — 카드 데이터 안 본 팀원만(민옥·코워크 둘 다 오염됨)', Gold 50/Silver 168/Bronze 3단 체계(덱 v2 슬라이드 15 원문 확인 — Silver '대규모 자동 평가' 4유형, Bronze '중복률·빈 결과·거절률·결정성·안정성'), 문항셋·채점기=팀원 외부 산출물(저장소 부재, data/golden/questions.json은 플레이스홀더 3문항)</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번역 임계값 0.55는 무슨 근거로 정했나요?</a:t>
            </a:r>
          </a:p>
          <a:p>
            <a:r>
              <a:t>A(상세): 0.55는 수학적으로 도출한 값이 아니라 초기 설정값이고, 코드 주석에 '실측 튜닝 대상'이라는 성격과 튜닝 기준 — 골든셋 무드형 문항 G002/G011의 태그 커버리지 변화 — 을 함께 못 박아 뒀습니다. 이 값이 왜 위험한 양쪽을 다 피해야 하는지가 더 중요한데, 주석의 표현 그대로 임계를 너무 낮추면 무관 표현이 아무 태그에나 붙는 '만능 자석'이 되고, 너무 높이면 'unresolved 남발'로 해석 못 하는 표현이 과도하게 늘어납니다. 저희는 애매하면 unresolved가 정답이라는 원칙이라 보수적인 쪽에 뒀습니다. 그리고 이 값을 판결로 못 박지 않았습니다 — 임계 미달이어도 가장 가까운 태그와 점수를 참고로 기록하고, 모든 번역 내역이 응답의 translation 필드로 공개되므로, 어떤 표현이 어느 점수에서 잘렸는지가 계속 쌓입니다. 데이터가 모이면 그걸로 재조정하는 것이 계획입니다.</a:t>
            </a:r>
          </a:p>
          <a:p>
            <a:r>
              <a:t>근거: app/tagtrans.py:36-39(THRESHOLD=0.55, 주석 원문 '초기값 0.55 — 실측 튜닝 대상', '너무 낮으면 만능 자석, 너무 높으면 unresolved 남발', '튜닝 근거: 골드셋 무드형(G002/G011) Tag Coverage'), :92-97(미달 시 nearest 참고 보존, unresolved 원칙), /search 응답 translation·unresolved 필드(server.py:604-607), W1 지침 '강제 번역 금지, 애매하면 unresolved가 정답'</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지역 라벨 오염 24.6%는 어떻게 측정한 숫자인가요?</a:t>
            </a:r>
          </a:p>
          <a:p>
            <a:r>
              <a:t>A(상세): 측정 방법은 단순하고 그래서 믿을 수 있습니다. 검색 DB에 실려 있던 지역 라벨은 초기 추출 때 LLM이 영상 텍스트를 보고 추측한 값이었는데, 네이버 지역검색으로 실제 주소가 확보된 852곳 전체에 대해 두 값을 기계적으로 대조했습니다 — 불일치가 210곳, 24.6%였습니다. 넷에 하나가 틀린 셈이고, 심지어 한경면은 버킷 자체가 없어 카페 14곳이 갈 곳이 없었습니다. 구체적으로는 성산 해안의 '오른'이 제주시내로, 애월의 '레이지펌프'가 제주시내로 붙어 있었습니다 — 이 위에서 지역 필터가 돌면 '성산 오션뷰' 질의에서 정답이 통째로 누락됩니다. 처방은 교정이 아니라 폐기였습니다 — LLM 추측 라벨을 전부 버리고 주소 문자열에서 코드로 버킷·세부 2단 지역을 유도해 880곳을 교정했고, '지역도 식별자다, 식별자는 LLM을 우회한다'는 원칙이 여기서 나왔습니다.</a:t>
            </a:r>
          </a:p>
          <a:p>
            <a:r>
              <a:t>근거: 07/0709 작업 정리 ②(852곳 전수 대조, 불일치 210=24.6%, 한경 14곳, 오른·레이지펌프 사례), 결정 22(지역=식별자, 주소 유도 2단), 880곳 교정, region_bucket/region_fine 필드(server.py 카드 응답)</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폐업 정보가 틀리면 — 멀쩡히 영업 중인 가게를 폐업 처리했다면 — 책임은 어떻게 되나요?</a:t>
            </a:r>
          </a:p>
          <a:p>
            <a:r>
              <a:t>A(상세): 먼저 구조부터 말씀드리면, 폐업 처리는 삭제가 아니라 강등입니다 — 검색과 브라우즈에서만 빠지고, 이름으로 조회하면 폐업 안내가 붙은 카드가 그대로 나옵니다. 이 설계의 원래 목적은 '지우면 사용자가 모르고 찾아간다'였지만, 오판 시에도 똑같이 작동합니다 — 잘못 폐업 처리된 가게가 시스템에서 사라지는 게 아니라 보이는 상태로 남아서, 발견되고 정정될 수 있습니다. 판정도 보수적입니다 — 블로그에서 자동 검출된 단서 11곳에, 사람 제보 1곳(애월빵공장)도 카카오 매칭 실패와 교차 확인한 뒤에야 포함해 총 12장만 강등했고, 신호가 애매한 곳(아베베비킬라·트라인커피)은 강등하지 않고 확인 권장으로 남겼습니다. 오판이 확인되면 절차는 카드를 고치는 게 아니라 배치를 다시 돌려 카드를 다시 굽는 것입니다. 다만 법적 책임이나 업주 이의 절차는 해커톤 범위에서 논의된 바 없고, 실서비스로 간다면 폐업 표시의 근거 고지와 정정 채널이 반드시 필요하다는 점을 한계로 인정합니다.</a:t>
            </a:r>
          </a:p>
          <a:p>
            <a:r>
              <a:t>근거: 폐업 강등 12장=closed_hint 11+애월빵공장(카카오 MISS 교차 확인, HANDOFF 7/9 밤)·cards.json closed 12 실측, 이름 조회 시 closed 카드 응답(server.py:76-123, 주석 '지우면 모르고 찾아간다'), 보류 134곳 등 사람 검수 큐·자동 판정 금지(덱 v2 슬라이드 12 원문 확인), '배치를 다시 돌려 카드를 다시 굽는다'(덱 15장 슬라이드 6 원문 확인)</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'프론트 재정렬 금지' 같은 계약을 왜 뒀나요? 프론트가 UX에 맞게 순서를 바꾸면 안 되나요?</a:t>
            </a:r>
          </a:p>
          <a:p>
            <a:r>
              <a:t>A(상세): 저희 컨셉이 신뢰이고, 신뢰의 구체 형태가 '이 카페가 왜 이 순서로 나왔는지 항상 설명 가능하다'입니다. 그 설명 — 어느 태그가 맞았고 블로거 몇 명이 언급했고 어떤 조건을 완화했는지 — 은 전부 백엔드가 정렬을 결정한 시점의 기록(matched·translation·relaxed)입니다. 프론트가 선의로라도 순서를 바꾸면 화면이 보여주는 1등과 시스템이 근거를 대는 1등이 달라지고, 그 순간 근거 표시 전체가 거짓말이 됩니다. 실제 사고 경험도 있습니다 — 프론트가 카페 이름 문자열로 자체 조인·중복 제거를 하던 시절, 정본명 교체로 조인 키가 어긋나는 문제를 겪고 place_id와 좌표를 직접 쓰는 방식으로 은퇴시켰습니다. 그래서 계약을 세 원칙으로 못 박았습니다 — 필드는 추가만(하위호환), 필드가 없으면 그리지 않는다, 백엔드가 이미 정렬해서 보내므로 프론트는 재정렬·중복 제거를 하지 않는다. 프론트는 순위의 소비자이지 생산자가 아니라는 역할 분리입니다.</a:t>
            </a:r>
          </a:p>
          <a:p>
            <a:r>
              <a:t>근거: FRONTEND_지침.md 3원칙(정본 계약 문서), 파도7(spot_name 조인 은퇴→place_id/lat/lng 직접 사용), matched 코드 조립=결정 29('근거가 판단을 만들지, 판단 뒤에 근거를 지어 붙이지 않는다'), 정렬 규칙=server.py:517-539(브라우즈 다수결)·:586-599(조건검색 게이트 후 정렬), 깔때기·완화 label 노출 설계(파도8 초안)</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'런타임 LLM 0'이라고 하셨는데 실제 웹 프론트는 LLM이 도는 /agent를 호출하지 않나요? 어느 쪽이 진짜 시스템인가요?</a:t>
            </a:r>
          </a:p>
          <a:p>
            <a:r>
              <a:t>A(상세): 좋은 지적이라 구조를 정확히 말씀드리겠습니다. 검색의 본체 — 후보 소집, 어휘 게이트, 하드 배제, 지역 완화, 순위 — 는 /search라는 LLM 0회 결정적 파이프라인이고 1~3초에 돕니다. 프론트가 호출하는 /agent는 이 /search를 내부 도구로 쓰는 얇은 판단 루프입니다 — 결과 카드를 보고 충분한지 판정하고(최대 2회), 부족하면 조건어 하나를 빼서 재검색을 시키고, 마지막에 소개 문장을 종합합니다(1회). 즉 '런타임 LLM 철거'의 정확한 의미는 LLM을 없앴다가 아니라 검색 결과를 결정하는 자리에서 뺐다는 것입니다 — 이것이 저희가 '검색엔진에 LLM을 붙인 게 아니라 LLM에게 검색 도구를 줬다'고 말하는 문장의 실체입니다. 안전장치도 그 관계를 증명합니다 — 판단 LLM이 실패하면 '충분'으로 폴백해 /search 결과가 그대로 나가고, 종합이 실패하면 소개문만 비웁니다. 시연은 /agent 경로(실측 3~13초)로 진행되며, 그 시간 차이가 곧 LLM의 자리값입니다.</a:t>
            </a:r>
          </a:p>
          <a:p>
            <a:r>
              <a:t>근거: server.py:502-630(/search LLM 0회, 주석 'LLM 층 은퇴'), :791-848(run_agent: judge 루프당 1회·최대 2루프+synthesize 1회, 실패 폴백 무해), web/index.html:697(apiSearch→GET /agent, 주석 'LLM 2~4회 실측 3~13초'), 응답 1~3초 vs 3~13초, 결정 28~30</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다수결(블로거 수) 정렬이면 결국 스타벅스 같은 대형 프랜차이즈와 핫플만 위로 오지 않나요? 숨은 카페는 어떻게 찾죠?</a:t>
            </a:r>
          </a:p>
          <a:p>
            <a:r>
              <a:t>A(상세): 데이터로 인정부터 하겠습니다 — 고유 블로거 수 상위 10에 스타벅스 더제주송당파크R점과 런던베이글뮤지엄이 191명으로 들어 있습니다. 다수결이 유명세를 반영하는 건 사실입니다. 핵심은 다수결에게 준 권한의 범위입니다. 설계 결정 8이 '인기는 적합성이 아니다'라서, 인기 신호는 조건이 없는 브라우즈('애월 카페')의 정렬과 동점 처리에만 쓰이고, 조건 검색에서는 어휘 근거 게이트가 먼저 후보를 자르기 때문에 조건이 구체적일수록 인기의 발언권이 줄어듭니다 — '조용함'은 실제 사전 태그이고(카드에는 '조용' 210곳·'조용함' 202곳), '숨은'은 사전엔 없지만 카드 태그로 50곳에 실재해 게이트의 태그 부분매칭 경로로 똑같이 잡힙니다. LLM에게는 인기 수치 입력 자체를 차단했습니다 — LLM도 큰 숫자에 홀리기 때문입니다. 그리고 횟수가 아니라 사람 수를 세는 이유가 바로 조작 방어입니다 — 한 명이 열 번 쓴 도배보다 열 명이 한 번씩 쓴 카페가 진짜라는 원칙이라, 프랜차이즈가 위에 있다면 그건 실제로 많은 사람이 다녀갔다는 정직한 신호입니다. 조건 없는 질문에 대한 최선의 기본값은 다수의 검증이라는 게 저희 판단입니다.</a:t>
            </a:r>
          </a:p>
          <a:p>
            <a:r>
              <a:t>근거: bloggers 상위 10 실측(스타벅스 송당파크R 191·런던베이글 191, cards.json), 결정 8('인기≠적합성', 동점 정렬·카피만)·결정 25(인기 수치 LLM 입력 금지, 덱 v2 슬라이드 8 '인기 수치: LLM 입력에서 차단')·결정 14(고유 블로거 수=다수결), 사전 활성 23종에 조용함 포함·숨은 미포함(app/tagdict.py 픽스처), 카드 태그 '숨은' 50장·'조용' 210장·'조용함' 202장 실측, 게이트 태그 부분매칭 경로(server.py:258-274), 브라우즈 분기 정렬(server.py:517-539), '10명이 1번씩'(덱 15장 슬라이드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S0-오프닝</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카페 인 제주 (Caffe-IN Jeju) — 모든 추천에 원문 인용을 붙이는 제주 카페 RAG 검색 서비스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이 서비스의 정체성은 한 문장이다 — 검색엔진에 LLM을 붙인 게 아니라, LLM에게 읽을 수 있는 검색 도구를 줬다.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카페 인 제주 (Caffe-IN Jeju) — </a:t>
            </a:r>
            <a:r>
              <a:rPr sz="1400" b="0" i="0">
                <a:solidFill>
                  <a:srgbClr val="202020"/>
                </a:solidFill>
                <a:latin typeface="맑은 고딕"/>
              </a:rPr>
              <a:t>'제주 안의 카페(Caffe in Jeju)'와 '카페인(Caffeine)'을 겹친 이름</a:t>
            </a:r>
          </a:p>
          <a:p>
            <a:pPr>
              <a:spcAft>
                <a:spcPts val="600"/>
              </a:spcAft>
            </a:pPr>
            <a:r>
              <a:rPr sz="1400" b="1" i="0">
                <a:solidFill>
                  <a:srgbClr val="202020"/>
                </a:solidFill>
                <a:latin typeface="맑은 고딕"/>
              </a:rPr>
              <a:t>한 문장 정의 — </a:t>
            </a:r>
            <a:r>
              <a:rPr sz="1400" b="0" i="0">
                <a:solidFill>
                  <a:srgbClr val="202020"/>
                </a:solidFill>
                <a:latin typeface="맑은 고딕"/>
              </a:rPr>
              <a:t>모든 추천에 원문 인용을 붙이는 제주 카페 RAG 검색 서비스</a:t>
            </a:r>
          </a:p>
          <a:p>
            <a:pPr>
              <a:spcAft>
                <a:spcPts val="600"/>
              </a:spcAft>
            </a:pPr>
            <a:r>
              <a:rPr sz="1400" b="1" i="0">
                <a:solidFill>
                  <a:srgbClr val="202020"/>
                </a:solidFill>
                <a:latin typeface="맑은 고딕"/>
              </a:rPr>
              <a:t>RAG(검색 증강 생성) — </a:t>
            </a:r>
            <a:r>
              <a:rPr sz="1400" b="0" i="0">
                <a:solidFill>
                  <a:srgbClr val="202020"/>
                </a:solidFill>
                <a:latin typeface="맑은 고딕"/>
              </a:rPr>
              <a:t>AI가 답을 지어내지 않도록, 먼저 자료를 검색해 그 자료를 근거로만 답하게 하는 방식 — 우리는 그 '근거'를 원문 인용으로 코드가 강제</a:t>
            </a:r>
          </a:p>
          <a:p>
            <a:pPr>
              <a:spcAft>
                <a:spcPts val="600"/>
              </a:spcAft>
            </a:pPr>
            <a:r>
              <a:rPr sz="1400" b="1" i="0">
                <a:solidFill>
                  <a:srgbClr val="202020"/>
                </a:solidFill>
                <a:latin typeface="맑은 고딕"/>
              </a:rPr>
              <a:t>정체성 — </a:t>
            </a:r>
            <a:r>
              <a:rPr sz="1400" b="0" i="0">
                <a:solidFill>
                  <a:srgbClr val="202020"/>
                </a:solidFill>
                <a:latin typeface="맑은 고딕"/>
              </a:rPr>
              <a:t>"검색엔진에 LLM을 붙인 게 아니라, LLM에게 읽을 수 있는 검색 도구를 줬다"</a:t>
            </a:r>
          </a:p>
          <a:p>
            <a:pPr>
              <a:spcAft>
                <a:spcPts val="600"/>
              </a:spcAft>
            </a:pPr>
            <a:r>
              <a:rPr sz="1400" b="0" i="0">
                <a:solidFill>
                  <a:srgbClr val="202020"/>
                </a:solidFill>
                <a:latin typeface="맑은 고딕"/>
              </a:rPr>
              <a:t>· 팀 마요선수 · AIFFEL 해커톤 최종 발표 · 2026. 07</a:t>
            </a:r>
          </a:p>
          <a:p>
            <a:pPr>
              <a:spcAft>
                <a:spcPts val="600"/>
              </a:spcAft>
            </a:pPr>
            <a:r>
              <a:rPr sz="1400" b="1" i="0">
                <a:solidFill>
                  <a:srgbClr val="202020"/>
                </a:solidFill>
                <a:latin typeface="맑은 고딕"/>
              </a:rPr>
              <a:t>스택 — </a:t>
            </a:r>
            <a:r>
              <a:rPr sz="1400" b="0" i="0">
                <a:solidFill>
                  <a:srgbClr val="202020"/>
                </a:solidFill>
                <a:latin typeface="맑은 고딕"/>
              </a:rPr>
              <a:t>gpt-5-mini · text-embedding-3-large · Chroma · FastAPI · Kakao Maps · Render 배포</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타이틀 레이아웃: 중앙에 브랜드명 'Caffe-IN Jeju / 카페 인 제주'(대형), 바로 아래 한 문장 정의 2줄('모든 추천에 원문 인용을 붙이는 / 제주 카페 RAG 검색 서비스'), 그 아래 따옴표 스타일 인용 박스로 정체성 문장("검색엔진에 LLM을 붙인 게 아니라, LLM에게 읽을 수 있는 검색 도구를 줬다"). 하단 좌측 '팀 마요선수 · AIFFEL 해커톤 · 2026.07', 하단 우측 스택 한 줄(gpt-5-mini · text-embedding-3-large · Chroma · FastAPI · Kakao Maps · Render). 배경은 배포된 실서비스 히어로 화면(제주 항공 영상 프레임) 스크린샷을 어둡게 깔아 '실제로 돌아가는 서비스'임을 암시.</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S0-오프닝</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오늘의 여정 — 30분, 여덟 정거장과 가져가실 것 3가지</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문제에서 데모까지 여덟 정거장을 지나며, 끝에 남길 교훈 세 문장을 미리 예고한다.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30분 여정 — </a:t>
            </a:r>
            <a:r>
              <a:rPr sz="1400" b="0" i="0">
                <a:solidFill>
                  <a:srgbClr val="202020"/>
                </a:solidFill>
                <a:latin typeface="맑은 고딕"/>
              </a:rPr>
              <a:t>①문제 → ②서비스 → ③아키텍처 → ④데이터 → ⑤신뢰 장치 → ⑥평가 → ⑦데모 → ⑧마무리</a:t>
            </a:r>
          </a:p>
          <a:p>
            <a:pPr>
              <a:spcAft>
                <a:spcPts val="600"/>
              </a:spcAft>
            </a:pPr>
            <a:r>
              <a:rPr sz="1400" b="0" i="0">
                <a:solidFill>
                  <a:srgbClr val="202020"/>
                </a:solidFill>
                <a:latin typeface="맑은 고딕"/>
              </a:rPr>
              <a:t>· 데모는 배포된 실서비스 라이브로 진행 (실패 시 스크린샷 폴백 준비)</a:t>
            </a:r>
          </a:p>
          <a:p>
            <a:pPr>
              <a:spcAft>
                <a:spcPts val="600"/>
              </a:spcAft>
            </a:pPr>
            <a:r>
              <a:rPr sz="1400" b="1" i="0">
                <a:solidFill>
                  <a:srgbClr val="202020"/>
                </a:solidFill>
                <a:latin typeface="맑은 고딕"/>
              </a:rPr>
              <a:t>가져가실 것 ① — </a:t>
            </a:r>
            <a:r>
              <a:rPr sz="1400" b="0" i="0">
                <a:solidFill>
                  <a:srgbClr val="202020"/>
                </a:solidFill>
                <a:latin typeface="맑은 고딕"/>
              </a:rPr>
              <a:t>판단은 LLM, 사실과 강제는 코드</a:t>
            </a:r>
          </a:p>
          <a:p>
            <a:pPr>
              <a:spcAft>
                <a:spcPts val="600"/>
              </a:spcAft>
            </a:pPr>
            <a:r>
              <a:rPr sz="1400" b="1" i="0">
                <a:solidFill>
                  <a:srgbClr val="202020"/>
                </a:solidFill>
                <a:latin typeface="맑은 고딕"/>
              </a:rPr>
              <a:t>가져가실 것 ② — </a:t>
            </a:r>
            <a:r>
              <a:rPr sz="1400" b="0" i="0">
                <a:solidFill>
                  <a:srgbClr val="202020"/>
                </a:solidFill>
                <a:latin typeface="맑은 고딕"/>
              </a:rPr>
              <a:t>층을 옮기면 독이 약이 된다 — 같은 데이터도 놓이는 층에 따라</a:t>
            </a:r>
          </a:p>
          <a:p>
            <a:pPr>
              <a:spcAft>
                <a:spcPts val="600"/>
              </a:spcAft>
            </a:pPr>
            <a:r>
              <a:rPr sz="1400" b="1" i="0">
                <a:solidFill>
                  <a:srgbClr val="202020"/>
                </a:solidFill>
                <a:latin typeface="맑은 고딕"/>
              </a:rPr>
              <a:t>가져가실 것 ③ — </a:t>
            </a:r>
            <a:r>
              <a:rPr sz="1400" b="0" i="0">
                <a:solidFill>
                  <a:srgbClr val="202020"/>
                </a:solidFill>
                <a:latin typeface="맑은 고딕"/>
              </a:rPr>
              <a:t>횟수가 아니라 사람 수를 센다 — 한 명의 열 번보다 열 명의 한 번</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상단: 가로 로드맵 도식 — 점 8개를 선으로 잇고 각 점 위에 정거장 이름(문제/서비스/아키텍처/데이터/신뢰 장치/평가/데모/마무리), '데모' 점만 강조색+'LIVE' 뱃지. 하단: '가져가실 것 3가지' 카드 3장 나란히 — ①판단은 LLM, 사실과 강제는 코드 ②층을 옮기면 독이 약 ③횟수가 아니라 사람 수. 카드는 티저이므로 문장만 크게, 부연 설명 없이.</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문제</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3.5분 · 4장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S1-문제</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2026년 7월, 제주 — 어느 런케이션의 하루</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제주 카페 검색 실패는 누구나 겪는 구체적 경험이며, 문제의 본질은 정보의 부족이 아니라 '믿을 수 있는 정보'의 부재다.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0" i="0">
                <a:solidFill>
                  <a:srgbClr val="202020"/>
                </a:solidFill>
                <a:latin typeface="맑은 고딕"/>
              </a:rPr>
              <a:t>· 3주 런케이션, 부푼 마음으로 네이버 추천 카페 검색</a:t>
            </a:r>
          </a:p>
          <a:p>
            <a:pPr>
              <a:spcAft>
                <a:spcPts val="600"/>
              </a:spcAft>
            </a:pPr>
            <a:r>
              <a:rPr sz="1400" b="1" i="0">
                <a:solidFill>
                  <a:srgbClr val="202020"/>
                </a:solidFill>
                <a:latin typeface="맑은 고딕"/>
              </a:rPr>
              <a:t>도착 — </a:t>
            </a:r>
            <a:r>
              <a:rPr sz="1400" b="0" i="0">
                <a:solidFill>
                  <a:srgbClr val="202020"/>
                </a:solidFill>
                <a:latin typeface="맑은 고딕"/>
              </a:rPr>
              <a:t>좁은 도로와 만차 주차장 — 카페 초입부터 스트레스</a:t>
            </a:r>
          </a:p>
          <a:p>
            <a:pPr>
              <a:spcAft>
                <a:spcPts val="600"/>
              </a:spcAft>
            </a:pPr>
            <a:r>
              <a:rPr sz="1400" b="1" i="0">
                <a:solidFill>
                  <a:srgbClr val="202020"/>
                </a:solidFill>
                <a:latin typeface="맑은 고딕"/>
              </a:rPr>
              <a:t>입장 — </a:t>
            </a:r>
            <a:r>
              <a:rPr sz="1400" b="0" i="0">
                <a:solidFill>
                  <a:srgbClr val="202020"/>
                </a:solidFill>
                <a:latin typeface="맑은 고딕"/>
              </a:rPr>
              <a:t>이미 만석, 웨이팅은 기본 — 겨우 받은 커피는 취향 밖</a:t>
            </a:r>
          </a:p>
          <a:p>
            <a:pPr>
              <a:spcAft>
                <a:spcPts val="600"/>
              </a:spcAft>
            </a:pPr>
            <a:r>
              <a:rPr sz="1400" b="0" i="0">
                <a:solidFill>
                  <a:srgbClr val="202020"/>
                </a:solidFill>
                <a:latin typeface="맑은 고딕"/>
              </a:rPr>
              <a:t>· 돌아 나오며 남은 단 하나의 질문 — "믿을 만한 제주 카페 정보, 어디서 어떻게 찾지?"</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4컷 스토리보드(사진 또는 일러스트): ①노트북 앞에서 설레며 카페 검색 ②좁은 도로와 '만차' 표지판 ③만석 카페 앞 웨이팅 줄과 실망한 표정 ④물음표 말풍선 "믿을 만한 정보, 어디서?". 앞 3컷은 톤다운, 마지막 컷만 강조색. 컷 아래에 한 줄 캡션.</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S1-문제</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제주 카페 검색의 3대 장벽</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광고 오염·정보 변동·채널 분산이라는 세 겹의 장벽 때문에, 저희가 모은 카페만 1,064곳인데도 믿고 고를 방법이 없다.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0" i="0">
                <a:solidFill>
                  <a:srgbClr val="202020"/>
                </a:solidFill>
                <a:latin typeface="맑은 고딕"/>
              </a:rPr>
              <a:t>· 저희가 모은 제주 카페만 1,064곳 — 카페는 많지만, 찐 맛집은 어디에?</a:t>
            </a:r>
          </a:p>
          <a:p>
            <a:pPr>
              <a:spcAft>
                <a:spcPts val="600"/>
              </a:spcAft>
            </a:pPr>
            <a:r>
              <a:rPr sz="1400" b="1" i="0">
                <a:solidFill>
                  <a:srgbClr val="202020"/>
                </a:solidFill>
                <a:latin typeface="맑은 고딕"/>
              </a:rPr>
              <a:t>① 광고 오염 — </a:t>
            </a:r>
            <a:r>
              <a:rPr sz="1400" b="0" i="0">
                <a:solidFill>
                  <a:srgbClr val="202020"/>
                </a:solidFill>
                <a:latin typeface="맑은 고딕"/>
              </a:rPr>
              <a:t>블로그 상위 노출은 협찬이 점령 — 무엇이 진짜 후기인지 구분 불가</a:t>
            </a:r>
          </a:p>
          <a:p>
            <a:pPr>
              <a:spcAft>
                <a:spcPts val="600"/>
              </a:spcAft>
            </a:pPr>
            <a:r>
              <a:rPr sz="1400" b="1" i="0">
                <a:solidFill>
                  <a:srgbClr val="202020"/>
                </a:solidFill>
                <a:latin typeface="맑은 고딕"/>
              </a:rPr>
              <a:t>② 정보 변동 — </a:t>
            </a:r>
            <a:r>
              <a:rPr sz="1400" b="0" i="0">
                <a:solidFill>
                  <a:srgbClr val="202020"/>
                </a:solidFill>
                <a:latin typeface="맑은 고딕"/>
              </a:rPr>
              <a:t>폐업·이전·이름 표기 변형이 계속됨 — 우리 데이터 실측, 같은 카페 중복 142그룹</a:t>
            </a:r>
          </a:p>
          <a:p>
            <a:pPr>
              <a:spcAft>
                <a:spcPts val="600"/>
              </a:spcAft>
            </a:pPr>
            <a:r>
              <a:rPr sz="1400" b="1" i="0">
                <a:solidFill>
                  <a:srgbClr val="202020"/>
                </a:solidFill>
                <a:latin typeface="맑은 고딕"/>
              </a:rPr>
              <a:t>③ 채널 분산 — </a:t>
            </a:r>
            <a:r>
              <a:rPr sz="1400" b="0" i="0">
                <a:solidFill>
                  <a:srgbClr val="202020"/>
                </a:solidFill>
                <a:latin typeface="맑은 고딕"/>
              </a:rPr>
              <a:t>유튜브(영상) + 카카오(평점·위치) + 네이버(후기·영업시간) — 카페 하나 믿고 가려면 세 채널을 일일이 왕복</a:t>
            </a:r>
          </a:p>
          <a:p>
            <a:pPr>
              <a:spcAft>
                <a:spcPts val="600"/>
              </a:spcAft>
            </a:pPr>
            <a:r>
              <a:rPr sz="1400" b="0" i="0">
                <a:solidFill>
                  <a:srgbClr val="202020"/>
                </a:solidFill>
                <a:latin typeface="맑은 고딕"/>
              </a:rPr>
              <a:t>· 구슬이 서 말인데, 이걸 꿰다간 여행은 대체 언제?</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상단에 '수집한 제주 카페 1,064곳' 배지. 그 아래 3열 장벽 카드: 각 카드에 아이콘(확성기/닫힌 문·바뀐 간판/세 갈래로 흩어진 채널 로고), 중앙 큰 강조 텍스트(협찬 점령 / 중복 142그룹 / 채널 3곳 왕복), 하단 한 줄 설명. 카드 하단을 가로지르는 벽돌담 그래픽으로 '장벽' 은유.</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S1-문제</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"그럼 LLM에 물어보면 되잖아?" — 통상 RAG의 세 가지 함정</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통상적인 RAG를 그대로 쓰면 설명 불가한 유사도 점수, 감정 텍스트 만능 자석, 폐업·중복 통과라는 함정에 빠진다 — 도구가 아니라 데이터와 구조의 문제다.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RAG(검색 증강 생성) — </a:t>
            </a:r>
            <a:r>
              <a:rPr sz="1400" b="0" i="0">
                <a:solidFill>
                  <a:srgbClr val="202020"/>
                </a:solidFill>
                <a:latin typeface="맑은 고딕"/>
              </a:rPr>
              <a:t>LLM(챗GPT처럼 글을 생성하는 대형 언어 모델)이 기억으로 지어내지 않도록, 먼저 문서를 '검색'해 와서 그 근거로 답을 '생성'하는 방식 — 우리 경우 카페 후기를 찾아 읽고 추천문을 쓰는 것</a:t>
            </a:r>
          </a:p>
          <a:p>
            <a:pPr>
              <a:spcAft>
                <a:spcPts val="600"/>
              </a:spcAft>
            </a:pPr>
            <a:r>
              <a:rPr sz="1400" b="1" i="0">
                <a:solidFill>
                  <a:srgbClr val="202020"/>
                </a:solidFill>
                <a:latin typeface="맑은 고딕"/>
              </a:rPr>
              <a:t>통상 RAG의 구조 — </a:t>
            </a:r>
            <a:r>
              <a:rPr sz="1400" b="0" i="0">
                <a:solidFill>
                  <a:srgbClr val="202020"/>
                </a:solidFill>
                <a:latin typeface="맑은 고딕"/>
              </a:rPr>
              <a:t>문서 전체를 임베딩(문장을 숫자 좌표로 바꿔 뜻이 비슷한 말끼리 가까이 놓는 기술)해 유사도 점수로 줄 세움</a:t>
            </a:r>
          </a:p>
          <a:p>
            <a:pPr>
              <a:spcAft>
                <a:spcPts val="600"/>
              </a:spcAft>
            </a:pPr>
            <a:r>
              <a:rPr sz="1400" b="1" i="0">
                <a:solidFill>
                  <a:srgbClr val="202020"/>
                </a:solidFill>
                <a:latin typeface="맑은 고딕"/>
              </a:rPr>
              <a:t>함정 1 — </a:t>
            </a:r>
            <a:r>
              <a:rPr sz="1400" b="0" i="0">
                <a:solidFill>
                  <a:srgbClr val="202020"/>
                </a:solidFill>
                <a:latin typeface="맑은 고딕"/>
              </a:rPr>
              <a:t>"유사도 0.83점" — 왜 이 카페가 1등인지 아무도 설명 못 한다</a:t>
            </a:r>
          </a:p>
          <a:p>
            <a:pPr>
              <a:spcAft>
                <a:spcPts val="600"/>
              </a:spcAft>
            </a:pPr>
            <a:r>
              <a:rPr sz="1400" b="1" i="0">
                <a:solidFill>
                  <a:srgbClr val="202020"/>
                </a:solidFill>
                <a:latin typeface="맑은 고딕"/>
              </a:rPr>
              <a:t>함정 2 — </a:t>
            </a:r>
            <a:r>
              <a:rPr sz="1400" b="0" i="0">
                <a:solidFill>
                  <a:srgbClr val="202020"/>
                </a:solidFill>
                <a:latin typeface="맑은 고딕"/>
              </a:rPr>
              <a:t>"너무 좋아요" 같은 감정 문장은 아무 검색어에나 걸리는 만능 자석</a:t>
            </a:r>
          </a:p>
          <a:p>
            <a:pPr>
              <a:spcAft>
                <a:spcPts val="600"/>
              </a:spcAft>
            </a:pPr>
            <a:r>
              <a:rPr sz="1400" b="1" i="0">
                <a:solidFill>
                  <a:srgbClr val="202020"/>
                </a:solidFill>
                <a:latin typeface="맑은 고딕"/>
              </a:rPr>
              <a:t>함정 3 — </a:t>
            </a:r>
            <a:r>
              <a:rPr sz="1400" b="0" i="0">
                <a:solidFill>
                  <a:srgbClr val="202020"/>
                </a:solidFill>
                <a:latin typeface="맑은 고딕"/>
              </a:rPr>
              <a:t>폐업 카페도, 표기 차이로 9조각 난 카페도 점수만 높으면 그대로 추천</a:t>
            </a:r>
          </a:p>
          <a:p>
            <a:pPr>
              <a:spcAft>
                <a:spcPts val="600"/>
              </a:spcAft>
            </a:pPr>
            <a:r>
              <a:rPr sz="1400" b="1" i="0">
                <a:solidFill>
                  <a:srgbClr val="202020"/>
                </a:solidFill>
                <a:latin typeface="맑은 고딕"/>
              </a:rPr>
              <a:t>결론 — </a:t>
            </a:r>
            <a:r>
              <a:rPr sz="1400" b="0" i="0">
                <a:solidFill>
                  <a:srgbClr val="202020"/>
                </a:solidFill>
                <a:latin typeface="맑은 고딕"/>
              </a:rPr>
              <a:t>LLM이라는 도구의 문제가 아니라, 데이터와 구조의 문제</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통상 RAG 파이프라인 도식(문서 뭉치 → 임베딩(좌표 점들) → '유사도 0.83' 점수표 → LLM 생성). 우측: 도식의 3지점에 빨간 콜아웃 3개(점수표에 '설명 불가', 임베딩 공간에 자석 아이콘 '만능 자석', 문서 뭉치에 '폐업·중복 그대로 통과'). 하단 각주 박스에 RAG·임베딩 용어 정의 2줄.</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S1-문제</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우리의 목표 세 가지 — 오늘 발표의 뼈대</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하나로 묶기·살아있는 곳만·모든 문장에 출처, 이 세 목표로 신뢰를 구호가 아니라 데이터 구조로 푼다 — 이후 발표 전체가 이 뼈대를 따라간다.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① 하나로 묶기 — </a:t>
            </a:r>
            <a:r>
              <a:rPr sz="1400" b="0" i="0">
                <a:solidFill>
                  <a:srgbClr val="202020"/>
                </a:solidFill>
                <a:latin typeface="맑은 고딕"/>
              </a:rPr>
              <a:t>표기가 달라도 같은 카페는 카드 한 장으로 (중복 해소)</a:t>
            </a:r>
          </a:p>
          <a:p>
            <a:pPr>
              <a:spcAft>
                <a:spcPts val="600"/>
              </a:spcAft>
            </a:pPr>
            <a:r>
              <a:rPr sz="1400" b="1" i="0">
                <a:solidFill>
                  <a:srgbClr val="202020"/>
                </a:solidFill>
                <a:latin typeface="맑은 고딕"/>
              </a:rPr>
              <a:t>② 살아있는 곳만 — </a:t>
            </a:r>
            <a:r>
              <a:rPr sz="1400" b="0" i="0">
                <a:solidFill>
                  <a:srgbClr val="202020"/>
                </a:solidFill>
                <a:latin typeface="맑은 고딕"/>
              </a:rPr>
              <a:t>폐업·휴업은 걸러내고, 실존이 검증된 카페만 추천 (실존 검증)</a:t>
            </a:r>
          </a:p>
          <a:p>
            <a:pPr>
              <a:spcAft>
                <a:spcPts val="600"/>
              </a:spcAft>
            </a:pPr>
            <a:r>
              <a:rPr sz="1400" b="1" i="0">
                <a:solidFill>
                  <a:srgbClr val="202020"/>
                </a:solidFill>
                <a:latin typeface="맑은 고딕"/>
              </a:rPr>
              <a:t>③ 모든 문장에 출처 — </a:t>
            </a:r>
            <a:r>
              <a:rPr sz="1400" b="0" i="0">
                <a:solidFill>
                  <a:srgbClr val="202020"/>
                </a:solidFill>
                <a:latin typeface="맑은 고딕"/>
              </a:rPr>
              <a:t>추천의 어느 문장을 짚어도 원문 근거로 거슬러 올라간다 (근거 인용)</a:t>
            </a:r>
          </a:p>
          <a:p>
            <a:pPr>
              <a:spcAft>
                <a:spcPts val="600"/>
              </a:spcAft>
            </a:pPr>
            <a:r>
              <a:rPr sz="1400" b="0" i="0">
                <a:solidFill>
                  <a:srgbClr val="202020"/>
                </a:solidFill>
                <a:latin typeface="맑은 고딕"/>
              </a:rPr>
              <a:t>· 신뢰를 '컨셉 문구'가 아니라 '데이터 구조'로 푼다 — 이 세 목표가 이후 데이터·검색·평가 파트의 뼈대</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3장 목표 카드(하나로 묶기 / 살아있는 곳만 / 모든 문장에 출처), 각 카드에 아이콘(합쳐지는 카드 두 장 / 초록 불 켜진 간판 / 인용 부호+링크). 각 카드에서 아래로 화살표를 내려 발표 섹션명과 매핑(데이터 정본화 → 실존 검증 → 근거 인용). 우측 하단에 '신뢰 = 데이터 구조' 도장 그래픽.</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서비스</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3.5분 · 4장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S2-서비스</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서비스 투어 — 검색창 하나로 근거까지 내려간다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사용자는 자연어 한 줄만 치면 카드·지도·원문 근거까지 한 화면에서 확인하고, 이 모든 것이 지금 접속 가능한 실제 배포본에서 돈다.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실 배포 — </a:t>
            </a:r>
            <a:r>
              <a:rPr sz="1400" b="0" i="0">
                <a:solidFill>
                  <a:srgbClr val="202020"/>
                </a:solidFill>
                <a:latin typeface="맑은 고딕"/>
              </a:rPr>
              <a:t>jeju-bh6i.onrender.com — Render 무료 티어, 지금 접속 가능한 실물 서비스</a:t>
            </a:r>
          </a:p>
          <a:p>
            <a:pPr>
              <a:spcAft>
                <a:spcPts val="600"/>
              </a:spcAft>
            </a:pPr>
            <a:r>
              <a:rPr sz="1400" b="1" i="0">
                <a:solidFill>
                  <a:srgbClr val="202020"/>
                </a:solidFill>
                <a:latin typeface="맑은 고딕"/>
              </a:rPr>
              <a:t>사용 흐름 — </a:t>
            </a:r>
            <a:r>
              <a:rPr sz="1400" b="0" i="0">
                <a:solidFill>
                  <a:srgbClr val="202020"/>
                </a:solidFill>
                <a:latin typeface="맑은 고딕"/>
              </a:rPr>
              <a:t>검색창(자연어 질문) → 결과 카드 → 카카오맵 마커 → 카드 클릭 시 지도 점프</a:t>
            </a:r>
          </a:p>
          <a:p>
            <a:pPr>
              <a:spcAft>
                <a:spcPts val="600"/>
              </a:spcAft>
            </a:pPr>
            <a:r>
              <a:rPr sz="1400" b="1" i="0">
                <a:solidFill>
                  <a:srgbClr val="202020"/>
                </a:solidFill>
                <a:latin typeface="맑은 고딕"/>
              </a:rPr>
              <a:t>근거 3렌즈 — </a:t>
            </a:r>
            <a:r>
              <a:rPr sz="1400" b="0" i="0">
                <a:solidFill>
                  <a:srgbClr val="202020"/>
                </a:solidFill>
                <a:latin typeface="맑은 고딕"/>
              </a:rPr>
              <a:t>'근거 보기' 모달 — 📝 이런 곳이에요(블로그 원문 인용) · 👍 좋아요 / 👎 별로요(카카오 별점 리뷰·쇼츠 댓글 반응을 방향별로) (+구글 사진 라이트박스)</a:t>
            </a:r>
          </a:p>
          <a:p>
            <a:pPr>
              <a:spcAft>
                <a:spcPts val="600"/>
              </a:spcAft>
            </a:pPr>
            <a:r>
              <a:rPr sz="1400" b="1" i="0">
                <a:solidFill>
                  <a:srgbClr val="202020"/>
                </a:solidFill>
                <a:latin typeface="맑은 고딕"/>
              </a:rPr>
              <a:t>배포 구조 — </a:t>
            </a:r>
            <a:r>
              <a:rPr sz="1400" b="0" i="0">
                <a:solidFill>
                  <a:srgbClr val="202020"/>
                </a:solidFill>
                <a:latin typeface="맑은 고딕"/>
              </a:rPr>
              <a:t>Docker 컨테이너 1개 — FastAPI가 API(/search·/agent·/evidence·/photos)와 정적 프론트(web/)를 함께 서빙</a:t>
            </a:r>
          </a:p>
          <a:p>
            <a:pPr>
              <a:spcAft>
                <a:spcPts val="600"/>
              </a:spcAft>
            </a:pPr>
            <a:r>
              <a:rPr sz="1400" b="1" i="0">
                <a:solidFill>
                  <a:srgbClr val="202020"/>
                </a:solidFill>
                <a:latin typeface="맑은 고딕"/>
              </a:rPr>
              <a:t>응답 속도 — </a:t>
            </a:r>
            <a:r>
              <a:rPr sz="1400" b="0" i="0">
                <a:solidFill>
                  <a:srgbClr val="202020"/>
                </a:solidFill>
                <a:latin typeface="맑은 고딕"/>
              </a:rPr>
              <a:t>검색 API 1~3초 (런타임 LLM 철거 전 6~9초 → 개선) · LLM 판단 루프(/agent) 경유 시 실측 3~13초 — 현재 배포 프론트 검색창은 /agent 호출</a:t>
            </a:r>
          </a:p>
          <a:p>
            <a:pPr>
              <a:spcAft>
                <a:spcPts val="600"/>
              </a:spcAft>
            </a:pPr>
            <a:r>
              <a:rPr sz="1400" b="1" i="0">
                <a:solidFill>
                  <a:srgbClr val="202020"/>
                </a:solidFill>
                <a:latin typeface="맑은 고딕"/>
              </a:rPr>
              <a:t>무료 티어의 정직 — </a:t>
            </a:r>
            <a:r>
              <a:rPr sz="1400" b="0" i="0">
                <a:solidFill>
                  <a:srgbClr val="202020"/>
                </a:solidFill>
                <a:latin typeface="맑은 고딕"/>
              </a:rPr>
              <a:t>15분 무활동 시 서버 슬립 — 첫 요청은 깨어나는 시간 필요</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실제 배포 화면 스크린샷 4컷을 좌→우 화살표로 연결: ①히어로+검색창('애월 노을 감성 카페' 입력 상태) ②결과 카드 리스트(배지·근거줄 보이게) ③카카오맵 마커+사진 팝업 ④근거 보기 모달(👍좋아요/👎별로요/📝블로그 3렌즈). 하단에 작은 배포 다이어그램: [브라우저] ↔ [Render Docker 컨테이너 1개: FastAPI + 정적 web/] (한 상자 안에 둘 다 그려 '한 서버' 강조). 스크린샷은 jeju-bh6i.onrender.com 실화면 수동 캡처 필요(히어로 유튜브 autoplay 탓에 자동화 캡처 무력).</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S2-서비스</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검색 3분기 — 질문의 종류마다 도구가 다르다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이름 조회는 사전이, 브라우즈는 다수결이, 조건 검색만 임베딩이 맡는다 — 층마다 직업이 다르다.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한 창구, 세 갈래 — </a:t>
            </a:r>
            <a:r>
              <a:rPr sz="1400" b="0" i="0">
                <a:solidFill>
                  <a:srgbClr val="202020"/>
                </a:solidFill>
                <a:latin typeface="맑은 고딕"/>
              </a:rPr>
              <a:t>질문 유형을 코드가 감지해 서로 다른 도구로 처리 — "층마다 직업이 다르다"</a:t>
            </a:r>
          </a:p>
          <a:p>
            <a:pPr>
              <a:spcAft>
                <a:spcPts val="600"/>
              </a:spcAft>
            </a:pPr>
            <a:r>
              <a:rPr sz="1400" b="1" i="0">
                <a:solidFill>
                  <a:srgbClr val="202020"/>
                </a:solidFill>
                <a:latin typeface="맑은 고딕"/>
              </a:rPr>
              <a:t>① 이름 조회("바다다") — </a:t>
            </a:r>
            <a:r>
              <a:rPr sz="1400" b="0" i="0">
                <a:solidFill>
                  <a:srgbClr val="202020"/>
                </a:solidFill>
                <a:latin typeface="맑은 고딕"/>
              </a:rPr>
              <a:t>이름 사전(정본 831 + 별칭 469 = 표기 변형 1,300개) 매치 → 임베딩 점수 무관 1순위 고정(📌)</a:t>
            </a:r>
          </a:p>
          <a:p>
            <a:pPr>
              <a:spcAft>
                <a:spcPts val="600"/>
              </a:spcAft>
            </a:pPr>
            <a:r>
              <a:rPr sz="1400" b="1" i="0">
                <a:solidFill>
                  <a:srgbClr val="202020"/>
                </a:solidFill>
                <a:latin typeface="맑은 고딕"/>
              </a:rPr>
              <a:t>② 브라우즈("애월 카페") — </a:t>
            </a:r>
            <a:r>
              <a:rPr sz="1400" b="0" i="0">
                <a:solidFill>
                  <a:srgbClr val="202020"/>
                </a:solidFill>
                <a:latin typeface="맑은 고딕"/>
              </a:rPr>
              <a:t>조건 알맹이 없음 → 임베딩 생략, 지역 필터 + 다수결(고유 블로거 수) 정렬, 최소 12장</a:t>
            </a:r>
          </a:p>
          <a:p>
            <a:pPr>
              <a:spcAft>
                <a:spcPts val="600"/>
              </a:spcAft>
            </a:pPr>
            <a:r>
              <a:rPr sz="1400" b="1" i="0">
                <a:solidFill>
                  <a:srgbClr val="202020"/>
                </a:solidFill>
                <a:latin typeface="맑은 고딕"/>
              </a:rPr>
              <a:t>③ 조건 검색("애월 노을 조용한 카페") — </a:t>
            </a:r>
            <a:r>
              <a:rPr sz="1400" b="0" i="0">
                <a:solidFill>
                  <a:srgbClr val="202020"/>
                </a:solidFill>
                <a:latin typeface="맑은 고딕"/>
              </a:rPr>
              <a:t>조건어→태그 번역(정확 매칭 → 임베딩 번역 유사도 0.55 이상 → 미해석) + 근거 게이트 + 하드 배제</a:t>
            </a:r>
          </a:p>
          <a:p>
            <a:pPr>
              <a:spcAft>
                <a:spcPts val="600"/>
              </a:spcAft>
            </a:pPr>
            <a:r>
              <a:rPr sz="1400" b="1" i="0">
                <a:solidFill>
                  <a:srgbClr val="202020"/>
                </a:solidFill>
                <a:latin typeface="맑은 고딕"/>
              </a:rPr>
              <a:t>임베딩 — </a:t>
            </a:r>
            <a:r>
              <a:rPr sz="1400" b="0" i="0">
                <a:solidFill>
                  <a:srgbClr val="202020"/>
                </a:solidFill>
                <a:latin typeface="맑은 고딕"/>
              </a:rPr>
              <a:t>문장을 숫자 좌표로 바꿔 뜻이 비슷한 말끼리 가까이 놓이게 하는 기술 — 여기선 후보 소집과 조건어 번역("석양빛"→노을) 두 곳에서만 일한다</a:t>
            </a:r>
          </a:p>
          <a:p>
            <a:pPr>
              <a:spcAft>
                <a:spcPts val="600"/>
              </a:spcAft>
            </a:pPr>
            <a:r>
              <a:rPr sz="1400" b="1" i="0">
                <a:solidFill>
                  <a:srgbClr val="202020"/>
                </a:solidFill>
                <a:latin typeface="맑은 고딕"/>
              </a:rPr>
              <a:t>분기의 유래 — </a:t>
            </a:r>
            <a:r>
              <a:rPr sz="1400" b="0" i="0">
                <a:solidFill>
                  <a:srgbClr val="202020"/>
                </a:solidFill>
                <a:latin typeface="맑은 고딕"/>
              </a:rPr>
              <a:t>"해지개" 사건 — 유명 카페가 임베딩 검색에서 전멸, 고유명사 조회는 임베딩의 직업이 아님을 실측</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세로 3행 분기 도식: 왼쪽 검색창 아이콘에서 세 갈래 화살표. 각 행 = 예시 질의(따옴표 말풍선) → 처리 단계 박스 체인 → 결과 한 줄. ①"바다다" → [이름 사전 1,300 변형] → 📌 1순위 고정 ②"애월 카페" → [임베딩 생략(회색 취소선 박스)] → [지역 필터] → [다수결 정렬(블로거 수)] ③"애월 노을 조용한 카페" → [태그 번역 3단: 정확→임베딩 0.55↑→미해석] → [후보 소집(임베딩)] → [근거 게이트·하드 배제] → [지역 완화 사다리]. 임베딩이 실제로 일하는 박스만 색 강조해 '임베딩은 3분기 중 1곳에서만 일한다'가 보이게.</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S2-서비스</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결과 카드 해부 — 지어낼 수 없는 이유만 싣는다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카드의 모든 요소는 코드가 조립한 검증 가능한 사실이며, 폐업조차 지우지 않고 안내한다.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정본 이름 — </a:t>
            </a:r>
            <a:r>
              <a:rPr sz="1400" b="0" i="0">
                <a:solidFill>
                  <a:srgbClr val="202020"/>
                </a:solidFill>
                <a:latin typeface="맑은 고딕"/>
              </a:rPr>
              <a:t>place_id 병합의 결과 — 표기 9조각이던 "프릳츠"가 카드 1장으로, 블로거 수도 합산(211명)</a:t>
            </a:r>
          </a:p>
          <a:p>
            <a:pPr>
              <a:spcAft>
                <a:spcPts val="600"/>
              </a:spcAft>
            </a:pPr>
            <a:r>
              <a:rPr sz="1400" b="1" i="0">
                <a:solidFill>
                  <a:srgbClr val="202020"/>
                </a:solidFill>
                <a:latin typeface="맑은 고딕"/>
              </a:rPr>
              <a:t>다수결 신호 — </a:t>
            </a:r>
            <a:r>
              <a:rPr sz="1400" b="0" i="0">
                <a:solidFill>
                  <a:srgbClr val="202020"/>
                </a:solidFill>
                <a:latin typeface="맑은 고딕"/>
              </a:rPr>
              <a:t>고유 블로거 수 — 한 명이 열 번 말한 카페보다 열 명이 한 번씩 말한 카페가 진짜</a:t>
            </a:r>
          </a:p>
          <a:p>
            <a:pPr>
              <a:spcAft>
                <a:spcPts val="600"/>
              </a:spcAft>
            </a:pPr>
            <a:r>
              <a:rPr sz="1400" b="1" i="0">
                <a:solidFill>
                  <a:srgbClr val="202020"/>
                </a:solidFill>
                <a:latin typeface="맑은 고딕"/>
              </a:rPr>
              <a:t>matched 근거줄 — </a:t>
            </a:r>
            <a:r>
              <a:rPr sz="1400" b="0" i="0">
                <a:solidFill>
                  <a:srgbClr val="202020"/>
                </a:solidFill>
                <a:latin typeface="맑은 고딕"/>
              </a:rPr>
              <a:t>"애월 ✓ · 노을 · 블로거 21명 언급" — LLM이 아니라 코드가 조립, 지어낼 수 없는 이유만 표시</a:t>
            </a:r>
          </a:p>
          <a:p>
            <a:pPr>
              <a:spcAft>
                <a:spcPts val="600"/>
              </a:spcAft>
            </a:pPr>
            <a:r>
              <a:rPr sz="1400" b="1" i="0">
                <a:solidFill>
                  <a:srgbClr val="202020"/>
                </a:solidFill>
                <a:latin typeface="맑은 고딕"/>
              </a:rPr>
              <a:t>원문 인용 — </a:t>
            </a:r>
            <a:r>
              <a:rPr sz="1400" b="0" i="0">
                <a:solidFill>
                  <a:srgbClr val="202020"/>
                </a:solidFill>
                <a:latin typeface="맑은 고딕"/>
              </a:rPr>
              <a:t>좋았던 점(👍)/아쉬운 점(👎) 나란히 — '근거 보기' 모달에서 원문 그대로 발췌, 부정·혼합 리뷰 숨김 금지 (카드에는 정량 신호만)</a:t>
            </a:r>
          </a:p>
          <a:p>
            <a:pPr>
              <a:spcAft>
                <a:spcPts val="600"/>
              </a:spcAft>
            </a:pPr>
            <a:r>
              <a:rPr sz="1400" b="1" i="0">
                <a:solidFill>
                  <a:srgbClr val="202020"/>
                </a:solidFill>
                <a:latin typeface="맑은 고딕"/>
              </a:rPr>
              <a:t>배지 — </a:t>
            </a:r>
            <a:r>
              <a:rPr sz="1400" b="0" i="0">
                <a:solidFill>
                  <a:srgbClr val="202020"/>
                </a:solidFill>
                <a:latin typeface="맑은 고딕"/>
              </a:rPr>
              <a:t>📌 이름 일치 · ⚠ "폐업한 곳이에요" — 폐업 12곳은 추천에선 제외, 이름 조회엔 폐업 안내로 응답(지우면 모르고 찾아가니까)</a:t>
            </a:r>
          </a:p>
          <a:p>
            <a:pPr>
              <a:spcAft>
                <a:spcPts val="600"/>
              </a:spcAft>
            </a:pPr>
            <a:r>
              <a:rPr sz="1400" b="1" i="0">
                <a:solidFill>
                  <a:srgbClr val="202020"/>
                </a:solidFill>
                <a:latin typeface="맑은 고딕"/>
              </a:rPr>
              <a:t>별점·여론 톤 — </a:t>
            </a:r>
            <a:r>
              <a:rPr sz="1400" b="0" i="0">
                <a:solidFill>
                  <a:srgbClr val="202020"/>
                </a:solidFill>
                <a:latin typeface="맑은 고딕"/>
              </a:rPr>
              <a:t>⭐평점+리뷰 수, 톤 색(긍정/혼합/부정) — 화제성≠만족도를 가시화</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결과 카드 실물 스크린샷 1장(예: '바다다' 카드) 중앙 확대 배치 + 요소별 지시선 콜아웃 7개: ①정본 이름 ②📌 이름 일치 배지 ③matched 근거줄('애월 ✓ · 노을 · 블로거 21명 언급') ④태그 3개 ⑤'영상 N편 · 후기 N명' ⑥⭐별점+여론 톤 색 ⑦'🔍 근거 보기' 버튼. 오른쪽에 작게 두 번째 카드: ⚠'폐업한 곳이에요' 빨간 배지가 붙은 카드(이름 조회 화면 캡처). 하단 한 줄 캡션: '모든 요소 = 코드가 조립한 검증 가능한 사실'.</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S2-서비스</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"이렇게 찾았어요" — 깔때기 공개와 정직한 실패</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검색 과정을 깔때기로 공개하도록 설계했고(트레이스 검증 완료, UI는 파도8), 0건이면 무엇을 양보했는지 라벨을 붙이거나 없다고 말한다 — 정직함까지가 기능이다.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검색 깔때기 공개(파도8 계약) — </a:t>
            </a:r>
            <a:r>
              <a:rPr sz="1400" b="0" i="0">
                <a:solidFill>
                  <a:srgbClr val="202020"/>
                </a:solidFill>
                <a:latin typeface="맑은 고딕"/>
              </a:rPr>
              <a:t>전체 831 → 애월 87 → 노을 12 → 상위 5(계약 예시 수치) — 단계별 후보 수를 사용자에게 그대로 노출하는 설계, 현재는 debug 모드로 재구성 가능</a:t>
            </a:r>
          </a:p>
          <a:p>
            <a:pPr>
              <a:spcAft>
                <a:spcPts val="600"/>
              </a:spcAft>
            </a:pPr>
            <a:r>
              <a:rPr sz="1400" b="1" i="0">
                <a:solidFill>
                  <a:srgbClr val="202020"/>
                </a:solidFill>
                <a:latin typeface="맑은 고딕"/>
              </a:rPr>
              <a:t>번역 로그 — </a:t>
            </a:r>
            <a:r>
              <a:rPr sz="1400" b="0" i="0">
                <a:solidFill>
                  <a:srgbClr val="202020"/>
                </a:solidFill>
                <a:latin typeface="맑은 고딕"/>
              </a:rPr>
              <a:t>"석양빛 → 노을" 식 해석 내역을 유사도 점수와 함께 공개(0.55 이상만 채택), 미해석(unresolved)까지 공개 — 강제 번역 금지</a:t>
            </a:r>
          </a:p>
          <a:p>
            <a:pPr>
              <a:spcAft>
                <a:spcPts val="600"/>
              </a:spcAft>
            </a:pPr>
            <a:r>
              <a:rPr sz="1400" b="1" i="0">
                <a:solidFill>
                  <a:srgbClr val="202020"/>
                </a:solidFill>
                <a:latin typeface="맑은 고딕"/>
              </a:rPr>
              <a:t>완화 라벨(실측 트레이스) — </a:t>
            </a:r>
            <a:r>
              <a:rPr sz="1400" b="0" i="0">
                <a:solidFill>
                  <a:srgbClr val="202020"/>
                </a:solidFill>
                <a:latin typeface="맑은 고딕"/>
              </a:rPr>
              <a:t>"우도 산방산뷰 카페" 0건 → "산방산뷰 조건을 빼고 찾았어요" 라벨 달고 우도 후보 26곳 복원, 상위 8곳 제시</a:t>
            </a:r>
          </a:p>
          <a:p>
            <a:pPr>
              <a:spcAft>
                <a:spcPts val="600"/>
              </a:spcAft>
            </a:pPr>
            <a:r>
              <a:rPr sz="1400" b="1" i="0">
                <a:solidFill>
                  <a:srgbClr val="202020"/>
                </a:solidFill>
                <a:latin typeface="맑은 고딕"/>
              </a:rPr>
              <a:t>하드조건 불가침 — </a:t>
            </a:r>
            <a:r>
              <a:rPr sz="1400" b="0" i="0">
                <a:solidFill>
                  <a:srgbClr val="202020"/>
                </a:solidFill>
                <a:latin typeface="맑은 고딕"/>
              </a:rPr>
              <a:t>노키즈존 회피 같은 필수 조건은 어떤 완화 사다리에서도 안 풀림</a:t>
            </a:r>
          </a:p>
          <a:p>
            <a:pPr>
              <a:spcAft>
                <a:spcPts val="600"/>
              </a:spcAft>
            </a:pPr>
            <a:r>
              <a:rPr sz="1400" b="1" i="0">
                <a:solidFill>
                  <a:srgbClr val="202020"/>
                </a:solidFill>
                <a:latin typeface="맑은 고딕"/>
              </a:rPr>
              <a:t>정직한 0건 — </a:t>
            </a:r>
            <a:r>
              <a:rPr sz="1400" b="0" i="0">
                <a:solidFill>
                  <a:srgbClr val="202020"/>
                </a:solidFill>
                <a:latin typeface="맑은 고딕"/>
              </a:rPr>
              <a:t>사다리 끝까지 없으면 "못 찾았어요"가 에러가 아닌 정상 응답(honest_zero) — 억지로 채우지 않음</a:t>
            </a:r>
          </a:p>
          <a:p>
            <a:pPr>
              <a:spcAft>
                <a:spcPts val="600"/>
              </a:spcAft>
            </a:pPr>
            <a:r>
              <a:rPr sz="1400" b="1" i="0">
                <a:solidFill>
                  <a:srgbClr val="202020"/>
                </a:solidFill>
                <a:latin typeface="맑은 고딕"/>
              </a:rPr>
              <a:t>구현 상태 — </a:t>
            </a:r>
            <a:r>
              <a:rPr sz="1400" b="0" i="0">
                <a:solidFill>
                  <a:srgbClr val="202020"/>
                </a:solidFill>
                <a:latin typeface="맑은 고딕"/>
              </a:rPr>
              <a:t>깔때기·완화 라벨 데이터는 파이프라인에 실재(검증 시나리오 8종 트레이스 기록, server 배선은 W5 대기) — 화면 노출 UI는 다음 파도(파도8) 구현 대기</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깔때기 도식: 831 → 애월 87 → 노을 12 → 상위 5(캡션: 수치는 파도8 계약 예시), 각 단계 아래 필터명(전체 정본 카드 / 지역 필터 / 태그 매칭 / 다수결 정렬). 오른쪽에 실패 UX 목업 2컷: ①노란 완화 배너 '산방산뷰 조건을 빼고 찾았어요' + 아래 결과 카드들 ②0건 화면 '조건에 맞는 카페를 못 찾았어요' (빨간 에러 톤 금지, 차분한 안내 톤). 하단 한 줄: 번역 로그 예시 칩 '석양빛 → 노을 (유사도 0.55↑)' · '물멍 → 해석 불가'.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아키텍처</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4.0분 · 4장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S3-아키텍처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시스템 구조 — 두 개의 무대: 공장과 창구</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무겁고 실수 가능한 LLM 판단은 배치(공장)에서 끝내 사람이 검수 가능한 카드로 남기고, 런타임(창구)은 읽기만 한다 — 두 무대를 잇는 다리는 배치가 구워 둔 읽기 전용 산출물뿐이고, 그 중심이 카드 저장소다.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공장(배치 타임) — </a:t>
            </a:r>
            <a:r>
              <a:rPr sz="1400" b="0" i="0">
                <a:solidFill>
                  <a:srgbClr val="202020"/>
                </a:solidFill>
                <a:latin typeface="맑은 고딕"/>
              </a:rPr>
              <a:t>원본 수집(유튜브·블로그·카카오·댓글) → 정제 LLM(gpt-5-mini: 요약·태그·판정) → 정본화(place_id·지역·폐업) → 카드 저장소 cards.json 831장</a:t>
            </a:r>
          </a:p>
          <a:p>
            <a:pPr>
              <a:spcAft>
                <a:spcPts val="600"/>
              </a:spcAft>
            </a:pPr>
            <a:r>
              <a:rPr sz="1400" b="1" i="0">
                <a:solidFill>
                  <a:srgbClr val="202020"/>
                </a:solidFill>
                <a:latin typeface="맑은 고딕"/>
              </a:rPr>
              <a:t>창구(런타임) — </a:t>
            </a:r>
            <a:r>
              <a:rPr sz="1400" b="0" i="0">
                <a:solidFill>
                  <a:srgbClr val="202020"/>
                </a:solidFill>
                <a:latin typeface="맑은 고딕"/>
              </a:rPr>
              <a:t>질문 → 코드 검색(필터·번역·정렬) → 근거 답변. FastAPI /search·/agent·/evidence·/photos</a:t>
            </a:r>
          </a:p>
          <a:p>
            <a:pPr>
              <a:spcAft>
                <a:spcPts val="600"/>
              </a:spcAft>
            </a:pPr>
            <a:r>
              <a:rPr sz="1400" b="1" i="0">
                <a:solidFill>
                  <a:srgbClr val="202020"/>
                </a:solidFill>
                <a:latin typeface="맑은 고딕"/>
              </a:rPr>
              <a:t>왜 나눴나 — </a:t>
            </a:r>
            <a:r>
              <a:rPr sz="1400" b="0" i="0">
                <a:solidFill>
                  <a:srgbClr val="202020"/>
                </a:solidFill>
                <a:latin typeface="맑은 고딕"/>
              </a:rPr>
              <a:t>요약·태그·폐업 판정 같은 무겁고 실수 가능한 LLM 판단은 전부 공장에서 종료 — 결과가 파일로 남아 사람이 눈으로 검수 가능</a:t>
            </a:r>
          </a:p>
          <a:p>
            <a:pPr>
              <a:spcAft>
                <a:spcPts val="600"/>
              </a:spcAft>
            </a:pPr>
            <a:r>
              <a:rPr sz="1400" b="1" i="0">
                <a:solidFill>
                  <a:srgbClr val="202020"/>
                </a:solidFill>
                <a:latin typeface="맑은 고딕"/>
              </a:rPr>
              <a:t>창구는 읽기만 — </a:t>
            </a:r>
            <a:r>
              <a:rPr sz="1400" b="0" i="0">
                <a:solidFill>
                  <a:srgbClr val="202020"/>
                </a:solidFill>
                <a:latin typeface="맑은 고딕"/>
              </a:rPr>
              <a:t>런타임은 원본 데이터를 다시 건드리지 않는다 — 응답 1~3초(런타임 LLM 철거 전 6~9초)</a:t>
            </a:r>
          </a:p>
          <a:p>
            <a:pPr>
              <a:spcAft>
                <a:spcPts val="600"/>
              </a:spcAft>
            </a:pPr>
            <a:r>
              <a:rPr sz="1400" b="1" i="0">
                <a:solidFill>
                  <a:srgbClr val="202020"/>
                </a:solidFill>
                <a:latin typeface="맑은 고딕"/>
              </a:rPr>
              <a:t>다리는 배치 산출물뿐 — </a:t>
            </a:r>
            <a:r>
              <a:rPr sz="1400" b="0" i="0">
                <a:solidFill>
                  <a:srgbClr val="202020"/>
                </a:solidFill>
                <a:latin typeface="맑은 고딕"/>
              </a:rPr>
              <a:t>두 무대의 연결은 배치가 구워 둔 읽기 전용 산출물 — 중심은 카드 저장소, 곁에 임베딩 색인·원문 스니펫 인덱스. 실수는 카드에서 발견되고, 수정도 카드를 다시 구워서 한다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좌우 2단 무대 도식. 왼쪽 상자 '공장(배치)': [원본 수집: 유튜브·블로그·카카오·댓글] → [정제 LLM gpt-5-mini] → [정본화: place_id·지역·폐업] 가로 화살표 체인. 오른쪽 상자 '창구(런타임)': [질문] → [코드 검색: 필터·번역·정렬] → [근거 답변]. 가운데에 [카드 저장소 cards.json 831장] 상자를 크게 놓고 그 아래 작은 상자 2개(임베딩 색인 · 원문 스니펫 인덱스 — '전부 배치 산출물' 라벨), 양쪽 화살표가 이 배치 산출물 묶음에서만 만나게 — 다리 아이콘과 '다리는 배치 산출물뿐' 캡션. 창구 쪽에 '읽기 전용 · 1~3초' 배지.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S3-아키텍처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재료 — 성격이 다른 네 개의 데이터, 각자의 비교우위</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매체마다 제일 잘하는 것만 맡긴다 — 유튜브는 발견, 블로그는 정보와 다수결, 카카오맵은 신원과 별점 리뷰, 쇼츠 댓글은 블로그에 절대 없는 생생한 반응.</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유튜브 영상·쇼츠 1,988건 — </a:t>
            </a:r>
            <a:r>
              <a:rPr sz="1400" b="0" i="0">
                <a:solidFill>
                  <a:srgbClr val="202020"/>
                </a:solidFill>
                <a:latin typeface="맑은 고딕"/>
              </a:rPr>
              <a:t>발견·화제성 — "어떤 카페가 언급되는가". 고유 카페 1,064곳 명단의 출발점 + 근거 영상·썸네일</a:t>
            </a:r>
          </a:p>
          <a:p>
            <a:pPr>
              <a:spcAft>
                <a:spcPts val="600"/>
              </a:spcAft>
            </a:pPr>
            <a:r>
              <a:rPr sz="1400" b="1" i="0">
                <a:solidFill>
                  <a:srgbClr val="202020"/>
                </a:solidFill>
                <a:latin typeface="맑은 고딕"/>
              </a:rPr>
              <a:t>네이버 블로그 1,064곳×100건(크롤 실패 0) — </a:t>
            </a:r>
            <a:r>
              <a:rPr sz="1400" b="0" i="0">
                <a:solidFill>
                  <a:srgbClr val="202020"/>
                </a:solidFill>
                <a:latin typeface="맑은 고딕"/>
              </a:rPr>
              <a:t>정보·다수결 — "이 카페가 무엇인가". 요약·태그의 재료 + 고유 블로거 수 집계</a:t>
            </a:r>
          </a:p>
          <a:p>
            <a:pPr>
              <a:spcAft>
                <a:spcPts val="600"/>
              </a:spcAft>
            </a:pPr>
            <a:r>
              <a:rPr sz="1400" b="1" i="0">
                <a:solidFill>
                  <a:srgbClr val="202020"/>
                </a:solidFill>
                <a:latin typeface="맑은 고딕"/>
              </a:rPr>
              <a:t>카카오맵 place_id 821곳(81%)·리뷰 20,328건 — </a:t>
            </a:r>
            <a:r>
              <a:rPr sz="1400" b="0" i="0">
                <a:solidFill>
                  <a:srgbClr val="202020"/>
                </a:solidFill>
                <a:latin typeface="맑은 고딕"/>
              </a:rPr>
              <a:t>신원·별점 리뷰 — 영구 식별자로 중복 해소 + 실방문 증언</a:t>
            </a:r>
          </a:p>
          <a:p>
            <a:pPr>
              <a:spcAft>
                <a:spcPts val="600"/>
              </a:spcAft>
            </a:pPr>
            <a:r>
              <a:rPr sz="1400" b="1" i="0">
                <a:solidFill>
                  <a:srgbClr val="202020"/>
                </a:solidFill>
                <a:latin typeface="맑은 고딕"/>
              </a:rPr>
              <a:t>쇼츠 1,467편의 댓글 14,024개 — </a:t>
            </a:r>
            <a:r>
              <a:rPr sz="1400" b="0" i="0">
                <a:solidFill>
                  <a:srgbClr val="202020"/>
                </a:solidFill>
                <a:latin typeface="맑은 고딕"/>
              </a:rPr>
              <a:t>반응 — "2층 무더움", "에어컨 고장"은 블로그엔 없고 댓글에만 있다</a:t>
            </a:r>
          </a:p>
          <a:p>
            <a:pPr>
              <a:spcAft>
                <a:spcPts val="600"/>
              </a:spcAft>
            </a:pPr>
            <a:r>
              <a:rPr sz="1400" b="1" i="0">
                <a:solidFill>
                  <a:srgbClr val="202020"/>
                </a:solidFill>
                <a:latin typeface="맑은 고딕"/>
              </a:rPr>
              <a:t>원칙 — </a:t>
            </a:r>
            <a:r>
              <a:rPr sz="1400" b="0" i="0">
                <a:solidFill>
                  <a:srgbClr val="202020"/>
                </a:solidFill>
                <a:latin typeface="맑은 고딕"/>
              </a:rPr>
              <a:t>매체 비교우위 — 각 매체는 자기가 제일 잘하는 것만 맡는다. 이 역할 분담은 가정이 아니라 실측으로 확정</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4열 카드 도식. 각 열: 매체 아이콘+이름(유튜브 영상·쇼츠 / 네이버 블로그 / 카카오맵 / 쇼츠 댓글), 대표 수치(1,988건 / 1,064곳×100건 / place_id 821·리뷰 20,328 / 댓글 14,024), 역할 배지(발견·화제성 / 정보·다수결 / 신원·별점 / 반응), 대표 한 줄 인용(댓글 열에는 "2층 무더움"). 네 열 아래에서 화살표 4개가 카드 한 장 아이콘으로 합류, 캡션 '네 재료가 카드 한 장으로'.</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S3-아키텍처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카드 — 다섯 층으로 조립되는 읽기 전용 프로필</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카페 한 곳 = 카드 한 장, 신원·텍스트·태그·근거·신호 다섯 층으로 쌓이며, 런타임 내내 읽기 전용 — 카드가 틀리면 서비스가 아니라 카드를 다시 굽는다.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① 신원층 — </a:t>
            </a:r>
            <a:r>
              <a:rPr sz="1400" b="0" i="0">
                <a:solidFill>
                  <a:srgbClr val="202020"/>
                </a:solidFill>
                <a:latin typeface="맑은 고딕"/>
              </a:rPr>
              <a:t>place_id · 정본 이름 · 좌표 — "이름은 흔들리지만 식별자는 흔들리지 않는다"</a:t>
            </a:r>
          </a:p>
          <a:p>
            <a:pPr>
              <a:spcAft>
                <a:spcPts val="600"/>
              </a:spcAft>
            </a:pPr>
            <a:r>
              <a:rPr sz="1400" b="1" i="0">
                <a:solidFill>
                  <a:srgbClr val="202020"/>
                </a:solidFill>
                <a:latin typeface="맑은 고딕"/>
              </a:rPr>
              <a:t>② 텍스트층 — </a:t>
            </a:r>
            <a:r>
              <a:rPr sz="1400" b="0" i="0">
                <a:solidFill>
                  <a:srgbClr val="202020"/>
                </a:solidFill>
                <a:latin typeface="맑은 고딕"/>
              </a:rPr>
              <a:t>검색용 자연어 요약(블로그 우선) — 다섯 층 중 임베딩에 들어가는 유일한 층</a:t>
            </a:r>
          </a:p>
          <a:p>
            <a:pPr>
              <a:spcAft>
                <a:spcPts val="600"/>
              </a:spcAft>
            </a:pPr>
            <a:r>
              <a:rPr sz="1400" b="1" i="0">
                <a:solidFill>
                  <a:srgbClr val="202020"/>
                </a:solidFill>
                <a:latin typeface="맑은 고딕"/>
              </a:rPr>
              <a:t>③ 태그층 — </a:t>
            </a:r>
            <a:r>
              <a:rPr sz="1400" b="0" i="0">
                <a:solidFill>
                  <a:srgbClr val="202020"/>
                </a:solidFill>
                <a:latin typeface="맑은 고딕"/>
              </a:rPr>
              <a:t>통제 사전 태그 + 지역 코드(주소에서 코드로 유도) — 필터·매칭 담당</a:t>
            </a:r>
          </a:p>
          <a:p>
            <a:pPr>
              <a:spcAft>
                <a:spcPts val="600"/>
              </a:spcAft>
            </a:pPr>
            <a:r>
              <a:rPr sz="1400" b="1" i="0">
                <a:solidFill>
                  <a:srgbClr val="202020"/>
                </a:solidFill>
                <a:latin typeface="맑은 고딕"/>
              </a:rPr>
              <a:t>④ 근거층 — </a:t>
            </a:r>
            <a:r>
              <a:rPr sz="1400" b="0" i="0">
                <a:solidFill>
                  <a:srgbClr val="202020"/>
                </a:solidFill>
                <a:latin typeface="맑은 고딕"/>
              </a:rPr>
              <a:t>좋았던 점 / 아쉬운 점 — 출처 달린 원문 인용. 카드 곁의 원문 스니펫 인덱스(51,661건)에서 코드가 그대로 발췌. 표시 전용, 임베딩 금지</a:t>
            </a:r>
          </a:p>
          <a:p>
            <a:pPr>
              <a:spcAft>
                <a:spcPts val="600"/>
              </a:spcAft>
            </a:pPr>
            <a:r>
              <a:rPr sz="1400" b="1" i="0">
                <a:solidFill>
                  <a:srgbClr val="202020"/>
                </a:solidFill>
                <a:latin typeface="맑은 고딕"/>
              </a:rPr>
              <a:t>⑤ 신호층 — </a:t>
            </a:r>
            <a:r>
              <a:rPr sz="1400" b="0" i="0">
                <a:solidFill>
                  <a:srgbClr val="202020"/>
                </a:solidFill>
                <a:latin typeface="맑은 고딕"/>
              </a:rPr>
              <a:t>다수결(고유 블로거 수) · 반응 톤 · 별점 — 정렬 담당, "횟수가 아니라 사람 수"</a:t>
            </a:r>
          </a:p>
          <a:p>
            <a:pPr>
              <a:spcAft>
                <a:spcPts val="600"/>
              </a:spcAft>
            </a:pPr>
            <a:r>
              <a:rPr sz="1400" b="1" i="0">
                <a:solidFill>
                  <a:srgbClr val="202020"/>
                </a:solidFill>
                <a:latin typeface="맑은 고딕"/>
              </a:rPr>
              <a:t>카드의 규칙 — </a:t>
            </a:r>
            <a:r>
              <a:rPr sz="1400" b="0" i="0">
                <a:solidFill>
                  <a:srgbClr val="202020"/>
                </a:solidFill>
                <a:latin typeface="맑은 고딕"/>
              </a:rPr>
              <a:t>런타임 내내 읽기 전용 — 카드가 틀리면 런타임을 고치는 게 아니라 배치를 다시 돌려 카드를 다시 굽는다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카드 한 장을 5층 지층 단면(케이크 단면)으로: 아래부터 신원층 → 텍스트층 → 태그층 → 근거층 → 신호층, 각 층 오른쪽에 내용 한 줄. 텍스트층에서만 오른쪽 바깥 '임베딩(Chroma)' 상자로 화살표, 근거층은 카드 곁의 '원문 스니펫 인덱스 51,661건' 상자와 점선 연결, 근거층·신호층에는 자물쇠 아이콘+'임베딩 금지' 라벨. 카드 전체에 대각선 '읽기 전용(READ ONLY)' 스탬프. 하단 캡션: '카드가 틀리면 → 배치 재실행(카드를 다시 굽는다)'.</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S3-아키텍처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런타임 흐름 — LLM은 양 끝 두 번, 몸통은 전부 코드</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질문 접수부터 정렬·완화까지 검색의 몸통은 전부 읽을 수 있는 코드이고(/search는 LLM 0회), LLM은 결과를 심사하는 '판단'과 카드의 사실만 인용하는 '종합' 두 역할로만 남았다.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접수(코드) — </a:t>
            </a:r>
            <a:r>
              <a:rPr sz="1400" b="0" i="0">
                <a:solidFill>
                  <a:srgbClr val="202020"/>
                </a:solidFill>
                <a:latin typeface="맑은 고딕"/>
              </a:rPr>
              <a:t>지역 감지(지역명 22종) + 이름 사전 1,300개 변형 조회 → 3분기: 이름 조회 / 브라우즈 / 조건 검색</a:t>
            </a:r>
          </a:p>
          <a:p>
            <a:pPr>
              <a:spcAft>
                <a:spcPts val="600"/>
              </a:spcAft>
            </a:pPr>
            <a:r>
              <a:rPr sz="1400" b="1" i="0">
                <a:solidFill>
                  <a:srgbClr val="202020"/>
                </a:solidFill>
                <a:latin typeface="맑은 고딕"/>
              </a:rPr>
              <a:t>조건 번역(임베딩) — </a:t>
            </a:r>
            <a:r>
              <a:rPr sz="1400" b="0" i="0">
                <a:solidFill>
                  <a:srgbClr val="202020"/>
                </a:solidFill>
                <a:latin typeface="맑은 고딕"/>
              </a:rPr>
              <a:t>"석양빛"→노을 태그. 3단 게이트: 정확 매칭 → 임베딩 유사도 0.55 이상 → 미달이면 '해석 불가'(강제 번역 금지)</a:t>
            </a:r>
          </a:p>
          <a:p>
            <a:pPr>
              <a:spcAft>
                <a:spcPts val="600"/>
              </a:spcAft>
            </a:pPr>
            <a:r>
              <a:rPr sz="1400" b="1" i="0">
                <a:solidFill>
                  <a:srgbClr val="202020"/>
                </a:solidFill>
                <a:latin typeface="맑은 고딕"/>
              </a:rPr>
              <a:t>소집·검증(코드) — </a:t>
            </a:r>
            <a:r>
              <a:rPr sz="1400" b="0" i="0">
                <a:solidFill>
                  <a:srgbClr val="202020"/>
                </a:solidFill>
                <a:latin typeface="맑은 고딕"/>
              </a:rPr>
              <a:t>임베딩으로 후보 소집 → 어휘 근거 게이트(조건어가 카드에 실재해야 통과) → 하드 배제(노키즈존 — 어떤 완화에도 안 풀림)</a:t>
            </a:r>
          </a:p>
          <a:p>
            <a:pPr>
              <a:spcAft>
                <a:spcPts val="600"/>
              </a:spcAft>
            </a:pPr>
            <a:r>
              <a:rPr sz="1400" b="1" i="0">
                <a:solidFill>
                  <a:srgbClr val="202020"/>
                </a:solidFill>
                <a:latin typeface="맑은 고딕"/>
              </a:rPr>
              <a:t>정렬·완화(코드) — </a:t>
            </a:r>
            <a:r>
              <a:rPr sz="1400" b="0" i="0">
                <a:solidFill>
                  <a:srgbClr val="202020"/>
                </a:solidFill>
                <a:latin typeface="맑은 고딕"/>
              </a:rPr>
              <a:t>세부 지역 → 권역 → 전체의 완화 사다리, 완화 사실은 relaxed로 표시. 추천 이유(matched: 지역✓·겹친 태그·블로거 수)도 코드가 조립</a:t>
            </a:r>
          </a:p>
          <a:p>
            <a:pPr>
              <a:spcAft>
                <a:spcPts val="600"/>
              </a:spcAft>
            </a:pPr>
            <a:r>
              <a:rPr sz="1400" b="1" i="0">
                <a:solidFill>
                  <a:srgbClr val="202020"/>
                </a:solidFill>
                <a:latin typeface="맑은 고딕"/>
              </a:rPr>
              <a:t>LLM 2회(/agent 경로) — </a:t>
            </a:r>
            <a:r>
              <a:rPr sz="1400" b="0" i="0">
                <a:solidFill>
                  <a:srgbClr val="202020"/>
                </a:solidFill>
                <a:latin typeface="맑은 고딕"/>
              </a:rPr>
              <a:t>판단=결과 충분/부족 심사+뺄 조건 지목(실패 시 기존 결과 유지, 무해 폴백) · 종합=카드 사실만 인용한 안내문(변호사)</a:t>
            </a:r>
          </a:p>
          <a:p>
            <a:pPr>
              <a:spcAft>
                <a:spcPts val="600"/>
              </a:spcAft>
            </a:pPr>
            <a:r>
              <a:rPr sz="1400" b="1" i="0">
                <a:solidFill>
                  <a:srgbClr val="202020"/>
                </a:solidFill>
                <a:latin typeface="맑은 고딕"/>
              </a:rPr>
              <a:t>속도 — </a:t>
            </a:r>
            <a:r>
              <a:rPr sz="1400" b="0" i="0">
                <a:solidFill>
                  <a:srgbClr val="202020"/>
                </a:solidFill>
                <a:latin typeface="맑은 고딕"/>
              </a:rPr>
              <a:t>/search 1~3초(생성 LLM 0회) · 에이전트 경로 3~13초</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흐름도. [질문] → 회색 큰 상자 '몸통 = 코드' 안에 4단계 체인: [접수: 지역 감지·이름 사전·3분기] → [조건 번역: 임베딩 3단 게이트] → [소집·검증: 근거 게이트·하드 배제] → [정렬·완화: 지역 사다리·matched 조립] → 강조색 상자 [LLM① 판단: 충분/부족 심사] (여기서 '부족'이면 조건 하나 빼고 몸통으로 되돌아가는 루프 화살표, '최대 2회' 라벨) → 강조색 상자 [LLM② 종합: 카드 사실만 인용] → [근거 답변]. LLM 상자 2개만 색을 넣고 나머지는 무채색. 하단 캡션: '/search 1~3초 (생성 LLM 0회) · /agent 3~13초'.</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파이프라인</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5.5분 · 6장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수집 그물 — 채널이 아니라 격자로 던진다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수집은 특정 유튜버 추적이 아니라 지역×주제 키워드 격자 59개로 그물을 쳤고, 정보가 없어 보이는 데이터도 버리지 않았다 — 언급됐다는 사실 자체가 투표권이다.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키워드 격자 41+18개 — </a:t>
            </a:r>
            <a:r>
              <a:rPr sz="1400" b="0" i="0">
                <a:solidFill>
                  <a:srgbClr val="202020"/>
                </a:solidFill>
                <a:latin typeface="맑은 고딕"/>
              </a:rPr>
              <a:t>광역 5 + 지역 11×카테고리 3(=33) + 테마 3, 이후 카페 무드·성지 보강 18개 추가</a:t>
            </a:r>
          </a:p>
          <a:p>
            <a:pPr>
              <a:spcAft>
                <a:spcPts val="600"/>
              </a:spcAft>
            </a:pPr>
            <a:r>
              <a:rPr sz="1400" b="1" i="0">
                <a:solidFill>
                  <a:srgbClr val="202020"/>
                </a:solidFill>
                <a:latin typeface="맑은 고딕"/>
              </a:rPr>
              <a:t>채널 추적이 아닌 격자인 이유 — </a:t>
            </a:r>
            <a:r>
              <a:rPr sz="1400" b="0" i="0">
                <a:solidFill>
                  <a:srgbClr val="202020"/>
                </a:solidFill>
                <a:latin typeface="맑은 고딕"/>
              </a:rPr>
              <a:t>특정 유튜버를 따라가면 그 사람의 취향이 곧 모집단이 된다 — 지역×주제 조합이 제주 전역을 빠짐없이 훑는다</a:t>
            </a:r>
          </a:p>
          <a:p>
            <a:pPr>
              <a:spcAft>
                <a:spcPts val="600"/>
              </a:spcAft>
            </a:pPr>
            <a:r>
              <a:rPr sz="1400" b="0" i="0">
                <a:solidFill>
                  <a:srgbClr val="202020"/>
                </a:solidFill>
                <a:latin typeface="맑은 고딕"/>
              </a:rPr>
              <a:t>· 유튜브 raw 1,359건 → 카페 보강 후 1,988건, 전량 무손실 저장</a:t>
            </a:r>
          </a:p>
          <a:p>
            <a:pPr>
              <a:spcAft>
                <a:spcPts val="600"/>
              </a:spcAft>
            </a:pPr>
            <a:r>
              <a:rPr sz="1400" b="0" i="0">
                <a:solidFill>
                  <a:srgbClr val="202020"/>
                </a:solidFill>
                <a:latin typeface="맑은 고딕"/>
              </a:rPr>
              <a:t>· 설명란 0자 영상도 보관 — "정보 없는 데이터도 투표권은 있다"</a:t>
            </a:r>
          </a:p>
          <a:p>
            <a:pPr>
              <a:spcAft>
                <a:spcPts val="600"/>
              </a:spcAft>
            </a:pPr>
            <a:r>
              <a:rPr sz="1400" b="0" i="0">
                <a:solidFill>
                  <a:srgbClr val="202020"/>
                </a:solidFill>
                <a:latin typeface="맑은 고딕"/>
              </a:rPr>
              <a:t>· 내용이 없어도 '언급됐다'는 사실은 남는다 → 나중에 다수결(사람 수 세기) 신호의 재료</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지역 11(행)×카테고리 3(열) 격자 매트릭스 도식, 격자 위에 '광역 5 · 테마 3 · 보강 18' 추가 줄, 합계 배지 '41+18'. 우측: 저장소 아이콘으로 흘러드는 화살표와 숫자 '1,359 → 1,988건 · 무손실', 그 아래 인용구 박스 "정보 없는 데이터도 투표권은 있다".</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추출 Pass 1 — 영상 1,988건에서 카페 이름 뽑기</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gpt-5-mini 이원 트랙으로 언급 1,504건→고유 카페 1,064곳을 뽑았고, '빈 응답'과 '삼켜진 에러'라는 두 함정을 실측으로 배웠다.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gpt-5-mini 이원 트랙 — </a:t>
            </a:r>
            <a:r>
              <a:rPr sz="1400" b="0" i="0">
                <a:solidFill>
                  <a:srgbClr val="202020"/>
                </a:solidFill>
                <a:latin typeface="맑은 고딕"/>
              </a:rPr>
              <a:t>A=설명란 있는 영상에서 상호·위치 슬롯 추출 / B=설명란 빈 쇼츠는 제목·맥락으로 카페명 특정</a:t>
            </a:r>
          </a:p>
          <a:p>
            <a:pPr>
              <a:spcAft>
                <a:spcPts val="600"/>
              </a:spcAft>
            </a:pPr>
            <a:r>
              <a:rPr sz="1400" b="0" i="0">
                <a:solidFill>
                  <a:srgbClr val="202020"/>
                </a:solidFill>
                <a:latin typeface="맑은 고딕"/>
              </a:rPr>
              <a:t>· 카페 언급 1,504건 → 표기 정리·중복 제거 후 고유 카페 1,064곳 = 이후 모든 단계의 모집단</a:t>
            </a:r>
          </a:p>
          <a:p>
            <a:pPr>
              <a:spcAft>
                <a:spcPts val="600"/>
              </a:spcAft>
            </a:pPr>
            <a:r>
              <a:rPr sz="1400" b="1" i="0">
                <a:solidFill>
                  <a:srgbClr val="202020"/>
                </a:solidFill>
                <a:latin typeface="맑은 고딕"/>
              </a:rPr>
              <a:t>비용 실측 — </a:t>
            </a:r>
            <a:r>
              <a:rPr sz="1400" b="0" i="0">
                <a:solidFill>
                  <a:srgbClr val="202020"/>
                </a:solidFill>
                <a:latin typeface="맑은 고딕"/>
              </a:rPr>
              <a:t>전량 약 40분 · 약 $2 (reasoning=minimal 설정)</a:t>
            </a:r>
          </a:p>
          <a:p>
            <a:pPr>
              <a:spcAft>
                <a:spcPts val="600"/>
              </a:spcAft>
            </a:pPr>
            <a:r>
              <a:rPr sz="1400" b="1" i="0">
                <a:solidFill>
                  <a:srgbClr val="202020"/>
                </a:solidFill>
                <a:latin typeface="맑은 고딕"/>
              </a:rPr>
              <a:t>함정 1 — </a:t>
            </a:r>
            <a:r>
              <a:rPr sz="1400" b="0" i="0">
                <a:solidFill>
                  <a:srgbClr val="202020"/>
                </a:solidFill>
                <a:latin typeface="맑은 고딕"/>
              </a:rPr>
              <a:t>출력 토큰 한도가 좁으면 gpt-5-mini는 에러가 아니라 '빈 응답'을 준다 → 4,000토큰+추론 최소 설정 필수</a:t>
            </a:r>
          </a:p>
          <a:p>
            <a:pPr>
              <a:spcAft>
                <a:spcPts val="600"/>
              </a:spcAft>
            </a:pPr>
            <a:r>
              <a:rPr sz="1400" b="1" i="0">
                <a:solidFill>
                  <a:srgbClr val="202020"/>
                </a:solidFill>
                <a:latin typeface="맑은 고딕"/>
              </a:rPr>
              <a:t>함정 2 — </a:t>
            </a:r>
            <a:r>
              <a:rPr sz="1400" b="0" i="0">
                <a:solidFill>
                  <a:srgbClr val="202020"/>
                </a:solidFill>
                <a:latin typeface="맑은 고딕"/>
              </a:rPr>
              <a:t>except가 에러를 삼키면 '전멸'이 '카페 0곳인 영상'처럼 보인다 → 실패는 실패로 기록</a:t>
            </a:r>
          </a:p>
          <a:p>
            <a:pPr>
              <a:spcAft>
                <a:spcPts val="600"/>
              </a:spcAft>
            </a:pPr>
            <a:r>
              <a:rPr sz="1400" b="0" i="0">
                <a:solidFill>
                  <a:srgbClr val="202020"/>
                </a:solidFill>
                <a:latin typeface="맑은 고딕"/>
              </a:rPr>
              <a:t>· 식별자(video_id)는 LLM을 우회해 코드가 운반 — 환각 원천 차단</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흐름도: '영상 1,988건' → 분기 상자 2개(A트랙: 설명란 有 슬롯 추출 / B트랙: 쇼츠 카페명 특정) → '언급 1,504' → '고유 1,064 (모집단)'. 하단에 경고 박스 2개: ⚠빈 응답 함정(토큰 한도), ⚠except 함정(전멸=0처럼 보임). 우측 하단 작은 배지 '~40분 · ~$2'.</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네이버 보강 반전 — 정보가 없던 게 아니라, 소스를 잘못 짚었다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유튜브만으론 667곳이 정보 부족이었지만 네이버 블로그 전량 보강으로 947곳이 정보 풍부로 반전 — 매체마다 직업이 다르며, 반응 텍스트는 임베딩 금지다.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0" i="0">
                <a:solidFill>
                  <a:srgbClr val="202020"/>
                </a:solidFill>
                <a:latin typeface="맑은 고딕"/>
              </a:rPr>
              <a:t>· 유튜브만: 1,064곳 중 정보부족(low) 667곳 → 블로그 보강 후 정보풍부(high) 947곳으로 반전 (검색 가능 카페 약 400→980곳, 2.4배)</a:t>
            </a:r>
          </a:p>
          <a:p>
            <a:pPr>
              <a:spcAft>
                <a:spcPts val="600"/>
              </a:spcAft>
            </a:pPr>
            <a:r>
              <a:rPr sz="1400" b="0" i="0">
                <a:solidFill>
                  <a:srgbClr val="202020"/>
                </a:solidFill>
                <a:latin typeface="맑은 고딕"/>
              </a:rPr>
              <a:t>· 1,064곳 전량 × 블로그 100건+지역검색 5건 크롤, 실패 0 — low 카페도 블로그 글 중앙값 1,797건(high 1,784건과 동급)</a:t>
            </a:r>
          </a:p>
          <a:p>
            <a:pPr>
              <a:spcAft>
                <a:spcPts val="600"/>
              </a:spcAft>
            </a:pPr>
            <a:r>
              <a:rPr sz="1400" b="0" i="0">
                <a:solidFill>
                  <a:srgbClr val="202020"/>
                </a:solidFill>
                <a:latin typeface="맑은 고딕"/>
              </a:rPr>
              <a:t>· "정보 없는 카페는 없었다, 정보 없는 소스가 있었을 뿐" → 주 데이터셋을 유튜브에서 네이버로 교체</a:t>
            </a:r>
          </a:p>
          <a:p>
            <a:pPr>
              <a:spcAft>
                <a:spcPts val="600"/>
              </a:spcAft>
            </a:pPr>
            <a:r>
              <a:rPr sz="1400" b="1" i="0">
                <a:solidFill>
                  <a:srgbClr val="202020"/>
                </a:solidFill>
                <a:latin typeface="맑은 고딕"/>
              </a:rPr>
              <a:t>쇼츠 댓글 광맥 — </a:t>
            </a:r>
            <a:r>
              <a:rPr sz="1400" b="0" i="0">
                <a:solidFill>
                  <a:srgbClr val="202020"/>
                </a:solidFill>
                <a:latin typeface="맑은 고딕"/>
              </a:rPr>
              <a:t>쇼츠 1,467편에서 댓글 14,024개 — "2층 무더움" "에어컨 고장"은 블로그에 절대 없는 문장</a:t>
            </a:r>
          </a:p>
          <a:p>
            <a:pPr>
              <a:spcAft>
                <a:spcPts val="600"/>
              </a:spcAft>
            </a:pPr>
            <a:r>
              <a:rPr sz="1400" b="1" i="0">
                <a:solidFill>
                  <a:srgbClr val="202020"/>
                </a:solidFill>
                <a:latin typeface="맑은 고딕"/>
              </a:rPr>
              <a:t>정보/반응 이원화 — </a:t>
            </a:r>
            <a:r>
              <a:rPr sz="1400" b="0" i="0">
                <a:solidFill>
                  <a:srgbClr val="202020"/>
                </a:solidFill>
                <a:latin typeface="맑은 고딕"/>
              </a:rPr>
              <a:t>블로그=정보(임베딩 OK) / 댓글=반응(임베딩 금지) — 감정 문장은 아무 검색어에나 걸리는 '만능 자석'이 된다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before/after 막대 그래프 — 보강 전(low 667 강조) vs 보강 후(high 947 강조), 사이에 큰 반전 화살표와 '실패 0 · 1,064곳 전량' 라벨. 우측: 2층 상자 도식 — 위층 '정보층: 블로그(임베딩 O)', 아래층 '반응층: 쇼츠 댓글(임베딩 🚫, 표시·정렬만)', 아래층에 자석 아이콘+금지 표시와 캡션 '만능 자석 방지'.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실존 3중 방어 — 살아있는 카페만 남긴다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상호·유효후기·공공명부 3신호 교차로 유지 876/보류 134/제외 49를 갈랐고, 폐업 11곳 자동 검출 — 수동으로 발견한 문제를 파이프라인이 독립 재발견했다.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3신호 교차 — </a:t>
            </a:r>
            <a:r>
              <a:rPr sz="1400" b="0" i="0">
                <a:solidFill>
                  <a:srgbClr val="202020"/>
                </a:solidFill>
                <a:latin typeface="맑은 고딕"/>
              </a:rPr>
              <a:t>①상호 확인(이름이 실제 조회되는가) ②유효 후기(카페명이 실제 담긴 2024년 이후 글) ③공공 명부(카페 registry 2,863개 등재)</a:t>
            </a:r>
          </a:p>
          <a:p>
            <a:pPr>
              <a:spcAft>
                <a:spcPts val="600"/>
              </a:spcAft>
            </a:pPr>
            <a:r>
              <a:rPr sz="1400" b="1" i="0">
                <a:solidFill>
                  <a:srgbClr val="202020"/>
                </a:solidFill>
                <a:latin typeface="맑은 고딕"/>
              </a:rPr>
              <a:t>판정 결과 — </a:t>
            </a:r>
            <a:r>
              <a:rPr sz="1400" b="0" i="0">
                <a:solidFill>
                  <a:srgbClr val="202020"/>
                </a:solidFill>
                <a:latin typeface="맑은 고딕"/>
              </a:rPr>
              <a:t>유지 876 / 보류 134 / 제외 49</a:t>
            </a:r>
          </a:p>
          <a:p>
            <a:pPr>
              <a:spcAft>
                <a:spcPts val="600"/>
              </a:spcAft>
            </a:pPr>
            <a:r>
              <a:rPr sz="1400" b="0" i="0">
                <a:solidFill>
                  <a:srgbClr val="202020"/>
                </a:solidFill>
                <a:latin typeface="맑은 고딕"/>
              </a:rPr>
              <a:t>· 블로그 정제 중 폐업 단서(closed_hint) 11곳 자동 검출 — "2026-03-02 영업 종료, 부산 이전"까지 잡아냄</a:t>
            </a:r>
          </a:p>
          <a:p>
            <a:pPr>
              <a:spcAft>
                <a:spcPts val="600"/>
              </a:spcAft>
            </a:pPr>
            <a:r>
              <a:rPr sz="1400" b="1" i="0">
                <a:solidFill>
                  <a:srgbClr val="202020"/>
                </a:solidFill>
                <a:latin typeface="맑은 고딕"/>
              </a:rPr>
              <a:t>오아시스80 사례 — </a:t>
            </a:r>
            <a:r>
              <a:rPr sz="1400" b="0" i="0">
                <a:solidFill>
                  <a:srgbClr val="202020"/>
                </a:solidFill>
                <a:latin typeface="맑은 고딕"/>
              </a:rPr>
              <a:t>사람이 수동 발견한 휴업 카페를, 댓글 극성 분리가 "폐건물인 줄" 증언으로 독립 재발견 — 파이프라인의 자가 검증</a:t>
            </a:r>
          </a:p>
          <a:p>
            <a:pPr>
              <a:spcAft>
                <a:spcPts val="600"/>
              </a:spcAft>
            </a:pPr>
            <a:r>
              <a:rPr sz="1400" b="1" i="0">
                <a:solidFill>
                  <a:srgbClr val="202020"/>
                </a:solidFill>
                <a:latin typeface="맑은 고딕"/>
              </a:rPr>
              <a:t>애매한 건 자동 판정 금지 — </a:t>
            </a:r>
            <a:r>
              <a:rPr sz="1400" b="0" i="0">
                <a:solidFill>
                  <a:srgbClr val="202020"/>
                </a:solidFill>
                <a:latin typeface="맑은 고딕"/>
              </a:rPr>
              <a:t>보류 134곳·눈검수 57곳·폐업 제보 10건은 사람 검수 큐로 — 틀린 확신보다 애매하다는 표시가 낫다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방패 3개(상호 확인/유효 후기/공공 명부)가 겹치는 3중 벤다이어그램 → 아래로 3분할 가로 막대 '유지 876 | 보류 134 | 제외 49'. 우측: 오아시스80 미니 케이스 카드 — 위 '사람: 휴업(재정비) 수동 발견' → 아래 '파이프라인: 댓글 "폐건물인 줄" 독립 재발견', 두 상자를 잇는 체크 화살표. 하단 띠: '애매하면 → 사람 검수 큐 (보류 134·눈검수 57·제보 10)'.</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정본화 — 해지개 사건: 이름 대신 번호로 잇는다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표기 차이로 같은 카페가 여러 개로 취급돼 검색이 헛돌자, 이름 문자열 조인을 은퇴시키고 카카오 place_id(가게의 주민등록번호)를 정본 키로 세워 정본 카드 831장을 만들었다.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사건 — </a:t>
            </a:r>
            <a:r>
              <a:rPr sz="1400" b="0" i="0">
                <a:solidFill>
                  <a:srgbClr val="202020"/>
                </a:solidFill>
                <a:latin typeface="맑은 고딕"/>
              </a:rPr>
              <a:t>같은 카페가 '해지개 / 해지개 카페 / 해지개카페' — 표기만 달라도 시스템엔 전부 다른 카페 → 언급 신호가 조각나고 검색이 헛돈다</a:t>
            </a:r>
          </a:p>
          <a:p>
            <a:pPr>
              <a:spcAft>
                <a:spcPts val="600"/>
              </a:spcAft>
            </a:pPr>
            <a:r>
              <a:rPr sz="1400" b="1" i="0">
                <a:solidFill>
                  <a:srgbClr val="202020"/>
                </a:solidFill>
                <a:latin typeface="맑은 고딕"/>
              </a:rPr>
              <a:t>처방 — </a:t>
            </a:r>
            <a:r>
              <a:rPr sz="1400" b="0" i="0">
                <a:solidFill>
                  <a:srgbClr val="202020"/>
                </a:solidFill>
                <a:latin typeface="맑은 고딕"/>
              </a:rPr>
              <a:t>이름 문자열로 잇는 방식 자체를 은퇴 → 카카오 place_id 도입 (가게의 주민등록번호 — 이름은 흔들려도 번호는 안 흔들린다)</a:t>
            </a:r>
          </a:p>
          <a:p>
            <a:pPr>
              <a:spcAft>
                <a:spcPts val="600"/>
              </a:spcAft>
            </a:pPr>
            <a:r>
              <a:rPr sz="1400" b="1" i="0">
                <a:solidFill>
                  <a:srgbClr val="202020"/>
                </a:solidFill>
                <a:latin typeface="맑은 고딕"/>
              </a:rPr>
              <a:t>효과 1 — </a:t>
            </a:r>
            <a:r>
              <a:rPr sz="1400" b="0" i="0">
                <a:solidFill>
                  <a:srgbClr val="202020"/>
                </a:solidFill>
                <a:latin typeface="맑은 고딕"/>
              </a:rPr>
              <a:t>중복 122그룹 자동 발견(병합 시점 재실측 142그룹) — 프릳츠 9조각→카드 1장, 블로거 수는 합집합(union) 211명으로 복원</a:t>
            </a:r>
          </a:p>
          <a:p>
            <a:pPr>
              <a:spcAft>
                <a:spcPts val="600"/>
              </a:spcAft>
            </a:pPr>
            <a:r>
              <a:rPr sz="1400" b="1" i="0">
                <a:solidFill>
                  <a:srgbClr val="202020"/>
                </a:solidFill>
                <a:latin typeface="맑은 고딕"/>
              </a:rPr>
              <a:t>효과 2 — </a:t>
            </a:r>
            <a:r>
              <a:rPr sz="1400" b="0" i="0">
                <a:solidFill>
                  <a:srgbClr val="202020"/>
                </a:solidFill>
                <a:latin typeface="맑은 고딕"/>
              </a:rPr>
              <a:t>지역 라벨도 정본화 — LLM 추측 라벨 오염 24.6% 실측 → 전량 폐기, 주소→코드 유도 2단(권역/세부)으로 교체 (880곳 교정)</a:t>
            </a:r>
          </a:p>
          <a:p>
            <a:pPr>
              <a:spcAft>
                <a:spcPts val="600"/>
              </a:spcAft>
            </a:pPr>
            <a:r>
              <a:rPr sz="1400" b="1" i="0">
                <a:solidFill>
                  <a:srgbClr val="202020"/>
                </a:solidFill>
                <a:latin typeface="맑은 고딕"/>
              </a:rPr>
              <a:t>결과 — </a:t>
            </a:r>
            <a:r>
              <a:rPr sz="1400" b="0" i="0">
                <a:solidFill>
                  <a:srgbClr val="202020"/>
                </a:solidFill>
                <a:latin typeface="맑은 고딕"/>
              </a:rPr>
              <a:t>이름 1,064개 → 정본 카드 831장 — 자동 병합 + 애매한 이름변형 26건만 사람이 O/X 검수 (이름 유사도 자동 병합은 금지)</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명함 3장('해지개' '해지개 카페' '해지개카페')이 각각 떠 있다가, 'place_id = 가게의 주민등록번호' 도장 하나로 카드 1장에 겹쳐지는 병합 도식. 우측: 프릳츠 사례 — 작은 카드 9조각이 큰 카드 1장으로 모이는 화살표, 숫자 변화 '블로거 최대 조각 91명 → 합집합 211명'. 하단 띠: '이름 1,064개 → 정본 카드 831장 (중복 122그룹 자동 발견, 사람 검수는 26건 O/X만)'.</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S4-파이프라인</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태그 사전의 진화 — 초안은 감각, 확장은 데이터, 감사는 증거</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태그 사전은 사람 감각 20개로 시작해, 데이터가 신고한 구멍(tags_extra)으로 확장되고, tag_audit으로 감사받는 살아있는 어휘다 — 규칙 강제는 프롬프트가 아니라 코드가 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초안 20개(사람의 감각) — </a:t>
            </a:r>
            <a:r>
              <a:rPr sz="1400" b="0" i="0">
                <a:solidFill>
                  <a:srgbClr val="202020"/>
                </a:solidFill>
                <a:latin typeface="맑은 고딕"/>
              </a:rPr>
              <a:t>기준 = 여행자가 검색창에 칠 법한 말 + 블로그에서 근거를 찾을 수 있는 어휘 (오션뷰·노을·애견동반·노키즈존…)</a:t>
            </a:r>
          </a:p>
          <a:p>
            <a:pPr>
              <a:spcAft>
                <a:spcPts val="600"/>
              </a:spcAft>
            </a:pPr>
            <a:r>
              <a:rPr sz="1400" b="1" i="0">
                <a:solidFill>
                  <a:srgbClr val="202020"/>
                </a:solidFill>
                <a:latin typeface="맑은 고딕"/>
              </a:rPr>
              <a:t>프롬프트 구속은 샌다(실측) — </a:t>
            </a:r>
            <a:r>
              <a:rPr sz="1400" b="0" i="0">
                <a:solidFill>
                  <a:srgbClr val="202020"/>
                </a:solidFill>
                <a:latin typeface="맑은 고딕"/>
              </a:rPr>
              <a:t>"사전 20개만 쓰라" 지시에도 '밥당라떼' 같은 이탈 발생 → 강제는 코드 필터가, 이탈분은 tags_extra로 보존</a:t>
            </a:r>
          </a:p>
          <a:p>
            <a:pPr>
              <a:spcAft>
                <a:spcPts val="600"/>
              </a:spcAft>
            </a:pPr>
            <a:r>
              <a:rPr sz="1400" b="1" i="0">
                <a:solidFill>
                  <a:srgbClr val="202020"/>
                </a:solidFill>
                <a:latin typeface="맑은 고딕"/>
              </a:rPr>
              <a:t>확장(데이터의 신고) — </a:t>
            </a:r>
            <a:r>
              <a:rPr sz="1400" b="0" i="0">
                <a:solidFill>
                  <a:srgbClr val="202020"/>
                </a:solidFill>
                <a:latin typeface="맑은 고딕"/>
              </a:rPr>
              <a:t>포토존 22회·핸드드립 11회·한라산뷰 10회 축적 = 데이터가 사전의 구멍을 신고 → 승격 / 포장·정원·가성비·빈티지는 보류</a:t>
            </a:r>
          </a:p>
          <a:p>
            <a:pPr>
              <a:spcAft>
                <a:spcPts val="600"/>
              </a:spcAft>
            </a:pPr>
            <a:r>
              <a:rPr sz="1400" b="1" i="0">
                <a:solidFill>
                  <a:srgbClr val="202020"/>
                </a:solidFill>
                <a:latin typeface="맑은 고딕"/>
              </a:rPr>
              <a:t>감사 — </a:t>
            </a:r>
            <a:r>
              <a:rPr sz="1400" b="0" i="0">
                <a:solidFill>
                  <a:srgbClr val="202020"/>
                </a:solidFill>
                <a:latin typeface="맑은 고딕"/>
              </a:rPr>
              <a:t>주차편함 79% 부여(빈도 실측) = 필터 변별력 없음 → 하드 필터 보류 / tag_audit — 태그와 모순되는 원문 증거 자동 검출('감성' 태그 vs 부정 증언 3건)</a:t>
            </a:r>
          </a:p>
          <a:p>
            <a:pPr>
              <a:spcAft>
                <a:spcPts val="600"/>
              </a:spcAft>
            </a:pPr>
            <a:r>
              <a:rPr sz="1400" b="1" i="0">
                <a:solidFill>
                  <a:srgbClr val="202020"/>
                </a:solidFill>
                <a:latin typeface="맑은 고딕"/>
              </a:rPr>
              <a:t>교훈 — </a:t>
            </a:r>
            <a:r>
              <a:rPr sz="1400" b="0" i="0">
                <a:solidFill>
                  <a:srgbClr val="202020"/>
                </a:solidFill>
                <a:latin typeface="맑은 고딕"/>
              </a:rPr>
              <a:t>"규칙은 코드로, 어휘 확장은 데이터로"</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3단계 수평 타임라인: [초안 — 사람 감각 20개(태그 칩 몇 개 예시)] → [확장 — tags_extra 축적함에서 '포토존 22회' 칩이 위로 올라가는 승격 배지 ↑, 옆에 보류 칩 4개(포장·정원·가성비·빈티지)] → [감사 — '주차편함 79%' 게이지 바 + '하드 필터 보류' 스탬프]. 하단 띠: '프롬프트 구속 ✗ (밥당라떼 실측) → 코드 강제 ✓'.</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신뢰장치</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4.5분 · 5장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S5-신뢰장치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신뢰장치 ① 임베딩은 찾지 않는다, 번역한다 — 3단 게이트</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임베딩을 '찾는 도구'에서 '번역하는 도구'로 강등시켜, 관련성 판정과 추천 근거가 태그 충족+다수결이라는 셀 수 있는 신호로 정해지게 했다 — 그래서 '왜 이 카페?'에 항상 답할 수 있다.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임베딩 — </a:t>
            </a:r>
            <a:r>
              <a:rPr sz="1400" b="0" i="0">
                <a:solidFill>
                  <a:srgbClr val="202020"/>
                </a:solidFill>
                <a:latin typeface="맑은 고딕"/>
              </a:rPr>
              <a:t>문장을 숫자 좌표로 바꿔 뜻이 비슷한 말끼리 가까이 놓이게 하는 기술 — 우리는 '석양빛'이 '노을' 근처에 놓이는 성질을 번역에 쓴다</a:t>
            </a:r>
          </a:p>
          <a:p>
            <a:pPr>
              <a:spcAft>
                <a:spcPts val="600"/>
              </a:spcAft>
            </a:pPr>
            <a:r>
              <a:rPr sz="1400" b="1" i="0">
                <a:solidFill>
                  <a:srgbClr val="202020"/>
                </a:solidFill>
                <a:latin typeface="맑은 고딕"/>
              </a:rPr>
              <a:t>3단 게이트 — </a:t>
            </a:r>
            <a:r>
              <a:rPr sz="1400" b="0" i="0">
                <a:solidFill>
                  <a:srgbClr val="202020"/>
                </a:solidFill>
                <a:latin typeface="맑은 고딕"/>
              </a:rPr>
              <a:t>① 정확 매칭 "선셋"→노을 → ② 임베딩 최근접(유사도 임계 0.55 이상만 채택) "석양빛"→노을 → ③ 미해석 "물멍"→해석 불가 = 정직한 실패</a:t>
            </a:r>
          </a:p>
          <a:p>
            <a:pPr>
              <a:spcAft>
                <a:spcPts val="600"/>
              </a:spcAft>
            </a:pPr>
            <a:r>
              <a:rPr sz="1400" b="0" i="0">
                <a:solidFill>
                  <a:srgbClr val="202020"/>
                </a:solidFill>
                <a:latin typeface="맑은 고딕"/>
              </a:rPr>
              <a:t>· 번역용 임베딩 공간엔 카페 831장이 아니라 태그 사전 23종의 태그·동의어 앵커 93개만 (강제 번역 금지 — 애매하면 미해석이 정답) / 카페 문서 임베딩은 후보 소집용으로만 — 관련성 판정권은 어휘 근거 게이트(조건어가 카드 태그·요약에 실재하는가)가 가진다</a:t>
            </a:r>
          </a:p>
          <a:p>
            <a:pPr>
              <a:spcAft>
                <a:spcPts val="600"/>
              </a:spcAft>
            </a:pPr>
            <a:r>
              <a:rPr sz="1400" b="1" i="0">
                <a:solidFill>
                  <a:srgbClr val="202020"/>
                </a:solidFill>
                <a:latin typeface="맑은 고딕"/>
              </a:rPr>
              <a:t>추천 근거 신호 — </a:t>
            </a:r>
            <a:r>
              <a:rPr sz="1400" b="0" i="0">
                <a:solidFill>
                  <a:srgbClr val="202020"/>
                </a:solidFill>
                <a:latin typeface="맑은 고딕"/>
              </a:rPr>
              <a:t>지역 일치 + 태그 충족 + 다수결(고유 블로거 수)을 코드가 조립(matched) — 전부 셀 수 있는 신호라 '왜 이 카페?'를 항상 설명 가능 (태그충족→다수결 완전 결정론 순위는 새 파이프라인에 구현·시나리오 8/8 검증, 서버 배선 W5 대기)</a:t>
            </a:r>
          </a:p>
          <a:p>
            <a:pPr>
              <a:spcAft>
                <a:spcPts val="600"/>
              </a:spcAft>
            </a:pPr>
            <a:r>
              <a:rPr sz="1400" b="1" i="0">
                <a:solidFill>
                  <a:srgbClr val="202020"/>
                </a:solidFill>
                <a:latin typeface="맑은 고딕"/>
              </a:rPr>
              <a:t>통상 RAG와의 결정적 차이 — </a:t>
            </a:r>
            <a:r>
              <a:rPr sz="1400" b="0" i="0">
                <a:solidFill>
                  <a:srgbClr val="202020"/>
                </a:solidFill>
                <a:latin typeface="맑은 고딕"/>
              </a:rPr>
              <a:t>유사도 0.83으로 줄 세우기(설명 불가) vs 번역 확신도는 공개하고 추천 근거는 읽을 수 있는 신호로</a:t>
            </a:r>
          </a:p>
          <a:p>
            <a:pPr>
              <a:spcAft>
                <a:spcPts val="600"/>
              </a:spcAft>
            </a:pPr>
            <a:r>
              <a:rPr sz="1400" b="0" i="0">
                <a:solidFill>
                  <a:srgbClr val="202020"/>
                </a:solidFill>
                <a:latin typeface="맑은 고딕"/>
              </a:rPr>
              <a:t>· 미해석은 실패가 아니라 정직 — 안내·재검색의 재료 (임계 미달이어도 최근접 태그는 참고로 기록)</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좌우 2분할. 왼쪽: 세로 3단 게이트 흐름도 — [① 정확 매칭: "선셋"→노을 (1.0)] ↓ [② 임베딩 번역: "석양빛"→노을, 게이트 문턱에 '임계 0.55 이상만 채택' 표시] ↓ [③ 미해석: "물멍"→해석 불가, 회색 점선 박스]. 왼쪽 하단 주석 '번역용 임베딩 공간: 카페 831장 X, 태그·동의어 앵커 93개 O (카페 문서 임베딩은 후보 소집용만)'. 오른쪽: 6행 2열 대비표(일반 RAG | 카페 인 제주) — 임베딩의 역할: 문서 전체 임베딩→유사도 순위 | 사용자 언어→통제 어휘 번역기+후보 소집만 / 추천의 근거: 점수 0.83(설명 불가) | 지역·태그·블로거 수 코드 조립(읽을 수 있음) / 인기 수치: 그대로 반영 | LLM 입력 차단·동점 정렬용만 / 근거 표시: 요약·의역(환각 가능) | 원문 부분문자열 검증 통과분만 / 조건 불일치 시: 아무거나 상위 k개 | 정직한 실패+양보 라벨 / 조인 키: 이름 문자열 | 카카오 place_id. 하단 한 줄 캡션: '임베딩을 찾는 도구에서 번역하는 도구로 강등'.</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S5-신뢰장치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신뢰장치 ② 하드조건 불가침 — 배제는 강등이 아니라 제거</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어기면 방문 자체가 무의미한 하드조건 위반 카페는 점수를 깎는 게 아니라 후보 풀에서 제거되며, 어떤 완화에도 되살아나지 않는다.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조건의 두 급 — </a:t>
            </a:r>
            <a:r>
              <a:rPr sz="1400" b="0" i="0">
                <a:solidFill>
                  <a:srgbClr val="202020"/>
                </a:solidFill>
                <a:latin typeface="맑은 고딕"/>
              </a:rPr>
              <a:t>소프트(조용함·노을)=아쉬워도 되는 취향 / 하드(애견동반·노키즈존)=어기면 방문이 무의미한 필수 조건</a:t>
            </a:r>
          </a:p>
          <a:p>
            <a:pPr>
              <a:spcAft>
                <a:spcPts val="600"/>
              </a:spcAft>
            </a:pPr>
            <a:r>
              <a:rPr sz="1400" b="0" i="0">
                <a:solidFill>
                  <a:srgbClr val="202020"/>
                </a:solidFill>
                <a:latin typeface="맑은 고딕"/>
              </a:rPr>
              <a:t>· "아이랑 갈 카페" → 노키즈존 태그 카페를 후보 풀에서 제거 — 아이 동반 신호 11종 감지(아이·아기·가족·아이랑…)</a:t>
            </a:r>
          </a:p>
          <a:p>
            <a:pPr>
              <a:spcAft>
                <a:spcPts val="600"/>
              </a:spcAft>
            </a:pPr>
            <a:r>
              <a:rPr sz="1400" b="1" i="0">
                <a:solidFill>
                  <a:srgbClr val="202020"/>
                </a:solidFill>
                <a:latin typeface="맑은 고딕"/>
              </a:rPr>
              <a:t>점수 강등이 아니라 제거 — </a:t>
            </a:r>
            <a:r>
              <a:rPr sz="1400" b="0" i="0">
                <a:solidFill>
                  <a:srgbClr val="202020"/>
                </a:solidFill>
                <a:latin typeface="맑은 고딕"/>
              </a:rPr>
              <a:t>어떤 완화 사다리에도 안 풀리고, 지역 완화보다 우선 적용 (배제 규칙 창구는 태그 사전 exclude_map — 현재 노키즈존 1건)</a:t>
            </a:r>
          </a:p>
          <a:p>
            <a:pPr>
              <a:spcAft>
                <a:spcPts val="600"/>
              </a:spcAft>
            </a:pPr>
            <a:r>
              <a:rPr sz="1400" b="1" i="0">
                <a:solidFill>
                  <a:srgbClr val="202020"/>
                </a:solidFill>
                <a:latin typeface="맑은 고딕"/>
              </a:rPr>
              <a:t>의도 구분 — </a:t>
            </a:r>
            <a:r>
              <a:rPr sz="1400" b="0" i="0">
                <a:solidFill>
                  <a:srgbClr val="202020"/>
                </a:solidFill>
                <a:latin typeface="맑은 고딕"/>
              </a:rPr>
              <a:t>'노키즈존 피하고 싶어요'는 배제 발동 / '노키즈존 카페 찾아요'는 배제 안 함</a:t>
            </a:r>
          </a:p>
          <a:p>
            <a:pPr>
              <a:spcAft>
                <a:spcPts val="600"/>
              </a:spcAft>
            </a:pPr>
            <a:r>
              <a:rPr sz="1400" b="1" i="0">
                <a:solidFill>
                  <a:srgbClr val="202020"/>
                </a:solidFill>
                <a:latin typeface="맑은 고딕"/>
              </a:rPr>
              <a:t>유래 — </a:t>
            </a:r>
            <a:r>
              <a:rPr sz="1400" b="0" i="0">
                <a:solidFill>
                  <a:srgbClr val="202020"/>
                </a:solidFill>
                <a:latin typeface="맑은 고딕"/>
              </a:rPr>
              <a:t>개편 전 평가 스냅샷, 골드셋 G030('노키즈존 피하고 가족과') 질문에 금지 카페 Top-5 노출 100% 사건 → 프롬프트가 아닌 코드로 처방</a:t>
            </a:r>
          </a:p>
          <a:p>
            <a:pPr>
              <a:spcAft>
                <a:spcPts val="600"/>
              </a:spcAft>
            </a:pPr>
            <a:r>
              <a:rPr sz="1400" b="1" i="0">
                <a:solidFill>
                  <a:srgbClr val="202020"/>
                </a:solidFill>
                <a:latin typeface="맑은 고딕"/>
              </a:rPr>
              <a:t>원칙 — </a:t>
            </a:r>
            <a:r>
              <a:rPr sz="1400" b="0" i="0">
                <a:solidFill>
                  <a:srgbClr val="202020"/>
                </a:solidFill>
                <a:latin typeface="맑은 고딕"/>
              </a:rPr>
              <a:t>애견동반이 필수인 사람에게 '동반 불가'를 대안으로 주지 않는다 — 신뢰의 마지노선</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중앙 도식: 말풍선 쿼리 "아이랑 가기 좋은 애월 카페" 아래로 카페 카드 8장이 깔때기로 들어가는데, '노키즈존' 태그가 붙은 카드 2장이 깔때기 밖으로 빨간 X와 함께 튕겨 나가는 그림 — 화살표 주석 '강등이 아니라 제거(풀에서 퇴장)'. 오른쪽에 두 박스 대비: 자물쇠 아이콘 '하드조건(애견동반·노키즈존)' vs 슬라이더 아이콘 '소프트조건(조용함·노을)' + 작은 주석 '배제 규칙은 현재 노키즈존 1건(exclude_map)'. 하단 배지 2개: '완화 사다리 면역 — 한 번 빠지면 안 돌아옴', '유래: 골드셋 G030 Forbidden@5 100% 사건(개편 전 평가)'.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S5-신뢰장치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신뢰장치 ③ 완화 사다리 — 무엇을 양보했는지 라벨을 붙인 대안</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0건이면 억지로 채우지 않고, 확신 낮은 소프트 조건부터 라벨을 붙여 단계적으로 넓히다가, 끝까지 없으면 없다고 말한다.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0" i="0">
                <a:solidFill>
                  <a:srgbClr val="202020"/>
                </a:solidFill>
                <a:latin typeface="맑은 고딕"/>
              </a:rPr>
              <a:t>· 0건은 에러가 아니라 정상 응답 — 아무거나 상위 k개를 채워 넣는 통상 검색과의 결별</a:t>
            </a:r>
          </a:p>
          <a:p>
            <a:pPr>
              <a:spcAft>
                <a:spcPts val="600"/>
              </a:spcAft>
            </a:pPr>
            <a:r>
              <a:rPr sz="1400" b="1" i="0">
                <a:solidFill>
                  <a:srgbClr val="202020"/>
                </a:solidFill>
                <a:latin typeface="맑은 고딕"/>
              </a:rPr>
              <a:t>1단 — </a:t>
            </a:r>
            <a:r>
              <a:rPr sz="1400" b="0" i="0">
                <a:solidFill>
                  <a:srgbClr val="202020"/>
                </a:solidFill>
                <a:latin typeface="맑은 고딕"/>
              </a:rPr>
              <a:t>번역 확신도 낮은 소프트 조건부터 하나 제거 + 라벨 "조용함 조건을 빼고 찾았어요"</a:t>
            </a:r>
          </a:p>
          <a:p>
            <a:pPr>
              <a:spcAft>
                <a:spcPts val="600"/>
              </a:spcAft>
            </a:pPr>
            <a:r>
              <a:rPr sz="1400" b="1" i="0">
                <a:solidFill>
                  <a:srgbClr val="202020"/>
                </a:solidFill>
                <a:latin typeface="맑은 고딕"/>
              </a:rPr>
              <a:t>2단 — </a:t>
            </a:r>
            <a:r>
              <a:rPr sz="1400" b="0" i="0">
                <a:solidFill>
                  <a:srgbClr val="202020"/>
                </a:solidFill>
                <a:latin typeface="맑은 고딕"/>
              </a:rPr>
              <a:t>인접 지역 확장 + 명시 "제주시내, 한림까지 넓혀서 찾았어요" (세부지역→권역→인접 권역 순 확장)</a:t>
            </a:r>
          </a:p>
          <a:p>
            <a:pPr>
              <a:spcAft>
                <a:spcPts val="600"/>
              </a:spcAft>
            </a:pPr>
            <a:r>
              <a:rPr sz="1400" b="1" i="0">
                <a:solidFill>
                  <a:srgbClr val="202020"/>
                </a:solidFill>
                <a:latin typeface="맑은 고딕"/>
              </a:rPr>
              <a:t>끝까지 없으면 honest_zero — </a:t>
            </a:r>
            <a:r>
              <a:rPr sz="1400" b="0" i="0">
                <a:solidFill>
                  <a:srgbClr val="202020"/>
                </a:solidFill>
                <a:latin typeface="맑은 고딕"/>
              </a:rPr>
              <a:t>"조건에 맞는 카페를 찾지 못했어요" — 그 정직함까지가 기능</a:t>
            </a:r>
          </a:p>
          <a:p>
            <a:pPr>
              <a:spcAft>
                <a:spcPts val="600"/>
              </a:spcAft>
            </a:pPr>
            <a:r>
              <a:rPr sz="1400" b="0" i="0">
                <a:solidFill>
                  <a:srgbClr val="202020"/>
                </a:solidFill>
                <a:latin typeface="맑은 고딕"/>
              </a:rPr>
              <a:t>· 모든 완화는 사용자에게 보이는 라벨로 기록 — 몰래 양보하지 않는다</a:t>
            </a:r>
          </a:p>
          <a:p>
            <a:pPr>
              <a:spcAft>
                <a:spcPts val="600"/>
              </a:spcAft>
            </a:pPr>
            <a:r>
              <a:rPr sz="1400" b="1" i="0">
                <a:solidFill>
                  <a:srgbClr val="202020"/>
                </a:solidFill>
                <a:latin typeface="맑은 고딕"/>
              </a:rPr>
              <a:t>검증 — </a:t>
            </a:r>
            <a:r>
              <a:rPr sz="1400" b="0" i="0">
                <a:solidFill>
                  <a:srgbClr val="202020"/>
                </a:solidFill>
                <a:latin typeface="맑은 고딕"/>
              </a:rPr>
              <a:t>관통 시나리오 8/8 통과 — '한경 노키즈존'→한림·대정 확장에도 하드 태그 보존, 완전 0건·미해석 시나리오 포함 (라벨 사다리는 완화 모듈로 구현 완료·서버 배선 W5 대기 — 현행 서버는 지역 단계완화+판단 루프 완화로 동작)</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아래로 내려가는 3단 계단(사다리) 도식: 맨 위 빨간 박스 '0건 발생: 애월+노을+조용함' → 1단 계단 '소프트 제거' + 사용자 노출 말풍선 "조용함 조건을 빼고 찾았어요" (결과 12곳 예시) → 2단 계단 '인접 지역 확장' + 말풍선 "제주시내, 한림까지 넓혀서 찾았어요" → 맨 아래 바닥 'honest_zero: 조건에 맞는 카페를 찾지 못했어요' (에러 아이콘이 아니라 차분한 안내 톤). 계단 전 구간 왼쪽에 세로 레일 + 잠긴 자물쇠 아이콘 '하드조건 불가침 — 사다리 내내 잠김'. 우측 하단 작은 배지 '관통 시나리오 8/8 통과 · 서버 배선(W5) 대기'.</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S5-신뢰장치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신뢰장치 ④ 원문 인용 검증 — 지어낸 인용은 구조적으로 불가능</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근거는 생성이 아니라 발췌이며, LLM이 자른 인용은 코드가 원문 부분문자열로 재검문한다 — 단 이것은 존재 증명이지 맥락 증명은 아니라는 한계도 안다.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이중 구조 — </a:t>
            </a:r>
            <a:r>
              <a:rPr sz="1400" b="0" i="0">
                <a:solidFill>
                  <a:srgbClr val="202020"/>
                </a:solidFill>
                <a:latin typeface="맑은 고딕"/>
              </a:rPr>
              <a:t>화면의 '근거 보기'는 생성 0회 — 코드가 원문 스니펫을 그대로 발췌 / LLM이 인용을 자르는 곳은 코드가 재검문 — 극성 분리(오프라인 배치)는 가동, 답변 종합(종합 모듈)은 검증 완료·서버 배선 대기</a:t>
            </a:r>
          </a:p>
          <a:p>
            <a:pPr>
              <a:spcAft>
                <a:spcPts val="600"/>
              </a:spcAft>
            </a:pPr>
            <a:r>
              <a:rPr sz="1400" b="1" i="0">
                <a:solidFill>
                  <a:srgbClr val="202020"/>
                </a:solidFill>
                <a:latin typeface="맑은 고딕"/>
              </a:rPr>
              <a:t>부분문자열 대조 — </a:t>
            </a:r>
            <a:r>
              <a:rPr sz="1400" b="0" i="0">
                <a:solidFill>
                  <a:srgbClr val="202020"/>
                </a:solidFill>
                <a:latin typeface="맑은 고딕"/>
              </a:rPr>
              <a:t>잘라낸 인용이 원문 안에 통째로 들어있는지 확인 — 공백 빼고 한 글자라도 다르면 폐기</a:t>
            </a:r>
          </a:p>
          <a:p>
            <a:pPr>
              <a:spcAft>
                <a:spcPts val="600"/>
              </a:spcAft>
            </a:pPr>
            <a:r>
              <a:rPr sz="1400" b="0" i="0">
                <a:solidFill>
                  <a:srgbClr val="202020"/>
                </a:solidFill>
                <a:latin typeface="맑은 고딕"/>
              </a:rPr>
              <a:t>· 의역·요약은 물론 두 문장을 이어 붙인 경계 짜깁기 인용도 탈락</a:t>
            </a:r>
          </a:p>
          <a:p>
            <a:pPr>
              <a:spcAft>
                <a:spcPts val="600"/>
              </a:spcAft>
            </a:pPr>
            <a:r>
              <a:rPr sz="1400" b="0" i="0">
                <a:solidFill>
                  <a:srgbClr val="202020"/>
                </a:solidFill>
                <a:latin typeface="맑은 고딕"/>
              </a:rPr>
              <a:t>· 파일럿 75건 원문 검증 실패 0건 (평가 시점 스냅샷)</a:t>
            </a:r>
          </a:p>
          <a:p>
            <a:pPr>
              <a:spcAft>
                <a:spcPts val="600"/>
              </a:spcAft>
            </a:pPr>
            <a:r>
              <a:rPr sz="1400" b="1" i="0">
                <a:solidFill>
                  <a:srgbClr val="202020"/>
                </a:solidFill>
                <a:latin typeface="맑은 고딕"/>
              </a:rPr>
              <a:t>알려진 한계(정직하게) — </a:t>
            </a:r>
            <a:r>
              <a:rPr sz="1400" b="0" i="0">
                <a:solidFill>
                  <a:srgbClr val="202020"/>
                </a:solidFill>
                <a:latin typeface="맑은 고딕"/>
              </a:rPr>
              <a:t>'그 문장이 존재한다'는 증명이지 '맥락이 맞다'는 증명은 아님 — "조용하지 않아요"에서 '조용'만 자르는 부정어 반전은 코드 검증 밖, 문서화된 한계로 남기고 방어는 프롬프트 규칙에 기댄다</a:t>
            </a:r>
          </a:p>
          <a:p>
            <a:pPr>
              <a:spcAft>
                <a:spcPts val="600"/>
              </a:spcAft>
            </a:pPr>
            <a:r>
              <a:rPr sz="1400" b="1" i="0">
                <a:solidFill>
                  <a:srgbClr val="202020"/>
                </a:solidFill>
                <a:latin typeface="맑은 고딕"/>
              </a:rPr>
              <a:t>좋은 말만 고르지 않는다 — </a:t>
            </a:r>
            <a:r>
              <a:rPr sz="1400" b="0" i="0">
                <a:solidFill>
                  <a:srgbClr val="202020"/>
                </a:solidFill>
                <a:latin typeface="맑은 고딕"/>
              </a:rPr>
              <a:t>부정·혼합 리뷰도 숨김 금지 — 아쉬운 점을 나란히 표시</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3단계 검문소 도식: [① 원문 문단(블로그/카카오 리뷰, 형광펜 표시된 구간)] → [② LLM 가위 아이콘: 구간 잘라냄 "창문 열면 바로 바다예요"] → [③ 코드 검문소(돋보기): 원문과 부분문자열 대조 — 위 갈래 초록 도장 '원문 그대로 → 출처와 함께 표시' / 아래 갈래 빨간 휴지통 '공백 빼고 한 글자라도 다름 → 폐기(의역·요약·짜깁기)']. 하단 왼쪽 배지 '파일럿 75건 · 검증 실패 0 (평가 시점)'. 하단 오른쪽 각주 박스(노란 테두리): '한계: 존재 증명 ≠ 맥락 증명 — 부정어 반전은 코드 검증 밖(문서화된 한계), 방어는 프롬프트 규칙'.</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S5-신뢰장치</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신뢰장치 ⑤ LLM 접근 통제 — 주는 쪽의 설계</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환각과 홀림의 방지는 LLM의 절제에 기대지 않고, 입력에서 인기 수치·식별자를 차단하는 '주는 쪽의 설계'로 해결한다.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"LLM도 큰 숫자에 홀린다" — </a:t>
            </a:r>
            <a:r>
              <a:rPr sz="1400" b="0" i="0">
                <a:solidFill>
                  <a:srgbClr val="202020"/>
                </a:solidFill>
                <a:latin typeface="맑은 고딕"/>
              </a:rPr>
              <a:t>조회수·언급 총량 같은 인기 수치는 LLM 입력에서 차단 — 동점 정렬용으로만 사용</a:t>
            </a:r>
          </a:p>
          <a:p>
            <a:pPr>
              <a:spcAft>
                <a:spcPts val="600"/>
              </a:spcAft>
            </a:pPr>
            <a:r>
              <a:rPr sz="1400" b="0" i="0">
                <a:solidFill>
                  <a:srgbClr val="202020"/>
                </a:solidFill>
                <a:latin typeface="맑은 고딕"/>
              </a:rPr>
              <a:t>· 식별자(place_id·video_id·좌표)는 전부 LLM 우회, 코드가 운반 — 한 글자 환각이면 다른 가게가 된다</a:t>
            </a:r>
          </a:p>
          <a:p>
            <a:pPr>
              <a:spcAft>
                <a:spcPts val="600"/>
              </a:spcAft>
            </a:pPr>
            <a:r>
              <a:rPr sz="1400" b="1" i="0">
                <a:solidFill>
                  <a:srgbClr val="202020"/>
                </a:solidFill>
                <a:latin typeface="맑은 고딕"/>
              </a:rPr>
              <a:t>주는 것 — </a:t>
            </a:r>
            <a:r>
              <a:rPr sz="1400" b="0" i="0">
                <a:solidFill>
                  <a:srgbClr val="202020"/>
                </a:solidFill>
                <a:latin typeface="맑은 고딕"/>
              </a:rPr>
              <a:t>요약·태그 같은 카드 원문 파트 / 막는 것 :: 인기 수치·식별자·카드 밖 세상</a:t>
            </a:r>
          </a:p>
          <a:p>
            <a:pPr>
              <a:spcAft>
                <a:spcPts val="600"/>
              </a:spcAft>
            </a:pPr>
            <a:r>
              <a:rPr sz="1400" b="1" i="0">
                <a:solidFill>
                  <a:srgbClr val="202020"/>
                </a:solidFill>
                <a:latin typeface="맑은 고딕"/>
              </a:rPr>
              <a:t>역할 계약 — </a:t>
            </a:r>
            <a:r>
              <a:rPr sz="1400" b="0" i="0">
                <a:solidFill>
                  <a:srgbClr val="202020"/>
                </a:solidFill>
                <a:latin typeface="맑은 고딕"/>
              </a:rPr>
              <a:t>LLM①은 접수원(질문 구조화 — router, 서버 배선 대기·현행 판단 루프는 judge가 결과 충분/부족 판정만), LLM②는 변호사(카드의 증거로만 변론) — 카드 밖 사실 금지</a:t>
            </a:r>
          </a:p>
          <a:p>
            <a:pPr>
              <a:spcAft>
                <a:spcPts val="600"/>
              </a:spcAft>
            </a:pPr>
            <a:r>
              <a:rPr sz="1400" b="1" i="0">
                <a:solidFill>
                  <a:srgbClr val="202020"/>
                </a:solidFill>
                <a:latin typeface="맑은 고딕"/>
              </a:rPr>
              <a:t>실패해도 무해 — </a:t>
            </a:r>
            <a:r>
              <a:rPr sz="1400" b="0" i="0">
                <a:solidFill>
                  <a:srgbClr val="202020"/>
                </a:solidFill>
                <a:latin typeface="맑은 고딕"/>
              </a:rPr>
              <a:t>판단 LLM 실패 시 기존 결과 유지 폴백 — 서비스가 LLM에 인질 잡히지 않는다</a:t>
            </a:r>
          </a:p>
          <a:p>
            <a:pPr>
              <a:spcAft>
                <a:spcPts val="600"/>
              </a:spcAft>
            </a:pPr>
            <a:r>
              <a:rPr sz="1400" b="0" i="0">
                <a:solidFill>
                  <a:srgbClr val="202020"/>
                </a:solidFill>
                <a:latin typeface="맑은 고딕"/>
              </a:rPr>
              <a:t>· 접근 통제는 받는 쪽의 절제가 아니라 주는 쪽의 설계다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카드 저장소(왼쪽)에서 LLM 방(오른쪽)으로 이어지는 컨베이어 벨트 + 중간 보안 게이트 도식: 초록 게이트를 통과하는 아이템 3개(문서 아이콘 '요약', 태그 아이콘 '태그', 따옴표 카드 '카드 원문 파트(주의·반응 힌트)') / 빨간 X 게이트에 걸리는 아이템 3개(눈 아이콘 '조회수 87만', ID 카드 'place_id 1403064814', 지구본 '카드 밖 정보'). LLM 방 안 말풍선 '카드에 있는 사실만 배열'. 방 옆 작은 낙하산 아이콘 '실패 시 무해 폴백(기존 결과 유지)'. 하단 전체 폭 캐치프레이즈 배너: '접근 통제는 받는 쪽의 절제가 아니라 주는 쪽의 설계'.</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평가</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4.5분 · 5장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S6-평가</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3단 평가 체계 — 금·은·동으로 나눠 잰다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정확도 하나로 뭉뚱그리지 않고 Gold(사람 질문·의도), Silver(대량 자동), Bronze(시스템 건강)로 분리해야 병목이 보인다.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Gold 50 — </a:t>
            </a:r>
            <a:r>
              <a:rPr sz="1400" b="0" i="0">
                <a:solidFill>
                  <a:srgbClr val="202020"/>
                </a:solidFill>
                <a:latin typeface="맑은 고딕"/>
              </a:rPr>
              <a:t>사람이 만든 실제 질문 50개 — "대표 카페를 찾았나(Must Hit)"와 "질문 의도를 만족했나(Intent)"를 분리 채점</a:t>
            </a:r>
          </a:p>
          <a:p>
            <a:pPr>
              <a:spcAft>
                <a:spcPts val="600"/>
              </a:spcAft>
            </a:pPr>
            <a:r>
              <a:rPr sz="1400" b="1" i="0">
                <a:solidFill>
                  <a:srgbClr val="202020"/>
                </a:solidFill>
                <a:latin typeface="맑은 고딕"/>
              </a:rPr>
              <a:t>Silver 168 — </a:t>
            </a:r>
            <a:r>
              <a:rPr sz="1400" b="0" i="0">
                <a:solidFill>
                  <a:srgbClr val="202020"/>
                </a:solidFill>
                <a:latin typeface="맑은 고딕"/>
              </a:rPr>
              <a:t>자동 생성 질의 168개 — 카페명 / 지역 / 태그 / 지역+태그 4유형별 강약 진단</a:t>
            </a:r>
          </a:p>
          <a:p>
            <a:pPr>
              <a:spcAft>
                <a:spcPts val="600"/>
              </a:spcAft>
            </a:pPr>
            <a:r>
              <a:rPr sz="1400" b="1" i="0">
                <a:solidFill>
                  <a:srgbClr val="202020"/>
                </a:solidFill>
                <a:latin typeface="맑은 고딕"/>
              </a:rPr>
              <a:t>Bronze — </a:t>
            </a:r>
            <a:r>
              <a:rPr sz="1400" b="0" i="0">
                <a:solidFill>
                  <a:srgbClr val="202020"/>
                </a:solidFill>
                <a:latin typeface="맑은 고딕"/>
              </a:rPr>
              <a:t>시스템 건강검진 — 중복률 · 빈 결과 · 거절률 · 결정성(같은 질문에 같은 결과가 나오는 정도) · 표현 변형 안정성</a:t>
            </a:r>
          </a:p>
          <a:p>
            <a:pPr>
              <a:spcAft>
                <a:spcPts val="600"/>
              </a:spcAft>
            </a:pPr>
            <a:r>
              <a:rPr sz="1400" b="1" i="0">
                <a:solidFill>
                  <a:srgbClr val="202020"/>
                </a:solidFill>
                <a:latin typeface="맑은 고딕"/>
              </a:rPr>
              <a:t>왜 3단인가 — </a:t>
            </a:r>
            <a:r>
              <a:rPr sz="1400" b="0" i="0">
                <a:solidFill>
                  <a:srgbClr val="202020"/>
                </a:solidFill>
                <a:latin typeface="맑은 고딕"/>
              </a:rPr>
              <a:t>"이름을 맞혔다 ≠ 좋은 추천" — 정답 적중, 의도 만족, 시스템 신뢰는 서로 다른 병을 진단한다</a:t>
            </a:r>
          </a:p>
          <a:p>
            <a:pPr>
              <a:spcAft>
                <a:spcPts val="600"/>
              </a:spcAft>
            </a:pPr>
            <a:r>
              <a:rPr sz="1400" b="1" i="0">
                <a:solidFill>
                  <a:srgbClr val="202020"/>
                </a:solidFill>
                <a:latin typeface="맑은 고딕"/>
              </a:rPr>
              <a:t>측정 환경 — </a:t>
            </a:r>
            <a:r>
              <a:rPr sz="1400" b="0" i="0">
                <a:solidFill>
                  <a:srgbClr val="202020"/>
                </a:solidFill>
                <a:latin typeface="맑은 고딕"/>
              </a:rPr>
              <a:t>검색 문서 1,245 · 서빙 카페 907 · Top-10 기준 — 2026-07-09 구조 개편 전 시스템의 평가 시점 스냅샷</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3단 계단(메달 색 Gold/Silver/Bronze) 도식: [Gold 50 — 사람 질문 · Must Hit / Intent 분리 채점] → [Silver 168 — 자동 질의 · 카페명/지역/태그/지역+태그 4유형] → [Bronze — 건강검진 · 중복률·빈 결과·거절률·결정성·안정성]. 하단에 회색 캡션 바: "측정 환경: 검색 문서 1,245 · 서빙 카페 907 · Top-10 기준 — 2026-07-09 구조 개편 전 스냅샷".</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S6-평가</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Gold 결과 — 병목은 데이터가 아니라 재정렬</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필수 태그도 정답 카페도 결과 안에는 이미 있다(Coverage 85.7%, 수록률 99.6%). Top-5로 끌어올리는 재정렬이 병목이다.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간극이 진단이다 — </a:t>
            </a:r>
            <a:r>
              <a:rPr sz="1400" b="0" i="0">
                <a:solidFill>
                  <a:srgbClr val="202020"/>
                </a:solidFill>
                <a:latin typeface="맑은 고딕"/>
              </a:rPr>
              <a:t>Required Tag Coverage@5 85.7%(필수 태그가 결과 어딘가에는 있음) vs Tag Match@5 59.3%(Top-5 전체가 일관되게 만족) — 26.4%p 차이</a:t>
            </a:r>
          </a:p>
          <a:p>
            <a:pPr>
              <a:spcAft>
                <a:spcPts val="600"/>
              </a:spcAft>
            </a:pPr>
            <a:r>
              <a:rPr sz="1400" b="1" i="0">
                <a:solidFill>
                  <a:srgbClr val="202020"/>
                </a:solidFill>
                <a:latin typeface="맑은 고딕"/>
              </a:rPr>
              <a:t>Must Hit @5 62% → @10 74% — </a:t>
            </a:r>
            <a:r>
              <a:rPr sz="1400" b="0" i="0">
                <a:solidFill>
                  <a:srgbClr val="202020"/>
                </a:solidFill>
                <a:latin typeface="맑은 고딕"/>
              </a:rPr>
              <a:t>정답 카페가 Top-10엔 들어와 있는데 Top-5로 못 올라온다</a:t>
            </a:r>
          </a:p>
          <a:p>
            <a:pPr>
              <a:spcAft>
                <a:spcPts val="600"/>
              </a:spcAft>
            </a:pPr>
            <a:r>
              <a:rPr sz="1400" b="0" i="0">
                <a:solidFill>
                  <a:srgbClr val="202020"/>
                </a:solidFill>
                <a:latin typeface="맑은 고딕"/>
              </a:rPr>
              <a:t>· Region Match@5 73.8% · Final Intent Score@5 65.1% · Intent High Rate@5 58.0%</a:t>
            </a:r>
          </a:p>
          <a:p>
            <a:pPr>
              <a:spcAft>
                <a:spcPts val="600"/>
              </a:spcAft>
            </a:pPr>
            <a:r>
              <a:rPr sz="1400" b="1" i="0">
                <a:solidFill>
                  <a:srgbClr val="202020"/>
                </a:solidFill>
                <a:latin typeface="맑은 고딕"/>
              </a:rPr>
              <a:t>대표 카페 DB 수록률 99.6% — </a:t>
            </a:r>
            <a:r>
              <a:rPr sz="1400" b="0" i="0">
                <a:solidFill>
                  <a:srgbClr val="202020"/>
                </a:solidFill>
                <a:latin typeface="맑은 고딕"/>
              </a:rPr>
              <a:t>데이터 부족이 아니다 → 데이터를 더 모으는 것은 처방이 아니다</a:t>
            </a:r>
          </a:p>
          <a:p>
            <a:pPr>
              <a:spcAft>
                <a:spcPts val="600"/>
              </a:spcAft>
            </a:pPr>
            <a:r>
              <a:rPr sz="1400" b="1" i="0">
                <a:solidFill>
                  <a:srgbClr val="202020"/>
                </a:solidFill>
                <a:latin typeface="맑은 고딕"/>
              </a:rPr>
              <a:t>실패 유형 분해(50문항) — </a:t>
            </a:r>
            <a:r>
              <a:rPr sz="1400" b="0" i="0">
                <a:solidFill>
                  <a:srgbClr val="202020"/>
                </a:solidFill>
                <a:latin typeface="맑은 고딕"/>
              </a:rPr>
              <a:t>완전 실패는 18% — 20%는 expected 목록 밖의 새 적합 후보를 찾은 경우(지표상 실패지만 검색 실패 아님)</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가로 막대 그래프 5개(Tag Match@5 59.3 / Tag Coverage@5 85.7 / Region@5 73.8 / Final Intent@5 65.1 / DB 수록률 99.6). 59.3과 85.7 막대를 위아래로 붙이고 사이 간극에 "26.4%p = 재정렬 병목" 화살표 주석. 우측 상단: 2단 계단 도식 "Must Hit @5 62% → @10 74%"에 캡션 "정답은 Top-10엔 있다". 우측 하단: 50문항 유형 분해 100% 스택바 — 38% / 24% / 20%(expected 밖 새 후보) / 18%(완전 실패). 38%·24% 구간의 라벨 문구는 팀 원본 평가 시트에서 재확인 필요.</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S6-평가</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Silver·Bronze — 복합 의도에서 무너지고, 거절을 못 한다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장소를 '찾는' 능력은 안정적이지만 복합 의도를 '정렬하는' 능력이 약하고, Bronze의 뼈아픈 4개 지표가 구조 개편의 과녁이 됐다.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지표 정의 — </a:t>
            </a:r>
            <a:r>
              <a:rPr sz="1400" b="0" i="0">
                <a:solidFill>
                  <a:srgbClr val="202020"/>
                </a:solidFill>
                <a:latin typeface="맑은 고딕"/>
              </a:rPr>
              <a:t>Hit@5 = 상위 5개 안에 정답이 든 비율 · Precision@5 = 상위 5개 중 조건에 실제로 맞는 카페의 비율</a:t>
            </a:r>
          </a:p>
          <a:p>
            <a:pPr>
              <a:spcAft>
                <a:spcPts val="600"/>
              </a:spcAft>
            </a:pPr>
            <a:r>
              <a:rPr sz="1400" b="1" i="0">
                <a:solidFill>
                  <a:srgbClr val="202020"/>
                </a:solidFill>
                <a:latin typeface="맑은 고딕"/>
              </a:rPr>
              <a:t>Silver 유형별 Hit@5 — </a:t>
            </a:r>
            <a:r>
              <a:rPr sz="1400" b="0" i="0">
                <a:solidFill>
                  <a:srgbClr val="202020"/>
                </a:solidFill>
                <a:latin typeface="맑은 고딕"/>
              </a:rPr>
              <a:t>카페명(100문항) 96.0% · 지역(13) 100% · 태그(25) 84.0% · 지역+태그(30) 76.7% — 조건이 겹칠수록 무너진다</a:t>
            </a:r>
          </a:p>
          <a:p>
            <a:pPr>
              <a:spcAft>
                <a:spcPts val="600"/>
              </a:spcAft>
            </a:pPr>
            <a:r>
              <a:rPr sz="1400" b="1" i="0">
                <a:solidFill>
                  <a:srgbClr val="202020"/>
                </a:solidFill>
                <a:latin typeface="맑은 고딕"/>
              </a:rPr>
              <a:t>Precision@5는 더 가파르다 — </a:t>
            </a:r>
            <a:r>
              <a:rPr sz="1400" b="0" i="0">
                <a:solidFill>
                  <a:srgbClr val="202020"/>
                </a:solidFill>
                <a:latin typeface="맑은 고딕"/>
              </a:rPr>
              <a:t>지역 89.2% → 태그 55.2% → 지역+태그 40.0%</a:t>
            </a:r>
          </a:p>
          <a:p>
            <a:pPr>
              <a:spcAft>
                <a:spcPts val="600"/>
              </a:spcAft>
            </a:pPr>
            <a:r>
              <a:rPr sz="1400" b="1" i="0">
                <a:solidFill>
                  <a:srgbClr val="202020"/>
                </a:solidFill>
                <a:latin typeface="맑은 고딕"/>
              </a:rPr>
              <a:t>Bronze 양호 — </a:t>
            </a:r>
            <a:r>
              <a:rPr sz="1400" b="0" i="0">
                <a:solidFill>
                  <a:srgbClr val="202020"/>
                </a:solidFill>
                <a:latin typeface="맑은 고딕"/>
              </a:rPr>
              <a:t>Top-10 고유 카페 92.9% · 정상 질문 빈 결과 0% · 지역 메타데이터 100%</a:t>
            </a:r>
          </a:p>
          <a:p>
            <a:pPr>
              <a:spcAft>
                <a:spcPts val="600"/>
              </a:spcAft>
            </a:pPr>
            <a:r>
              <a:rPr sz="1400" b="1" i="0">
                <a:solidFill>
                  <a:srgbClr val="202020"/>
                </a:solidFill>
                <a:latin typeface="맑은 고딕"/>
              </a:rPr>
              <a:t>Bronze 뼈아픈 4개 — </a:t>
            </a:r>
            <a:r>
              <a:rPr sz="1400" b="0" i="0">
                <a:solidFill>
                  <a:srgbClr val="202020"/>
                </a:solidFill>
                <a:latin typeface="맑은 고딕"/>
              </a:rPr>
              <a:t>서비스 밖 질문 거절률 0%(서울·맥주를 물어도 제주 카페 추천) · 표현 변형 안정성@10 22.8% · 제외 카페 노출 6.2% · 서빙 식별자 고유성 76.3%</a:t>
            </a:r>
          </a:p>
          <a:p>
            <a:pPr>
              <a:spcAft>
                <a:spcPts val="600"/>
              </a:spcAft>
            </a:pPr>
            <a:r>
              <a:rPr sz="1400" b="0" i="0">
                <a:solidFill>
                  <a:srgbClr val="202020"/>
                </a:solidFill>
                <a:latin typeface="맑은 고딕"/>
              </a:rPr>
              <a:t>· ※ 전 수치는 평가 시점 스냅샷(7/9 구조 개편 전 시스템) — 개편 후 재측정 예정</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좌측: Silver 표 4행 [유형 | 문항수 | Hit@5 | Precision@5] — 카페명(100) 96.0/19.2, 지역(13) 100.0/89.2, 태그(25) 84.0/55.2, 지역+태그(30) 76.7/40.0. 아래 행으로 갈수록 셀 배경이 붉어지는 그라데이션. 우측: Bronze 지표 카드 7개 — 상단 3개 초록(고유 카페 92.9% / 빈 결과 0% / 지역 메타 100%), 하단 4개 빨강(거절률 0% / 안정성@10 22.8% / 제외 노출 6.2% / 식별자 고유성 76.3%). 하단 각주 바: "평가 시점 스냅샷(7/9 개편 전) — 개편 후 재측정 예정".</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S6-평가</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모델 구조 업데이트와 성능 개선 — 평가가 가리킨 곳을 고쳤다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구조 변화 3단계는 전부 Bronze 약점을 겨냥했다 — 병합이 중복을, LLM 철거가 속도·결정성을, 번역기·하드 배제·완화 사다리가 거절과 안정성을. 개편 후 % 재측정은 정직하게 '예정'.</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(a) 7/9 낮 LLM 선별 런타임 — </a:t>
            </a:r>
            <a:r>
              <a:rPr sz="1400" b="0" i="0">
                <a:solidFill>
                  <a:srgbClr val="202020"/>
                </a:solidFill>
                <a:latin typeface="맑은 고딕"/>
              </a:rPr>
              <a:t>런타임 LLM이 결과 선별·소개문·추천 이유 생성 — 응답 6~9초(실측), 반복 결정성 90%</a:t>
            </a:r>
          </a:p>
          <a:p>
            <a:pPr>
              <a:spcAft>
                <a:spcPts val="600"/>
              </a:spcAft>
            </a:pPr>
            <a:r>
              <a:rPr sz="1400" b="1" i="0">
                <a:solidFill>
                  <a:srgbClr val="202020"/>
                </a:solidFill>
                <a:latin typeface="맑은 고딕"/>
              </a:rPr>
              <a:t>(b) 7/9 밤 카드 정본 병합 + 런타임 LLM 철거 — </a:t>
            </a:r>
            <a:r>
              <a:rPr sz="1400" b="0" i="0">
                <a:solidFill>
                  <a:srgbClr val="202020"/>
                </a:solidFill>
                <a:latin typeface="맑은 고딕"/>
              </a:rPr>
              <a:t>이름 1,064개 → 정본 카드 831장(프릳츠 9조각→1장, 블로거 합산 211명) · 폐업 12장 강등 — 식별자 고유성 76.3%·제외 노출 6.2%의 구조적 처방 · 응답 6~9초 → 1~3초, 검색이 결정적 파이프라인으로</a:t>
            </a:r>
          </a:p>
          <a:p>
            <a:pPr>
              <a:spcAft>
                <a:spcPts val="600"/>
              </a:spcAft>
            </a:pPr>
            <a:r>
              <a:rPr sz="1400" b="1" i="0">
                <a:solidFill>
                  <a:srgbClr val="202020"/>
                </a:solidFill>
                <a:latin typeface="맑은 고딕"/>
              </a:rPr>
              <a:t>(c) 7/10 태그 번역기 + LLM 재배치 — </a:t>
            </a:r>
            <a:r>
              <a:rPr sz="1400" b="0" i="0">
                <a:solidFill>
                  <a:srgbClr val="202020"/>
                </a:solidFill>
                <a:latin typeface="맑은 고딕"/>
              </a:rPr>
              <a:t>임베딩 = 번역기(정확 매칭 → 임베딩 앵커 93개 = 태그 동의어를 미리 숫자 좌표로 박아둔 기준점, 확신도 0.55 미만은 미해석 처리) · LLM은 판단(결과가 질문에 맞는지 검증) + 근거 종합 두 역할만 — 의도 분석 라우터는 모듈 구현 완료·서버 배선 대기 · 하드 배제 + 완화 사다리(0건이면 조건을 한 단계씩 풀어 재검색 — 지역은 세부→버킷→전체) — 거절률 0%·안정성 22.8% 겨냥</a:t>
            </a:r>
          </a:p>
          <a:p>
            <a:pPr>
              <a:spcAft>
                <a:spcPts val="600"/>
              </a:spcAft>
            </a:pPr>
            <a:r>
              <a:rPr sz="1400" b="1" i="0">
                <a:solidFill>
                  <a:srgbClr val="202020"/>
                </a:solidFill>
                <a:latin typeface="맑은 고딕"/>
              </a:rPr>
              <a:t>하드 배제의 유래 — </a:t>
            </a:r>
            <a:r>
              <a:rPr sz="1400" b="0" i="0">
                <a:solidFill>
                  <a:srgbClr val="202020"/>
                </a:solidFill>
                <a:latin typeface="맑은 고딕"/>
              </a:rPr>
              <a:t>골드셋 G030 사건 — "노키즈존 피하고 가족과" 질문에 노키즈존 카페가 Top-5에 노출 → 감점이 아니라 후보 풀에서 원천 제거, 어떤 완화에도 안 풀림</a:t>
            </a:r>
          </a:p>
          <a:p>
            <a:pPr>
              <a:spcAft>
                <a:spcPts val="600"/>
              </a:spcAft>
            </a:pPr>
            <a:r>
              <a:rPr sz="1400" b="1" i="0">
                <a:solidFill>
                  <a:srgbClr val="202020"/>
                </a:solidFill>
                <a:latin typeface="맑은 고딕"/>
              </a:rPr>
              <a:t>지금 확정된 검증 — </a:t>
            </a:r>
            <a:r>
              <a:rPr sz="1400" b="0" i="0">
                <a:solidFill>
                  <a:srgbClr val="202020"/>
                </a:solidFill>
                <a:latin typeface="맑은 고딕"/>
              </a:rPr>
              <a:t>관통 시나리오 8/8 통과(이름 조회 · 브라우즈 · 소프트 완화 · 지역 확장 · 정직한 0건 등 — W2~W4 모듈 파이프라인 기준, 서버 배선은 W5 예정) · 근거 인용 파일럿 75건 원문 검증 실패 0</a:t>
            </a:r>
          </a:p>
          <a:p>
            <a:pPr>
              <a:spcAft>
                <a:spcPts val="600"/>
              </a:spcAft>
            </a:pPr>
            <a:r>
              <a:rPr sz="1400" b="1" i="0">
                <a:solidFill>
                  <a:srgbClr val="202020"/>
                </a:solidFill>
                <a:latin typeface="맑은 고딕"/>
              </a:rPr>
              <a:t>정직한 각주 — </a:t>
            </a:r>
            <a:r>
              <a:rPr sz="1400" b="0" i="0">
                <a:solidFill>
                  <a:srgbClr val="202020"/>
                </a:solidFill>
                <a:latin typeface="맑은 고딕"/>
              </a:rPr>
              <a:t>개편 후 Gold/Silver/Bronze % 지표 재측정은 예정 — 현재 확정 수치는 응답 속도와 합격/불합격 검증뿐</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가로 타임라인 3노드: (a) 7/9 낮 "LLM 선별 런타임"(배지: 6~9초 · 결정성 90%) → (b) 7/9 밤 "카드 정본 병합 + 런타임 LLM 철거"(배지: 1,064이름→831카드 · 폐업 12 강등 · 1~3초, 아래에 겨냥 지표 태그 "고유성 76.3% · 제외 노출 6.2%") → (c) 7/10 "태그 번역기 + LLM 판단·종합 재배치 + 하드 배제 + 완화 사다리"(아래 겨냥 지표 태그 "거절률 0% · 안정성 22.8%"). 하단 좌: 응답시간 비교 막대 6~9초 vs 1~3초. 하단 우: "관통 시나리오 8/8 PASS (모듈 파이프라인)" 체크리스트 미니표 + 점선 박스 "Gold/Silver/Bronze % 재측정 예정".</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S6-평가</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개선 우선순위 P0·P1·P2 — 반영된 것과 남은 것</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평가가 정한 우선순위 P0·P1·P2 중 상당수가 이미 구조로 반영됐고, 남은 것은 명확히 남았다고 말한다 — 데이터를 더 넣자는 항목은 목록에 없다.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P0 잘못된 추천 차단 — </a:t>
            </a:r>
            <a:r>
              <a:rPr sz="1400" b="0" i="0">
                <a:solidFill>
                  <a:srgbClr val="202020"/>
                </a:solidFill>
                <a:latin typeface="맑은 고딕"/>
              </a:rPr>
              <a:t>폐업 12장 검색 제외 [완료] · 노키즈존 하드 배제 [완료 — '감점' 계획을 '원천 제거'로 상향] · 서비스 밖 질문 거절 [남음]</a:t>
            </a:r>
          </a:p>
          <a:p>
            <a:pPr>
              <a:spcAft>
                <a:spcPts val="600"/>
              </a:spcAft>
            </a:pPr>
            <a:r>
              <a:rPr sz="1400" b="1" i="0">
                <a:solidFill>
                  <a:srgbClr val="202020"/>
                </a:solidFill>
                <a:latin typeface="맑은 고딕"/>
              </a:rPr>
              <a:t>P1 정본 병합 + 태그 재정렬 — </a:t>
            </a:r>
            <a:r>
              <a:rPr sz="1400" b="0" i="0">
                <a:solidFill>
                  <a:srgbClr val="202020"/>
                </a:solidFill>
                <a:latin typeface="맑은 고딕"/>
              </a:rPr>
              <a:t>place_id 142그룹 병합 → 정본 카드 831장 [완료] · 태그 기반 재정렬 [부분 — 모듈 구현 완료, 서버 배선 대기]</a:t>
            </a:r>
          </a:p>
          <a:p>
            <a:pPr>
              <a:spcAft>
                <a:spcPts val="600"/>
              </a:spcAft>
            </a:pPr>
            <a:r>
              <a:rPr sz="1400" b="1" i="0">
                <a:solidFill>
                  <a:srgbClr val="202020"/>
                </a:solidFill>
                <a:latin typeface="맑은 고딕"/>
              </a:rPr>
              <a:t>P2 동의어 확장 — </a:t>
            </a:r>
            <a:r>
              <a:rPr sz="1400" b="0" i="0">
                <a:solidFill>
                  <a:srgbClr val="202020"/>
                </a:solidFill>
                <a:latin typeface="맑은 고딕"/>
              </a:rPr>
              <a:t>태그 번역기로 반영 [완료] — "석양빛"→노을, 임베딩 앵커 93개 · 안정성 개선 효과의 정량 확인 [남음]</a:t>
            </a:r>
          </a:p>
          <a:p>
            <a:pPr>
              <a:spcAft>
                <a:spcPts val="600"/>
              </a:spcAft>
            </a:pPr>
            <a:r>
              <a:rPr sz="1400" b="1" i="0">
                <a:solidFill>
                  <a:srgbClr val="202020"/>
                </a:solidFill>
                <a:latin typeface="맑은 고딕"/>
              </a:rPr>
              <a:t>원칙 — </a:t>
            </a:r>
            <a:r>
              <a:rPr sz="1400" b="0" i="0">
                <a:solidFill>
                  <a:srgbClr val="202020"/>
                </a:solidFill>
                <a:latin typeface="맑은 고딕"/>
              </a:rPr>
              <a:t>"데이터를 더 넣는 것"은 목록에 없다 — 차단 · 병합 · 재정렬이 답이었다</a:t>
            </a:r>
          </a:p>
          <a:p>
            <a:pPr>
              <a:spcAft>
                <a:spcPts val="600"/>
              </a:spcAft>
            </a:pPr>
            <a:r>
              <a:rPr sz="1400" b="1" i="0">
                <a:solidFill>
                  <a:srgbClr val="202020"/>
                </a:solidFill>
                <a:latin typeface="맑은 고딕"/>
              </a:rPr>
              <a:t>다음 걸음 — </a:t>
            </a:r>
            <a:r>
              <a:rPr sz="1400" b="0" i="0">
                <a:solidFill>
                  <a:srgbClr val="202020"/>
                </a:solidFill>
                <a:latin typeface="맑은 고딕"/>
              </a:rPr>
              <a:t>같은 평가 하네스로 개편 후 재측정 → 개선 전후 그래프로 공개</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3행 표: [우선순위 | 진단 근거 지표 | 처방 | 상태]. 행1: P0 | 거절률 0% · 제외 노출 6.2% | 폐업 검색 제외 / 노키즈존 하드 배제 / 서비스 밖 거절 | 완료·완료·남음. 행2: P1 | 식별자 고유성 76.3% · 지역+태그 Precision@5 40% | place_id 142그룹 병합 / 태그 기반 재정렬 | 완료·부분(배선 대기). 행3: P2 | 안정성@10 22.8% | 동의어 → 태그 번역기(앵커 93개) | 완료·효과 재측정 남음. 상태 칸은 3색 라벨(완료=초록 / 부분=노랑 / 남음=회색)로 표기하고 하단에 범례.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데모와마무리</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약 4.0분 · 5장</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S7-데모와마무리</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데모 — 네 장면, 고정 대본</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검색의 3분기(조회·브라우즈·조건)와 근거 보기를 애드립 없는 고정 시나리오 네 장면으로 실증한다 — 실패 시 스크린샷 Plan B로 즉시 전환.</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장면1 이름 조회(20초) — </a:t>
            </a:r>
            <a:r>
              <a:rPr sz="1400" b="0" i="0">
                <a:solidFill>
                  <a:srgbClr val="202020"/>
                </a:solidFill>
                <a:latin typeface="맑은 고딕"/>
              </a:rPr>
              <a:t>「바다다」 입력 — 이름 사전 1,300개 표기(정본 831+변형 469) 대조로 📌 이름 일치 카드를 임베딩 점수와 무관하게 1순위 고정 (집행은 코드, LLM 0콜)</a:t>
            </a:r>
          </a:p>
          <a:p>
            <a:pPr>
              <a:spcAft>
                <a:spcPts val="600"/>
              </a:spcAft>
            </a:pPr>
            <a:r>
              <a:rPr sz="1400" b="1" i="0">
                <a:solidFill>
                  <a:srgbClr val="202020"/>
                </a:solidFill>
                <a:latin typeface="맑은 고딕"/>
              </a:rPr>
              <a:t>장면2 브라우즈(20초) — </a:t>
            </a:r>
            <a:r>
              <a:rPr sz="1400" b="0" i="0">
                <a:solidFill>
                  <a:srgbClr val="202020"/>
                </a:solidFill>
                <a:latin typeface="맑은 고딕"/>
              </a:rPr>
              <a:t>「애월 카페」 — 조건 없는 질의는 임베딩 생략, 지역 필터+다수결(고유 블로거 수) 정렬만 · '전체 N곳' total 표시</a:t>
            </a:r>
          </a:p>
          <a:p>
            <a:pPr>
              <a:spcAft>
                <a:spcPts val="600"/>
              </a:spcAft>
            </a:pPr>
            <a:r>
              <a:rPr sz="1400" b="1" i="0">
                <a:solidFill>
                  <a:srgbClr val="202020"/>
                </a:solidFill>
                <a:latin typeface="맑은 고딕"/>
              </a:rPr>
              <a:t>장면3 조건 검색(30초) — </a:t>
            </a:r>
            <a:r>
              <a:rPr sz="1400" b="0" i="0">
                <a:solidFill>
                  <a:srgbClr val="202020"/>
                </a:solidFill>
                <a:latin typeface="맑은 고딕"/>
              </a:rPr>
              <a:t>「애월 노을 조용한 카페」 — 카드마다 matched 근거줄('애월 ✓ · 노을 · 블로거 N명', 코드가 조립) · 보조 탭 ?debug=1 응답으로 번역 로그와 후보 깔때기 확인</a:t>
            </a:r>
          </a:p>
          <a:p>
            <a:pPr>
              <a:spcAft>
                <a:spcPts val="600"/>
              </a:spcAft>
            </a:pPr>
            <a:r>
              <a:rPr sz="1400" b="1" i="0">
                <a:solidFill>
                  <a:srgbClr val="202020"/>
                </a:solidFill>
                <a:latin typeface="맑은 고딕"/>
              </a:rPr>
              <a:t>장면4 근거 보기(20초) — </a:t>
            </a:r>
            <a:r>
              <a:rPr sz="1400" b="0" i="0">
                <a:solidFill>
                  <a:srgbClr val="202020"/>
                </a:solidFill>
                <a:latin typeface="맑은 고딕"/>
              </a:rPr>
              <a:t>🔍 근거 보기 모달 — 블로그 원문 인용 · 카카오 리뷰(낮은 별점 포함) · 쇼츠 댓글 반응 3렌즈, 아쉬운 점 숨김 없음</a:t>
            </a:r>
          </a:p>
          <a:p>
            <a:pPr>
              <a:spcAft>
                <a:spcPts val="600"/>
              </a:spcAft>
            </a:pPr>
            <a:r>
              <a:rPr sz="1400" b="1" i="0">
                <a:solidFill>
                  <a:srgbClr val="202020"/>
                </a:solidFill>
                <a:latin typeface="맑은 고딕"/>
              </a:rPr>
              <a:t>Plan B — </a:t>
            </a:r>
            <a:r>
              <a:rPr sz="1400" b="0" i="0">
                <a:solidFill>
                  <a:srgbClr val="202020"/>
                </a:solidFill>
                <a:latin typeface="맑은 고딕"/>
              </a:rPr>
              <a:t>장면별 스크린샷 백업 4세트 — 15초 무응답이면 즉시 전환, 멘트는 대본 그대로</a:t>
            </a:r>
          </a:p>
          <a:p>
            <a:pPr>
              <a:spcAft>
                <a:spcPts val="600"/>
              </a:spcAft>
            </a:pPr>
            <a:r>
              <a:rPr sz="1400" b="1" i="0">
                <a:solidFill>
                  <a:srgbClr val="202020"/>
                </a:solidFill>
                <a:latin typeface="맑은 고딕"/>
              </a:rPr>
              <a:t>경로 주의 — </a:t>
            </a:r>
            <a:r>
              <a:rPr sz="1400" b="0" i="0">
                <a:solidFill>
                  <a:srgbClr val="202020"/>
                </a:solidFill>
                <a:latin typeface="맑은 고딕"/>
              </a:rPr>
              <a:t>데모 화면은 /agent 경로(판단 루프 포함, 실측 3~13초) — /search 단독 API는 1~3초</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좌→우 4칸 스토리보드. 각 칸: ①고정 질의 문자열을 따옴표 그대로 큰 글씨(「바다다」/「애월 카페」/「애월 노을 조용한 카페」/「근거 보기」) ②주목 포인트 배지 1개(📌 name_match / total·다수결 / matched 근거줄 / 3렌즈 모달) ③예상 소요 시간(20·20·30·20초) ④해당 장면 실제 스크린샷 축소본을 칸 배경에. 하단 전체 폭 띠: 'Plan B — 스크린샷 백업 4세트, 15초 무응답 시 전환'.</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S7-데모와마무리</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아이펠 평가 5항목 — 말이 아니라 실측치와 코드 위치로</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문제정의·모델설계·견고성·신뢰성·보안 다섯 항목 모두 구호가 아니라 저장소의 실측 숫자와 파일·행 번호로 답한다.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문제 정의·기획 — </a:t>
            </a:r>
            <a:r>
              <a:rPr sz="1400" b="0" i="0">
                <a:solidFill>
                  <a:srgbClr val="202020"/>
                </a:solidFill>
                <a:latin typeface="맑은 고딕"/>
              </a:rPr>
              <a:t>3대 장벽(광고 오염·실존·무근거)을 실측으로 증명 — 중복 142그룹 병합, 지역 라벨 오염 24.6%, 폐업 강등 12장</a:t>
            </a:r>
          </a:p>
          <a:p>
            <a:pPr>
              <a:spcAft>
                <a:spcPts val="600"/>
              </a:spcAft>
            </a:pPr>
            <a:r>
              <a:rPr sz="1400" b="1" i="0">
                <a:solidFill>
                  <a:srgbClr val="202020"/>
                </a:solidFill>
                <a:latin typeface="맑은 고딕"/>
              </a:rPr>
              <a:t>모델 설계·활용 — </a:t>
            </a:r>
            <a:r>
              <a:rPr sz="1400" b="0" i="0">
                <a:solidFill>
                  <a:srgbClr val="202020"/>
                </a:solidFill>
                <a:latin typeface="맑은 고딕"/>
              </a:rPr>
              <a:t>/search는 생성 LLM 0회(app/server.py:63 주석 '임베딩 전용') · LLM(gpt-5-mini)은 /agent 양끝 2역할(judge·synthesize)만 · 임베딩=번역기(태그 앵커 93개, 임계 0.55 — app/tagtrans.py)</a:t>
            </a:r>
          </a:p>
          <a:p>
            <a:pPr>
              <a:spcAft>
                <a:spcPts val="600"/>
              </a:spcAft>
            </a:pPr>
            <a:r>
              <a:rPr sz="1400" b="1" i="0">
                <a:solidFill>
                  <a:srgbClr val="202020"/>
                </a:solidFill>
                <a:latin typeface="맑은 고딕"/>
              </a:rPr>
              <a:t>서비스 견고성 — </a:t>
            </a:r>
            <a:r>
              <a:rPr sz="1400" b="0" i="0">
                <a:solidFill>
                  <a:srgbClr val="202020"/>
                </a:solidFill>
                <a:latin typeface="맑은 고딕"/>
              </a:rPr>
              <a:t>LLM 실패=무해 폴백('충분' 처리로 기존 결과 유지) · 서버 다운=프론트 mock 폴백 · 지역 결과 부족(k 미만)=완화 사다리(세부→버킷→전체, server.py:586-598) · 하드 배제는 어떤 완화에도 안 풀림(:191-217) · 응답 1~3초</a:t>
            </a:r>
          </a:p>
          <a:p>
            <a:pPr>
              <a:spcAft>
                <a:spcPts val="600"/>
              </a:spcAft>
            </a:pPr>
            <a:r>
              <a:rPr sz="1400" b="1" i="0">
                <a:solidFill>
                  <a:srgbClr val="202020"/>
                </a:solidFill>
                <a:latin typeface="맑은 고딕"/>
              </a:rPr>
              <a:t>신뢰성·설득력 — </a:t>
            </a:r>
            <a:r>
              <a:rPr sz="1400" b="0" i="0">
                <a:solidFill>
                  <a:srgbClr val="202020"/>
                </a:solidFill>
                <a:latin typeface="맑은 고딕"/>
              </a:rPr>
              <a:t>인용=사전 인덱스 51,661건에서 원문 그대로 발췌(server.py:451-467) — 지어내기 원천 차단 · 파일럿 75건 검증 실패 0 · Gold 50/Silver 168/Bronze 3단 평가를 약점까지 공개(단, 개편 전 시스템의 스냅샷)</a:t>
            </a:r>
          </a:p>
          <a:p>
            <a:pPr>
              <a:spcAft>
                <a:spcPts val="600"/>
              </a:spcAft>
            </a:pPr>
            <a:r>
              <a:rPr sz="1400" b="1" i="0">
                <a:solidFill>
                  <a:srgbClr val="202020"/>
                </a:solidFill>
                <a:latin typeface="맑은 고딕"/>
              </a:rPr>
              <a:t>보안 — </a:t>
            </a:r>
            <a:r>
              <a:rPr sz="1400" b="0" i="0">
                <a:solidFill>
                  <a:srgbClr val="202020"/>
                </a:solidFill>
                <a:latin typeface="맑은 고딕"/>
              </a:rPr>
              <a:t>서버 키는 환경변수만(Render 대시보드, render.yaml sync:false) · 프론트엔 만료되는 /photos 임시 URL만(server.py:324-348) · .gitignore+.dockerignore 이중 차단</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5행 2열 표. 왼쪽 열=평가 항목명(문제정의/모델설계/견고성/신뢰성/보안, 각 행 앞 체크 아이콘), 오른쪽 열=핵심 실측치 1~2개를 큰 숫자로(142그룹·24.6% / LLM 0회·앵커 93 / 1~3초 / 51,661건·실패 0 / 임시 URL) + 그 아래 작은 회색 글씨로 코드 위치(app/server.py:63 등). '개편 전 스냅샷' 표기는 신뢰성 행에 작은 주석 배지로.</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S7-데모와마무리</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인사이트 3줄 — 원칙은 전부 사건에서 태어났다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프로젝트를 관통한 세 원칙은 관념이 아니라 각각 실측 사건의 흉터다.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판단은 LLM, 사실과 강제는 코드 — </a:t>
            </a:r>
            <a:r>
              <a:rPr sz="1400" b="0" i="0">
                <a:solidFill>
                  <a:srgbClr val="202020"/>
                </a:solidFill>
                <a:latin typeface="맑은 고딕"/>
              </a:rPr>
              <a:t>LLM 추측 지역 라벨의 24.6%가 오답(성산의 '오른'이 제주시내로) → 전량 폐기, 주소에서 코드로 유도 · 태그 사전도 프롬프트 구속은 샜다('밥당라떼') → 강제는 코드 필터가</a:t>
            </a:r>
          </a:p>
          <a:p>
            <a:pPr>
              <a:spcAft>
                <a:spcPts val="600"/>
              </a:spcAft>
            </a:pPr>
            <a:r>
              <a:rPr sz="1400" b="1" i="0">
                <a:solidFill>
                  <a:srgbClr val="202020"/>
                </a:solidFill>
                <a:latin typeface="맑은 고딕"/>
              </a:rPr>
              <a:t>층을 옮기면 독이 약 — </a:t>
            </a:r>
            <a:r>
              <a:rPr sz="1400" b="0" i="0">
                <a:solidFill>
                  <a:srgbClr val="202020"/>
                </a:solidFill>
                <a:latin typeface="맑은 고딕"/>
              </a:rPr>
              <a:t>동료 시드의 키워드 블록 — 임베딩에선 지역 정합 11/20으로 전 지역 질의에 반응하는 스팸 → 임베딩 배제, 라벨층 이식으로 caution 772곳·영업시간 힌트 368곳의 자산</a:t>
            </a:r>
          </a:p>
          <a:p>
            <a:pPr>
              <a:spcAft>
                <a:spcPts val="600"/>
              </a:spcAft>
            </a:pPr>
            <a:r>
              <a:rPr sz="1400" b="1" i="0">
                <a:solidFill>
                  <a:srgbClr val="202020"/>
                </a:solidFill>
                <a:latin typeface="맑은 고딕"/>
              </a:rPr>
              <a:t>횟수가 아니라 사람 수 — </a:t>
            </a:r>
            <a:r>
              <a:rPr sz="1400" b="0" i="0">
                <a:solidFill>
                  <a:srgbClr val="202020"/>
                </a:solidFill>
                <a:latin typeface="맑은 고딕"/>
              </a:rPr>
              <a:t>프릳츠 9조각 사건 — 블로거 신호가 91·91·91…로 쪼개져 부패 → place_id 병합+union 합산으로 고유 블로거 211명 복원, 도배·옛글에 오염되지 않는 유일한 신호</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3단 세로 카드. 각 카드: 상단=인사이트 한 문장(대형 타이포), 하단=사건 미니 도식 — ①24.6% 오염 파이 차트와 'LLM 라벨→주소 유도' 화살표 ②'임베딩층(독)→라벨층(약)' 층 이동 화살표와 772·368 숫자 배지 ③9개 조각 카드가 1장으로 합쳐지며 '91+91+…→211명(union)' 표기.</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S7-데모와마무리</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한계와 로드맵 — 정직하게</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남은 약점 4가지를 수치로 공개하고, 즉시→3주 로드맵으로 잇는다 — 지난 덱의 P0·P1은 이미 구현 완료라 로드맵은 선언이 아니라 소화되는 목록이다.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약점① 표현 안정성 — </a:t>
            </a:r>
            <a:r>
              <a:rPr sz="1400" b="0" i="0">
                <a:solidFill>
                  <a:srgbClr val="202020"/>
                </a:solidFill>
                <a:latin typeface="맑은 고딕"/>
              </a:rPr>
              <a:t>같은 의도의 다른 표현에 결과가 흔들림 — 안정성@10 22.8% (개편 전 스냅샷)</a:t>
            </a:r>
          </a:p>
          <a:p>
            <a:pPr>
              <a:spcAft>
                <a:spcPts val="600"/>
              </a:spcAft>
            </a:pPr>
            <a:r>
              <a:rPr sz="1400" b="1" i="0">
                <a:solidFill>
                  <a:srgbClr val="202020"/>
                </a:solidFill>
                <a:latin typeface="맑은 고딕"/>
              </a:rPr>
              <a:t>약점② 태그 노이즈 — </a:t>
            </a:r>
            <a:r>
              <a:rPr sz="1400" b="0" i="0">
                <a:solidFill>
                  <a:srgbClr val="202020"/>
                </a:solidFill>
                <a:latin typeface="맑은 고딕"/>
              </a:rPr>
              <a:t>유사쌍 분열 — 조용 210장 vs 조용함 202장, 애견 211 vs 애견동반 202 (통합 필요)</a:t>
            </a:r>
          </a:p>
          <a:p>
            <a:pPr>
              <a:spcAft>
                <a:spcPts val="600"/>
              </a:spcAft>
            </a:pPr>
            <a:r>
              <a:rPr sz="1400" b="1" i="0">
                <a:solidFill>
                  <a:srgbClr val="202020"/>
                </a:solidFill>
                <a:latin typeface="맑은 고딕"/>
              </a:rPr>
              <a:t>약점③ 신원·지역 공백 — </a:t>
            </a:r>
            <a:r>
              <a:rPr sz="1400" b="0" i="0">
                <a:solidFill>
                  <a:srgbClr val="202020"/>
                </a:solidFill>
                <a:latin typeface="맑은 고딕"/>
              </a:rPr>
              <a:t>place_id 미확보 카드 208/831(25%, 작업명단 1,015 기준으론 81% 확보) · 지역 버킷 미지정 148장(17.8%)</a:t>
            </a:r>
          </a:p>
          <a:p>
            <a:pPr>
              <a:spcAft>
                <a:spcPts val="600"/>
              </a:spcAft>
            </a:pPr>
            <a:r>
              <a:rPr sz="1400" b="1" i="0">
                <a:solidFill>
                  <a:srgbClr val="202020"/>
                </a:solidFill>
                <a:latin typeface="맑은 고딕"/>
              </a:rPr>
              <a:t>약점④ 평가 공백 — </a:t>
            </a:r>
            <a:r>
              <a:rPr sz="1400" b="0" i="0">
                <a:solidFill>
                  <a:srgbClr val="202020"/>
                </a:solidFill>
                <a:latin typeface="맑은 고딕"/>
              </a:rPr>
              <a:t>Gold/Silver/Bronze는 개편 전 측정 — 개편 후 시스템의 정량 재측정 미완 (골든셋 하네스 재가동 필요)</a:t>
            </a:r>
          </a:p>
          <a:p>
            <a:pPr>
              <a:spcAft>
                <a:spcPts val="600"/>
              </a:spcAft>
            </a:pPr>
            <a:r>
              <a:rPr sz="1400" b="1" i="0">
                <a:solidFill>
                  <a:srgbClr val="202020"/>
                </a:solidFill>
                <a:latin typeface="맑은 고딕"/>
              </a:rPr>
              <a:t>로드맵 — </a:t>
            </a:r>
            <a:r>
              <a:rPr sz="1400" b="0" i="0">
                <a:solidFill>
                  <a:srgbClr val="202020"/>
                </a:solidFill>
                <a:latin typeface="맑은 고딕"/>
              </a:rPr>
              <a:t>즉시=태그 유사쌍 통합·일반명 노이즈 카드 정리 → 1주=W5 배선(router·relax·synthesize의 server 통합)+'이렇게 찾았어요'·정직한 0건 UI → 2주=골든셋 재측정(개편 전후 비교) → 3주=place_id·지역 공백 해소+동의어 확장</a:t>
            </a:r>
          </a:p>
          <a:p>
            <a:pPr>
              <a:spcAft>
                <a:spcPts val="600"/>
              </a:spcAft>
            </a:pPr>
            <a:r>
              <a:rPr sz="1400" b="0" i="0">
                <a:solidFill>
                  <a:srgbClr val="202020"/>
                </a:solidFill>
                <a:latin typeface="맑은 고딕"/>
              </a:rPr>
              <a:t>· 지난 덱의 즉시·1주 항목(P0 폐업 차단 · P1 place_id 병합)은 이번 주 이미 구현 완료</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좌우 2분할. 좌: 약점 4개 리스트, 각 항목 오른쪽에 수치 배지(22.8% / 210·202 / 25% / 재측정 필요)와 '개편 전 스냅샷' 소형 주석. 우: 즉시→1주→2주→3주 가로 타임라인(각 마디에 한 줄 작업명), 타임라인 왼쪽 시작점 앞에 회색 체크 2개(P0 폐업 차단 ✓ · P1 place_id 병합 ✓ — '이미 완료' 라벨)를 붙여 소화 이력을 시각화.</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S7-데모와마무리</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클로징 — 임베딩은 번역하고, LLM은 증언을 배열한다</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모든 추천 문장에 출처가 있는 검색 — 신뢰는 컨셉이 아니라 데이터 구조라는 것이 이 프로젝트의 결론이다.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0" i="0">
                <a:solidFill>
                  <a:srgbClr val="202020"/>
                </a:solidFill>
                <a:latin typeface="맑은 고딕"/>
              </a:rPr>
              <a:t>· 임베딩은 카페를 찾지 않는다 — 사용자의 언어를 태그로 번역한다</a:t>
            </a:r>
          </a:p>
          <a:p>
            <a:pPr>
              <a:spcAft>
                <a:spcPts val="600"/>
              </a:spcAft>
            </a:pPr>
            <a:r>
              <a:rPr sz="1400" b="0" i="0">
                <a:solidFill>
                  <a:srgbClr val="202020"/>
                </a:solidFill>
                <a:latin typeface="맑은 고딕"/>
              </a:rPr>
              <a:t>· LLM은 사실을 만들지 않는다 — 검증된 증언을 배열한다</a:t>
            </a:r>
          </a:p>
          <a:p>
            <a:pPr>
              <a:spcAft>
                <a:spcPts val="600"/>
              </a:spcAft>
            </a:pPr>
            <a:r>
              <a:rPr sz="1400" b="0" i="0">
                <a:solidFill>
                  <a:srgbClr val="202020"/>
                </a:solidFill>
                <a:latin typeface="맑은 고딕"/>
              </a:rPr>
              <a:t>· 모든 추천 문장에는 출처가 있다 — 좋은 말만 고르지 않고, 없으면 없다고 말한다</a:t>
            </a:r>
          </a:p>
          <a:p>
            <a:pPr>
              <a:spcAft>
                <a:spcPts val="600"/>
              </a:spcAft>
            </a:pPr>
            <a:r>
              <a:rPr sz="1400" b="0" i="0">
                <a:solidFill>
                  <a:srgbClr val="202020"/>
                </a:solidFill>
                <a:latin typeface="맑은 고딕"/>
              </a:rPr>
              <a:t>· 카페 인 제주 (Caffe-IN Jeju) · 팀 마요선수 — Q&amp;A: 어떤 수치든 실측 로그와 코드 위치로 답하겠습니다</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중앙 대형 타이포 2줄: '임베딩은 번역하고, LLM은 증언을 배열한다' / '모든 추천 문장에는 출처가 있다'. 하단 중앙에 서비스명(카페 인 제주 · Caffe-IN Jeju)과 팀명(팀 마요선수), 그 아래 'Q&amp;A' 표기. 배경은 데모의 카카오맵 화면을 흐림 처리한 이미지.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7680960" cy="914400"/>
          </a:xfrm>
          <a:prstGeom prst="rect">
            <a:avLst/>
          </a:prstGeom>
          <a:noFill/>
        </p:spPr>
        <p:txBody>
          <a:bodyPr wrap="square">
            <a:spAutoFit/>
          </a:bodyPr>
          <a:lstStyle/>
          <a:p>
            <a:r>
              <a:rPr sz="3400" b="1" i="0">
                <a:solidFill>
                  <a:srgbClr val="202020"/>
                </a:solidFill>
                <a:latin typeface="맑은 고딕"/>
              </a:rPr>
              <a:t>부록</a:t>
            </a:r>
          </a:p>
        </p:txBody>
      </p:sp>
      <p:sp>
        <p:nvSpPr>
          <p:cNvPr id="3" name="TextBox 2"/>
          <p:cNvSpPr txBox="1"/>
          <p:nvPr/>
        </p:nvSpPr>
        <p:spPr>
          <a:xfrm>
            <a:off x="731520" y="2834640"/>
            <a:ext cx="7680960" cy="731520"/>
          </a:xfrm>
          <a:prstGeom prst="rect">
            <a:avLst/>
          </a:prstGeom>
          <a:noFill/>
        </p:spPr>
        <p:txBody>
          <a:bodyPr wrap="square">
            <a:spAutoFit/>
          </a:bodyPr>
          <a:lstStyle/>
          <a:p>
            <a:r>
              <a:rPr sz="1400" b="0" i="0">
                <a:solidFill>
                  <a:srgbClr val="777777"/>
                </a:solidFill>
                <a:latin typeface="맑은 고딕"/>
              </a:rPr>
              <a:t>Q&amp;A 은행 · 데이터 실측 표 · 용어집</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부록-용어집</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부록 ① 용어집 — 기술 기초 (놓치셨다면 여기로)</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발표에 나온 일반 기술 용어를 일상어 정의와 이 프로젝트의 실제 쓰임으로 다시 확인하는 안전망.</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RAG(검색 증강 생성) — </a:t>
            </a:r>
            <a:r>
              <a:rPr sz="1400" b="0" i="0">
                <a:solidFill>
                  <a:srgbClr val="202020"/>
                </a:solidFill>
                <a:latin typeface="맑은 고딕"/>
              </a:rPr>
              <a:t>LLM이 답하기 전에 관련 자료를 먼저 '검색'해오고, 그 근거 위에서만 답하게 하는 방식. 우리 서비스: 정본 카드 831장에서 카페를 찾고, 추천 이유는 카드에 실재하는 사실(지역·태그·블로거 수)로만 코드가 조립하며, 인용문은 원문에서 글자 그대로만 가져온다</a:t>
            </a:r>
          </a:p>
          <a:p>
            <a:pPr>
              <a:spcAft>
                <a:spcPts val="600"/>
              </a:spcAft>
            </a:pPr>
            <a:r>
              <a:rPr sz="1400" b="1" i="0">
                <a:solidFill>
                  <a:srgbClr val="202020"/>
                </a:solidFill>
                <a:latin typeface="맑은 고딕"/>
              </a:rPr>
              <a:t>LLM / gpt-5-mini — </a:t>
            </a:r>
            <a:r>
              <a:rPr sz="1400" b="0" i="0">
                <a:solidFill>
                  <a:srgbClr val="202020"/>
                </a:solidFill>
                <a:latin typeface="맑은 고딕"/>
              </a:rPr>
              <a:t>LLM=대량의 글을 학습해 사람의 말·글을 읽고 쓰는 인공지능(예: ChatGPT). gpt-5-mini는 우리가 쓴 OpenAI의 경량 LLM — 오프라인 정제(996곳 요약·태그)와 런타임 /agent 경로 2회(결과 판단·근거 종합)에만 제한적으로 쓴다. 기본 검색(/search)은 LLM 호출 0회</a:t>
            </a:r>
          </a:p>
          <a:p>
            <a:pPr>
              <a:spcAft>
                <a:spcPts val="600"/>
              </a:spcAft>
            </a:pPr>
            <a:r>
              <a:rPr sz="1400" b="1" i="0">
                <a:solidFill>
                  <a:srgbClr val="202020"/>
                </a:solidFill>
                <a:latin typeface="맑은 고딕"/>
              </a:rPr>
              <a:t>임베딩 — </a:t>
            </a:r>
            <a:r>
              <a:rPr sz="1400" b="0" i="0">
                <a:solidFill>
                  <a:srgbClr val="202020"/>
                </a:solidFill>
                <a:latin typeface="맑은 고딕"/>
              </a:rPr>
              <a:t>문장을 숫자 좌표로 바꿔 뜻이 비슷한 말끼리 가까이 놓이게 하는 기술(모델: text-embedding-3-large). 우리는 '석양빛'이라는 말이 '노을' 태그 근처에 놓이는 성질을 두 용도로 쓴다 — 조건 검색의 후보 '소집' 그물, 그리고 사용자 언어를 태그로 옮기는 '번역기'. 카페 확정은 임베딩 점수가 아니라 조건어가 카드 근거에 실재하는지를 코드가 확인한다</a:t>
            </a:r>
          </a:p>
          <a:p>
            <a:pPr>
              <a:spcAft>
                <a:spcPts val="600"/>
              </a:spcAft>
            </a:pPr>
            <a:r>
              <a:rPr sz="1400" b="1" i="0">
                <a:solidFill>
                  <a:srgbClr val="202020"/>
                </a:solidFill>
                <a:latin typeface="맑은 고딕"/>
              </a:rPr>
              <a:t>벡터 / 벡터DB(Chroma) — </a:t>
            </a:r>
            <a:r>
              <a:rPr sz="1400" b="0" i="0">
                <a:solidFill>
                  <a:srgbClr val="202020"/>
                </a:solidFill>
                <a:latin typeface="맑은 고딕"/>
              </a:rPr>
              <a:t>벡터=임베딩이 만든 숫자 좌표 한 줄. 벡터DB=그 좌표들을 모아두고 '가장 가까운 것'을 빨리 찾아주는 창고. 우리는 Chroma에 카드 요약 985문서를 저장하고, 태그 번역용 앵커 93개는 별도 파일로 보관한다</a:t>
            </a:r>
          </a:p>
          <a:p>
            <a:pPr>
              <a:spcAft>
                <a:spcPts val="600"/>
              </a:spcAft>
            </a:pPr>
            <a:r>
              <a:rPr sz="1400" b="1" i="0">
                <a:solidFill>
                  <a:srgbClr val="202020"/>
                </a:solidFill>
                <a:latin typeface="맑은 고딕"/>
              </a:rPr>
              <a:t>배치 / 런타임 — </a:t>
            </a:r>
            <a:r>
              <a:rPr sz="1400" b="0" i="0">
                <a:solidFill>
                  <a:srgbClr val="202020"/>
                </a:solidFill>
                <a:latin typeface="맑은 고딕"/>
              </a:rPr>
              <a:t>배치=손님 오기 전에 미리 돌려두는 '공장'(수집·정제·카드 굽기 — 카드 내용을 만드는 LLM 판단은 전부 여기서 끝냄). 런타임=사용자 질문을 받는 '창구'(구워둔 카드를 읽기만 함). 카드가 틀리면 창구가 아니라 공장을 다시 돌린다</a:t>
            </a:r>
          </a:p>
          <a:p>
            <a:pPr>
              <a:spcAft>
                <a:spcPts val="600"/>
              </a:spcAft>
            </a:pPr>
            <a:r>
              <a:rPr sz="1400" b="1" i="0">
                <a:solidFill>
                  <a:srgbClr val="202020"/>
                </a:solidFill>
                <a:latin typeface="맑은 고딕"/>
              </a:rPr>
              <a:t>FastAPI / 콜드스타트 — </a:t>
            </a:r>
            <a:r>
              <a:rPr sz="1400" b="0" i="0">
                <a:solidFill>
                  <a:srgbClr val="202020"/>
                </a:solidFill>
                <a:latin typeface="맑은 고딕"/>
              </a:rPr>
              <a:t>FastAPI=파이썬으로 웹 API 서버를 만드는 도구 — /search·/agent·/evidence·/photos 창구가 전부 이 위에서 돈다. 콜드스타트=무료 배포 서버가 15분간 손님이 없으면 잠들었다가 첫 요청 때 깨어나며 생기는 대기 시간(데모 전에 미리 접속해 깨워두는 이유)</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2단 용어집 표: 왼쪽 열=용어(굵게, 예: 'RAG', '임베딩'), 오른쪽 열=정의 1문장+'우리 서비스에서는' 예시 1문장(예시 부분은 옅은 배경 하이라이트). 6행. 상단에 작은 안내 배지 '발표 중 놓친 용어는 여기로'.</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spAutoFit/>
          </a:bodyPr>
          <a:lstStyle/>
          <a:p>
            <a:r>
              <a:rPr sz="1100" b="1" i="0">
                <a:solidFill>
                  <a:srgbClr val="777777"/>
                </a:solidFill>
                <a:latin typeface="맑은 고딕"/>
              </a:rPr>
              <a:t>부록-용어집</a:t>
            </a:r>
          </a:p>
        </p:txBody>
      </p:sp>
      <p:sp>
        <p:nvSpPr>
          <p:cNvPr id="3" name="TextBox 2"/>
          <p:cNvSpPr txBox="1"/>
          <p:nvPr/>
        </p:nvSpPr>
        <p:spPr>
          <a:xfrm>
            <a:off x="457200" y="411480"/>
            <a:ext cx="8229600" cy="548640"/>
          </a:xfrm>
          <a:prstGeom prst="rect">
            <a:avLst/>
          </a:prstGeom>
          <a:noFill/>
        </p:spPr>
        <p:txBody>
          <a:bodyPr wrap="square">
            <a:spAutoFit/>
          </a:bodyPr>
          <a:lstStyle/>
          <a:p>
            <a:r>
              <a:rPr sz="2400" b="1" i="0">
                <a:solidFill>
                  <a:srgbClr val="202020"/>
                </a:solidFill>
                <a:latin typeface="맑은 고딕"/>
              </a:rPr>
              <a:t>부록 ② 용어집 — 이 프로젝트의 언어</a:t>
            </a:r>
          </a:p>
        </p:txBody>
      </p:sp>
      <p:sp>
        <p:nvSpPr>
          <p:cNvPr id="4" name="TextBox 3"/>
          <p:cNvSpPr txBox="1"/>
          <p:nvPr/>
        </p:nvSpPr>
        <p:spPr>
          <a:xfrm>
            <a:off x="457200" y="960120"/>
            <a:ext cx="8229600" cy="411480"/>
          </a:xfrm>
          <a:prstGeom prst="rect">
            <a:avLst/>
          </a:prstGeom>
          <a:noFill/>
        </p:spPr>
        <p:txBody>
          <a:bodyPr wrap="square">
            <a:spAutoFit/>
          </a:bodyPr>
          <a:lstStyle/>
          <a:p>
            <a:r>
              <a:rPr sz="1300" b="1" i="0">
                <a:solidFill>
                  <a:srgbClr val="C05028"/>
                </a:solidFill>
                <a:latin typeface="맑은 고딕"/>
              </a:rPr>
              <a:t>팀이 만들며 굳힌 프로젝트 고유 용어 — 이 낱말들만 알면 발표 전체의 설계 결정이 다시 읽힌다.</a:t>
            </a:r>
          </a:p>
        </p:txBody>
      </p:sp>
      <p:sp>
        <p:nvSpPr>
          <p:cNvPr id="5" name="TextBox 4"/>
          <p:cNvSpPr txBox="1"/>
          <p:nvPr/>
        </p:nvSpPr>
        <p:spPr>
          <a:xfrm>
            <a:off x="457200" y="1417320"/>
            <a:ext cx="8229600" cy="3063240"/>
          </a:xfrm>
          <a:prstGeom prst="rect">
            <a:avLst/>
          </a:prstGeom>
          <a:noFill/>
        </p:spPr>
        <p:txBody>
          <a:bodyPr wrap="square">
            <a:spAutoFit/>
          </a:bodyPr>
          <a:lstStyle/>
          <a:p>
            <a:pPr>
              <a:spcAft>
                <a:spcPts val="600"/>
              </a:spcAft>
            </a:pPr>
            <a:r>
              <a:rPr sz="1400" b="1" i="0">
                <a:solidFill>
                  <a:srgbClr val="202020"/>
                </a:solidFill>
                <a:latin typeface="맑은 고딕"/>
              </a:rPr>
              <a:t>태그 사전(통제 어휘) — </a:t>
            </a:r>
            <a:r>
              <a:rPr sz="1400" b="0" i="0">
                <a:solidFill>
                  <a:srgbClr val="202020"/>
                </a:solidFill>
                <a:latin typeface="맑은 고딕"/>
              </a:rPr>
              <a:t>검색에 쓰기로 약속한 공식 어휘 목록(오션뷰·노을·애견동반 등 23종 — 데이터 빈도로 승격된 포토존·핸드드립·한라산뷰 포함). 세상의 온갖 표현을 이 목록 안 단어로만 받아 적게 해서, 추천 이유를 항상 '셀 수 있는' 신호로 만든다</a:t>
            </a:r>
          </a:p>
          <a:p>
            <a:pPr>
              <a:spcAft>
                <a:spcPts val="600"/>
              </a:spcAft>
            </a:pPr>
            <a:r>
              <a:rPr sz="1400" b="1" i="0">
                <a:solidFill>
                  <a:srgbClr val="202020"/>
                </a:solidFill>
                <a:latin typeface="맑은 고딕"/>
              </a:rPr>
              <a:t>하드조건 / 소프트조건 — </a:t>
            </a:r>
            <a:r>
              <a:rPr sz="1400" b="0" i="0">
                <a:solidFill>
                  <a:srgbClr val="202020"/>
                </a:solidFill>
                <a:latin typeface="맑은 고딕"/>
              </a:rPr>
              <a:t>하드=절대 양보 못 하는 조건(애견동반 필수, 노키즈존 회피 등 — 어떤 완화에도 안 풀림). 소프트=아쉬우면 양보할 수 있는 취향(노을·조용함). '애견동반 필수인 사람에게 동반 불가 카페를 대안이라 주지 않는다'가 이 구분의 존재 이유</a:t>
            </a:r>
          </a:p>
          <a:p>
            <a:pPr>
              <a:spcAft>
                <a:spcPts val="600"/>
              </a:spcAft>
            </a:pPr>
            <a:r>
              <a:rPr sz="1400" b="1" i="0">
                <a:solidFill>
                  <a:srgbClr val="202020"/>
                </a:solidFill>
                <a:latin typeface="맑은 고딕"/>
              </a:rPr>
              <a:t>다수결(고유 블로거 수) — </a:t>
            </a:r>
            <a:r>
              <a:rPr sz="1400" b="0" i="0">
                <a:solidFill>
                  <a:srgbClr val="202020"/>
                </a:solidFill>
                <a:latin typeface="맑은 고딕"/>
              </a:rPr>
              <a:t>언급 '횟수'가 아니라 언급한 '사람 수'를 세는 정렬 신호. 한 명이 열 번 말한 카페보다 열 명이 한 번씩 말한 카페가 진짜 — 도배와 옛글에 오염되지 않는 유일한 인기 신호</a:t>
            </a:r>
          </a:p>
          <a:p>
            <a:pPr>
              <a:spcAft>
                <a:spcPts val="600"/>
              </a:spcAft>
            </a:pPr>
            <a:r>
              <a:rPr sz="1400" b="1" i="0">
                <a:solidFill>
                  <a:srgbClr val="202020"/>
                </a:solidFill>
                <a:latin typeface="맑은 고딕"/>
              </a:rPr>
              <a:t>place_id / 정본화·병합 — </a:t>
            </a:r>
            <a:r>
              <a:rPr sz="1400" b="0" i="0">
                <a:solidFill>
                  <a:srgbClr val="202020"/>
                </a:solidFill>
                <a:latin typeface="맑은 고딕"/>
              </a:rPr>
              <a:t>place_id=카카오가 장소마다 부여한 영구 번호(가게의 주민등록번호). 정본화·병합=표기 차이로 9조각 났던 '프릳츠'를 이 번호로 한 장의 정본 카드로 합치는 작업 — 이름 1,064개가 정본 카드 831장이 됐다</a:t>
            </a:r>
          </a:p>
          <a:p>
            <a:pPr>
              <a:spcAft>
                <a:spcPts val="600"/>
              </a:spcAft>
            </a:pPr>
            <a:r>
              <a:rPr sz="1400" b="1" i="0">
                <a:solidFill>
                  <a:srgbClr val="202020"/>
                </a:solidFill>
                <a:latin typeface="맑은 고딕"/>
              </a:rPr>
              <a:t>만능 자석 — </a:t>
            </a:r>
            <a:r>
              <a:rPr sz="1400" b="0" i="0">
                <a:solidFill>
                  <a:srgbClr val="202020"/>
                </a:solidFill>
                <a:latin typeface="맑은 고딕"/>
              </a:rPr>
              <a:t>'너무 좋아요' 같은 감정 문장을 임베딩에 넣으면 아무 검색어에나 다 걸리는 현상. 그래서 반응 텍스트는 임베딩 금지, 표시층에서만 쓴다 — '층을 옮기면 독이 약이 된다'</a:t>
            </a:r>
          </a:p>
          <a:p>
            <a:pPr>
              <a:spcAft>
                <a:spcPts val="600"/>
              </a:spcAft>
            </a:pPr>
            <a:r>
              <a:rPr sz="1400" b="1" i="0">
                <a:solidFill>
                  <a:srgbClr val="202020"/>
                </a:solidFill>
                <a:latin typeface="맑은 고딕"/>
              </a:rPr>
              <a:t>완화 사다리 — </a:t>
            </a:r>
            <a:r>
              <a:rPr sz="1400" b="0" i="0">
                <a:solidFill>
                  <a:srgbClr val="202020"/>
                </a:solidFill>
                <a:latin typeface="맑은 고딕"/>
              </a:rPr>
              <a:t>결과가 부족할 때 한 칸씩 양보하며 다시 찾는 절차 — 지역은 세부→버킷→전체로 넓히고(서버 내장), 소프트조건은 판단 루프가 지목한 것부터 뺀다. 하드조건은 사다리 끝까지 불가침. '조용함 조건을 빼고 찾았어요' 같은 완화 문구의 화면 노출은 검증까지 끝나 서버 연결(배선) 대기</a:t>
            </a:r>
          </a:p>
          <a:p>
            <a:pPr>
              <a:spcAft>
                <a:spcPts val="600"/>
              </a:spcAft>
            </a:pPr>
            <a:r>
              <a:rPr sz="1400" b="1" i="0">
                <a:solidFill>
                  <a:srgbClr val="202020"/>
                </a:solidFill>
                <a:latin typeface="맑은 고딕"/>
              </a:rPr>
              <a:t>깔때기(funnel) — </a:t>
            </a:r>
            <a:r>
              <a:rPr sz="1400" b="0" i="0">
                <a:solidFill>
                  <a:srgbClr val="202020"/>
                </a:solidFill>
                <a:latin typeface="맑은 고딕"/>
              </a:rPr>
              <a:t>후보가 단계마다 줄어든 과정의 기록 — 전체 831 → 애월 87 → 노을 12 → 상위 5. 지금은 debug 모드에서 이 숫자 흐름을 재구성할 수 있고, '이렇게 찾았어요'로 사용자 화면에 노출하는 것은 설계 완료·구현 대기</a:t>
            </a:r>
          </a:p>
          <a:p>
            <a:pPr>
              <a:spcAft>
                <a:spcPts val="600"/>
              </a:spcAft>
            </a:pPr>
            <a:r>
              <a:rPr sz="1400" b="1" i="0">
                <a:solidFill>
                  <a:srgbClr val="202020"/>
                </a:solidFill>
                <a:latin typeface="맑은 고딕"/>
              </a:rPr>
              <a:t>원문 부분문자열 검증 — </a:t>
            </a:r>
            <a:r>
              <a:rPr sz="1400" b="0" i="0">
                <a:solidFill>
                  <a:srgbClr val="202020"/>
                </a:solidFill>
                <a:latin typeface="맑은 고딕"/>
              </a:rPr>
              <a:t>화면에 나가는 모든 인용문이 실제 원문 안에 '글자 그대로' 들어있는지 코드가 대조하는 검사. 한 글자라도 다르면 폐기 — 지어낸 인용이 구조적으로 불가능한 이유(파일럿 75건, 검증 실패 0)</a:t>
            </a:r>
          </a:p>
        </p:txBody>
      </p:sp>
      <p:sp>
        <p:nvSpPr>
          <p:cNvPr id="6" name="TextBox 5"/>
          <p:cNvSpPr txBox="1"/>
          <p:nvPr/>
        </p:nvSpPr>
        <p:spPr>
          <a:xfrm>
            <a:off x="457200" y="4366260"/>
            <a:ext cx="8229600" cy="502920"/>
          </a:xfrm>
          <a:prstGeom prst="rect">
            <a:avLst/>
          </a:prstGeom>
          <a:noFill/>
        </p:spPr>
        <p:txBody>
          <a:bodyPr wrap="square">
            <a:spAutoFit/>
          </a:bodyPr>
          <a:lstStyle/>
          <a:p>
            <a:r>
              <a:rPr sz="1000" b="0" i="1">
                <a:solidFill>
                  <a:srgbClr val="777777"/>
                </a:solidFill>
                <a:latin typeface="맑은 고딕"/>
              </a:rPr>
              <a:t>[비주얼] 2단 용어집 표: 왼쪽 열=용어(굵게), 오른쪽 열=정의+프로젝트 예시. 8행. 4행(place_id)에는 미니 도식 '프릳츠 9조각 → 카드 1장', 7행(깔때기)에는 미니 가로 깔때기 '831→87→12→5'를 아이콘 크기로 삽입. 하단 각주: '태그 사전 23종·앵커 93개는 현재 런타임 실측 기준'.</a:t>
            </a:r>
          </a:p>
        </p:txBody>
      </p:sp>
      <p:sp>
        <p:nvSpPr>
          <p:cNvPr id="7" name="TextBox 6"/>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1) 카드 총계</a:t>
            </a:r>
          </a:p>
        </p:txBody>
      </p:sp>
      <p:graphicFrame>
        <p:nvGraphicFramePr>
          <p:cNvPr id="3" name="Table 2"/>
          <p:cNvGraphicFramePr>
            <a:graphicFrameLocks noGrp="1"/>
          </p:cNvGraphicFramePr>
          <p:nvPr/>
        </p:nvGraphicFramePr>
        <p:xfrm>
          <a:off x="457200" y="822960"/>
          <a:ext cx="8229600" cy="2633472"/>
        </p:xfrm>
        <a:graphic>
          <a:graphicData uri="http://schemas.openxmlformats.org/drawingml/2006/table">
            <a:tbl>
              <a:tblPr firstRow="1" bandRow="1">
                <a:tableStyleId>{5C22544A-7EE6-4342-B048-85BDC9FD1C3A}</a:tableStyleId>
              </a:tblPr>
              <a:tblGrid>
                <a:gridCol w="2743200"/>
                <a:gridCol w="2743200"/>
                <a:gridCol w="2743200"/>
              </a:tblGrid>
              <a:tr h="292608">
                <a:tc>
                  <a:txBody>
                    <a:bodyPr/>
                    <a:lstStyle/>
                    <a:p>
                      <a:r>
                        <a:rPr sz="1100" b="1">
                          <a:latin typeface="맑은 고딕"/>
                        </a:rPr>
                        <a:t>항목</a:t>
                      </a:r>
                    </a:p>
                  </a:txBody>
                  <a:tcPr/>
                </a:tc>
                <a:tc>
                  <a:txBody>
                    <a:bodyPr/>
                    <a:lstStyle/>
                    <a:p>
                      <a:r>
                        <a:rPr sz="1100" b="1">
                          <a:latin typeface="맑은 고딕"/>
                        </a:rPr>
                        <a:t>값</a:t>
                      </a:r>
                    </a:p>
                  </a:txBody>
                  <a:tcPr/>
                </a:tc>
                <a:tc>
                  <a:txBody>
                    <a:bodyPr/>
                    <a:lstStyle/>
                    <a:p>
                      <a:r>
                        <a:rPr sz="1100" b="1">
                          <a:latin typeface="맑은 고딕"/>
                        </a:rPr>
                        <a:t>비율</a:t>
                      </a:r>
                    </a:p>
                  </a:txBody>
                  <a:tcPr/>
                </a:tc>
              </a:tr>
              <a:tr h="292608">
                <a:tc>
                  <a:txBody>
                    <a:bodyPr/>
                    <a:lstStyle/>
                    <a:p>
                      <a:r>
                        <a:rPr sz="1000">
                          <a:latin typeface="맑은 고딕"/>
                        </a:rPr>
                        <a:t>총 카드 수</a:t>
                      </a:r>
                    </a:p>
                  </a:txBody>
                  <a:tcPr/>
                </a:tc>
                <a:tc>
                  <a:txBody>
                    <a:bodyPr/>
                    <a:lstStyle/>
                    <a:p>
                      <a:r>
                        <a:rPr sz="1000">
                          <a:latin typeface="맑은 고딕"/>
                        </a:rPr>
                        <a:t>831</a:t>
                      </a:r>
                    </a:p>
                  </a:txBody>
                  <a:tcPr/>
                </a:tc>
                <a:tc>
                  <a:txBody>
                    <a:bodyPr/>
                    <a:lstStyle/>
                    <a:p>
                      <a:r>
                        <a:rPr sz="1000">
                          <a:latin typeface="맑은 고딕"/>
                        </a:rPr>
                        <a:t>100%</a:t>
                      </a:r>
                    </a:p>
                  </a:txBody>
                  <a:tcPr/>
                </a:tc>
              </a:tr>
              <a:tr h="292608">
                <a:tc>
                  <a:txBody>
                    <a:bodyPr/>
                    <a:lstStyle/>
                    <a:p>
                      <a:r>
                        <a:rPr sz="1000">
                          <a:latin typeface="맑은 고딕"/>
                        </a:rPr>
                        <a:t>closed=False (영업)</a:t>
                      </a:r>
                    </a:p>
                  </a:txBody>
                  <a:tcPr/>
                </a:tc>
                <a:tc>
                  <a:txBody>
                    <a:bodyPr/>
                    <a:lstStyle/>
                    <a:p>
                      <a:r>
                        <a:rPr sz="1000">
                          <a:latin typeface="맑은 고딕"/>
                        </a:rPr>
                        <a:t>819</a:t>
                      </a:r>
                    </a:p>
                  </a:txBody>
                  <a:tcPr/>
                </a:tc>
                <a:tc>
                  <a:txBody>
                    <a:bodyPr/>
                    <a:lstStyle/>
                    <a:p>
                      <a:r>
                        <a:rPr sz="1000">
                          <a:latin typeface="맑은 고딕"/>
                        </a:rPr>
                        <a:t>98.6%</a:t>
                      </a:r>
                    </a:p>
                  </a:txBody>
                  <a:tcPr/>
                </a:tc>
              </a:tr>
              <a:tr h="292608">
                <a:tc>
                  <a:txBody>
                    <a:bodyPr/>
                    <a:lstStyle/>
                    <a:p>
                      <a:r>
                        <a:rPr sz="1000">
                          <a:latin typeface="맑은 고딕"/>
                        </a:rPr>
                        <a:t>closed=True (폐업)</a:t>
                      </a:r>
                    </a:p>
                  </a:txBody>
                  <a:tcPr/>
                </a:tc>
                <a:tc>
                  <a:txBody>
                    <a:bodyPr/>
                    <a:lstStyle/>
                    <a:p>
                      <a:r>
                        <a:rPr sz="1000">
                          <a:latin typeface="맑은 고딕"/>
                        </a:rPr>
                        <a:t>12</a:t>
                      </a:r>
                    </a:p>
                  </a:txBody>
                  <a:tcPr/>
                </a:tc>
                <a:tc>
                  <a:txBody>
                    <a:bodyPr/>
                    <a:lstStyle/>
                    <a:p>
                      <a:r>
                        <a:rPr sz="1000">
                          <a:latin typeface="맑은 고딕"/>
                        </a:rPr>
                        <a:t>1.4%</a:t>
                      </a:r>
                    </a:p>
                  </a:txBody>
                  <a:tcPr/>
                </a:tc>
              </a:tr>
              <a:tr h="292608">
                <a:tc>
                  <a:txBody>
                    <a:bodyPr/>
                    <a:lstStyle/>
                    <a:p>
                      <a:r>
                        <a:rPr sz="1000">
                          <a:latin typeface="맑은 고딕"/>
                        </a:rPr>
                        <a:t>판정=유지</a:t>
                      </a:r>
                    </a:p>
                  </a:txBody>
                  <a:tcPr/>
                </a:tc>
                <a:tc>
                  <a:txBody>
                    <a:bodyPr/>
                    <a:lstStyle/>
                    <a:p>
                      <a:r>
                        <a:rPr sz="1000">
                          <a:latin typeface="맑은 고딕"/>
                        </a:rPr>
                        <a:t>668</a:t>
                      </a:r>
                    </a:p>
                  </a:txBody>
                  <a:tcPr/>
                </a:tc>
                <a:tc>
                  <a:txBody>
                    <a:bodyPr/>
                    <a:lstStyle/>
                    <a:p>
                      <a:r>
                        <a:rPr sz="1000">
                          <a:latin typeface="맑은 고딕"/>
                        </a:rPr>
                        <a:t>80.4%</a:t>
                      </a:r>
                    </a:p>
                  </a:txBody>
                  <a:tcPr/>
                </a:tc>
              </a:tr>
              <a:tr h="292608">
                <a:tc>
                  <a:txBody>
                    <a:bodyPr/>
                    <a:lstStyle/>
                    <a:p>
                      <a:r>
                        <a:rPr sz="1000">
                          <a:latin typeface="맑은 고딕"/>
                        </a:rPr>
                        <a:t>판정=보류</a:t>
                      </a:r>
                    </a:p>
                  </a:txBody>
                  <a:tcPr/>
                </a:tc>
                <a:tc>
                  <a:txBody>
                    <a:bodyPr/>
                    <a:lstStyle/>
                    <a:p>
                      <a:r>
                        <a:rPr sz="1000">
                          <a:latin typeface="맑은 고딕"/>
                        </a:rPr>
                        <a:t>114</a:t>
                      </a:r>
                    </a:p>
                  </a:txBody>
                  <a:tcPr/>
                </a:tc>
                <a:tc>
                  <a:txBody>
                    <a:bodyPr/>
                    <a:lstStyle/>
                    <a:p>
                      <a:r>
                        <a:rPr sz="1000">
                          <a:latin typeface="맑은 고딕"/>
                        </a:rPr>
                        <a:t>13.7%</a:t>
                      </a:r>
                    </a:p>
                  </a:txBody>
                  <a:tcPr/>
                </a:tc>
              </a:tr>
              <a:tr h="292608">
                <a:tc>
                  <a:txBody>
                    <a:bodyPr/>
                    <a:lstStyle/>
                    <a:p>
                      <a:r>
                        <a:rPr sz="1000">
                          <a:latin typeface="맑은 고딕"/>
                        </a:rPr>
                        <a:t>판정=빈값</a:t>
                      </a:r>
                    </a:p>
                  </a:txBody>
                  <a:tcPr/>
                </a:tc>
                <a:tc>
                  <a:txBody>
                    <a:bodyPr/>
                    <a:lstStyle/>
                    <a:p>
                      <a:r>
                        <a:rPr sz="1000">
                          <a:latin typeface="맑은 고딕"/>
                        </a:rPr>
                        <a:t>49</a:t>
                      </a:r>
                    </a:p>
                  </a:txBody>
                  <a:tcPr/>
                </a:tc>
                <a:tc>
                  <a:txBody>
                    <a:bodyPr/>
                    <a:lstStyle/>
                    <a:p>
                      <a:r>
                        <a:rPr sz="1000">
                          <a:latin typeface="맑은 고딕"/>
                        </a:rPr>
                        <a:t>5.9%</a:t>
                      </a:r>
                    </a:p>
                  </a:txBody>
                  <a:tcPr/>
                </a:tc>
              </a:tr>
              <a:tr h="292608">
                <a:tc>
                  <a:txBody>
                    <a:bodyPr/>
                    <a:lstStyle/>
                    <a:p>
                      <a:r>
                        <a:rPr sz="1000">
                          <a:latin typeface="맑은 고딕"/>
                        </a:rPr>
                        <a:t>place_id 보유</a:t>
                      </a:r>
                    </a:p>
                  </a:txBody>
                  <a:tcPr/>
                </a:tc>
                <a:tc>
                  <a:txBody>
                    <a:bodyPr/>
                    <a:lstStyle/>
                    <a:p>
                      <a:r>
                        <a:rPr sz="1000">
                          <a:latin typeface="맑은 고딕"/>
                        </a:rPr>
                        <a:t>623</a:t>
                      </a:r>
                    </a:p>
                  </a:txBody>
                  <a:tcPr/>
                </a:tc>
                <a:tc>
                  <a:txBody>
                    <a:bodyPr/>
                    <a:lstStyle/>
                    <a:p>
                      <a:r>
                        <a:rPr sz="1000">
                          <a:latin typeface="맑은 고딕"/>
                        </a:rPr>
                        <a:t>75.0%</a:t>
                      </a:r>
                    </a:p>
                  </a:txBody>
                  <a:tcPr/>
                </a:tc>
              </a:tr>
              <a:tr h="292608">
                <a:tc>
                  <a:txBody>
                    <a:bodyPr/>
                    <a:lstStyle/>
                    <a:p>
                      <a:r>
                        <a:rPr sz="1000">
                          <a:latin typeface="맑은 고딕"/>
                        </a:rPr>
                        <a:t>좌표(lat/lng) 보유</a:t>
                      </a:r>
                    </a:p>
                  </a:txBody>
                  <a:tcPr/>
                </a:tc>
                <a:tc>
                  <a:txBody>
                    <a:bodyPr/>
                    <a:lstStyle/>
                    <a:p>
                      <a:r>
                        <a:rPr sz="1000">
                          <a:latin typeface="맑은 고딕"/>
                        </a:rPr>
                        <a:t>684</a:t>
                      </a:r>
                    </a:p>
                  </a:txBody>
                  <a:tcPr/>
                </a:tc>
                <a:tc>
                  <a:txBody>
                    <a:bodyPr/>
                    <a:lstStyle/>
                    <a:p>
                      <a:r>
                        <a:rPr sz="1000">
                          <a:latin typeface="맑은 고딕"/>
                        </a:rPr>
                        <a:t>82.3%</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status 전용 필드는 없고 closed(불리언)와 판정(유지/보류/빈값) 두 필드로 상태를 표현. 출처: data/processed/cards.json</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2) 지역(region_bucket) 분포 (카드 수 내림차순) (1)</a:t>
            </a:r>
          </a:p>
        </p:txBody>
      </p:sp>
      <p:graphicFrame>
        <p:nvGraphicFramePr>
          <p:cNvPr id="3" name="Table 2"/>
          <p:cNvGraphicFramePr>
            <a:graphicFrameLocks noGrp="1"/>
          </p:cNvGraphicFramePr>
          <p:nvPr/>
        </p:nvGraphicFramePr>
        <p:xfrm>
          <a:off x="457200" y="822960"/>
          <a:ext cx="8229600" cy="3803904"/>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region_bucket</a:t>
                      </a:r>
                    </a:p>
                  </a:txBody>
                  <a:tcPr/>
                </a:tc>
                <a:tc>
                  <a:txBody>
                    <a:bodyPr/>
                    <a:lstStyle/>
                    <a:p>
                      <a:r>
                        <a:rPr sz="1100" b="1">
                          <a:latin typeface="맑은 고딕"/>
                        </a:rPr>
                        <a:t>카드 수</a:t>
                      </a:r>
                    </a:p>
                  </a:txBody>
                  <a:tcPr/>
                </a:tc>
              </a:tr>
              <a:tr h="292608">
                <a:tc>
                  <a:txBody>
                    <a:bodyPr/>
                    <a:lstStyle/>
                    <a:p>
                      <a:r>
                        <a:rPr sz="1000">
                          <a:latin typeface="맑은 고딕"/>
                        </a:rPr>
                        <a:t>(없음/null)</a:t>
                      </a:r>
                    </a:p>
                  </a:txBody>
                  <a:tcPr/>
                </a:tc>
                <a:tc>
                  <a:txBody>
                    <a:bodyPr/>
                    <a:lstStyle/>
                    <a:p>
                      <a:r>
                        <a:rPr sz="1000">
                          <a:latin typeface="맑은 고딕"/>
                        </a:rPr>
                        <a:t>148</a:t>
                      </a:r>
                    </a:p>
                  </a:txBody>
                  <a:tcPr/>
                </a:tc>
              </a:tr>
              <a:tr h="292608">
                <a:tc>
                  <a:txBody>
                    <a:bodyPr/>
                    <a:lstStyle/>
                    <a:p>
                      <a:r>
                        <a:rPr sz="1000">
                          <a:latin typeface="맑은 고딕"/>
                        </a:rPr>
                        <a:t>제주시내</a:t>
                      </a:r>
                    </a:p>
                  </a:txBody>
                  <a:tcPr/>
                </a:tc>
                <a:tc>
                  <a:txBody>
                    <a:bodyPr/>
                    <a:lstStyle/>
                    <a:p>
                      <a:r>
                        <a:rPr sz="1000">
                          <a:latin typeface="맑은 고딕"/>
                        </a:rPr>
                        <a:t>128</a:t>
                      </a:r>
                    </a:p>
                  </a:txBody>
                  <a:tcPr/>
                </a:tc>
              </a:tr>
              <a:tr h="292608">
                <a:tc>
                  <a:txBody>
                    <a:bodyPr/>
                    <a:lstStyle/>
                    <a:p>
                      <a:r>
                        <a:rPr sz="1000">
                          <a:latin typeface="맑은 고딕"/>
                        </a:rPr>
                        <a:t>구좌</a:t>
                      </a:r>
                    </a:p>
                  </a:txBody>
                  <a:tcPr/>
                </a:tc>
                <a:tc>
                  <a:txBody>
                    <a:bodyPr/>
                    <a:lstStyle/>
                    <a:p>
                      <a:r>
                        <a:rPr sz="1000">
                          <a:latin typeface="맑은 고딕"/>
                        </a:rPr>
                        <a:t>115</a:t>
                      </a:r>
                    </a:p>
                  </a:txBody>
                  <a:tcPr/>
                </a:tc>
              </a:tr>
              <a:tr h="292608">
                <a:tc>
                  <a:txBody>
                    <a:bodyPr/>
                    <a:lstStyle/>
                    <a:p>
                      <a:r>
                        <a:rPr sz="1000">
                          <a:latin typeface="맑은 고딕"/>
                        </a:rPr>
                        <a:t>애월</a:t>
                      </a:r>
                    </a:p>
                  </a:txBody>
                  <a:tcPr/>
                </a:tc>
                <a:tc>
                  <a:txBody>
                    <a:bodyPr/>
                    <a:lstStyle/>
                    <a:p>
                      <a:r>
                        <a:rPr sz="1000">
                          <a:latin typeface="맑은 고딕"/>
                        </a:rPr>
                        <a:t>79</a:t>
                      </a:r>
                    </a:p>
                  </a:txBody>
                  <a:tcPr/>
                </a:tc>
              </a:tr>
              <a:tr h="292608">
                <a:tc>
                  <a:txBody>
                    <a:bodyPr/>
                    <a:lstStyle/>
                    <a:p>
                      <a:r>
                        <a:rPr sz="1000">
                          <a:latin typeface="맑은 고딕"/>
                        </a:rPr>
                        <a:t>서귀포시내</a:t>
                      </a:r>
                    </a:p>
                  </a:txBody>
                  <a:tcPr/>
                </a:tc>
                <a:tc>
                  <a:txBody>
                    <a:bodyPr/>
                    <a:lstStyle/>
                    <a:p>
                      <a:r>
                        <a:rPr sz="1000">
                          <a:latin typeface="맑은 고딕"/>
                        </a:rPr>
                        <a:t>67</a:t>
                      </a:r>
                    </a:p>
                  </a:txBody>
                  <a:tcPr/>
                </a:tc>
              </a:tr>
              <a:tr h="292608">
                <a:tc>
                  <a:txBody>
                    <a:bodyPr/>
                    <a:lstStyle/>
                    <a:p>
                      <a:r>
                        <a:rPr sz="1000">
                          <a:latin typeface="맑은 고딕"/>
                        </a:rPr>
                        <a:t>조천</a:t>
                      </a:r>
                    </a:p>
                  </a:txBody>
                  <a:tcPr/>
                </a:tc>
                <a:tc>
                  <a:txBody>
                    <a:bodyPr/>
                    <a:lstStyle/>
                    <a:p>
                      <a:r>
                        <a:rPr sz="1000">
                          <a:latin typeface="맑은 고딕"/>
                        </a:rPr>
                        <a:t>64</a:t>
                      </a:r>
                    </a:p>
                  </a:txBody>
                  <a:tcPr/>
                </a:tc>
              </a:tr>
              <a:tr h="292608">
                <a:tc>
                  <a:txBody>
                    <a:bodyPr/>
                    <a:lstStyle/>
                    <a:p>
                      <a:r>
                        <a:rPr sz="1000">
                          <a:latin typeface="맑은 고딕"/>
                        </a:rPr>
                        <a:t>한림</a:t>
                      </a:r>
                    </a:p>
                  </a:txBody>
                  <a:tcPr/>
                </a:tc>
                <a:tc>
                  <a:txBody>
                    <a:bodyPr/>
                    <a:lstStyle/>
                    <a:p>
                      <a:r>
                        <a:rPr sz="1000">
                          <a:latin typeface="맑은 고딕"/>
                        </a:rPr>
                        <a:t>55</a:t>
                      </a:r>
                    </a:p>
                  </a:txBody>
                  <a:tcPr/>
                </a:tc>
              </a:tr>
              <a:tr h="292608">
                <a:tc>
                  <a:txBody>
                    <a:bodyPr/>
                    <a:lstStyle/>
                    <a:p>
                      <a:r>
                        <a:rPr sz="1000">
                          <a:latin typeface="맑은 고딕"/>
                        </a:rPr>
                        <a:t>안덕</a:t>
                      </a:r>
                    </a:p>
                  </a:txBody>
                  <a:tcPr/>
                </a:tc>
                <a:tc>
                  <a:txBody>
                    <a:bodyPr/>
                    <a:lstStyle/>
                    <a:p>
                      <a:r>
                        <a:rPr sz="1000">
                          <a:latin typeface="맑은 고딕"/>
                        </a:rPr>
                        <a:t>36</a:t>
                      </a:r>
                    </a:p>
                  </a:txBody>
                  <a:tcPr/>
                </a:tc>
              </a:tr>
              <a:tr h="292608">
                <a:tc>
                  <a:txBody>
                    <a:bodyPr/>
                    <a:lstStyle/>
                    <a:p>
                      <a:r>
                        <a:rPr sz="1000">
                          <a:latin typeface="맑은 고딕"/>
                        </a:rPr>
                        <a:t>남원</a:t>
                      </a:r>
                    </a:p>
                  </a:txBody>
                  <a:tcPr/>
                </a:tc>
                <a:tc>
                  <a:txBody>
                    <a:bodyPr/>
                    <a:lstStyle/>
                    <a:p>
                      <a:r>
                        <a:rPr sz="1000">
                          <a:latin typeface="맑은 고딕"/>
                        </a:rPr>
                        <a:t>30</a:t>
                      </a:r>
                    </a:p>
                  </a:txBody>
                  <a:tcPr/>
                </a:tc>
              </a:tr>
              <a:tr h="292608">
                <a:tc>
                  <a:txBody>
                    <a:bodyPr/>
                    <a:lstStyle/>
                    <a:p>
                      <a:r>
                        <a:rPr sz="1000">
                          <a:latin typeface="맑은 고딕"/>
                        </a:rPr>
                        <a:t>우도</a:t>
                      </a:r>
                    </a:p>
                  </a:txBody>
                  <a:tcPr/>
                </a:tc>
                <a:tc>
                  <a:txBody>
                    <a:bodyPr/>
                    <a:lstStyle/>
                    <a:p>
                      <a:r>
                        <a:rPr sz="1000">
                          <a:latin typeface="맑은 고딕"/>
                        </a:rPr>
                        <a:t>27</a:t>
                      </a:r>
                    </a:p>
                  </a:txBody>
                  <a:tcPr/>
                </a:tc>
              </a:tr>
              <a:tr h="292608">
                <a:tc>
                  <a:txBody>
                    <a:bodyPr/>
                    <a:lstStyle/>
                    <a:p>
                      <a:r>
                        <a:rPr sz="1000">
                          <a:latin typeface="맑은 고딕"/>
                        </a:rPr>
                        <a:t>성산</a:t>
                      </a:r>
                    </a:p>
                  </a:txBody>
                  <a:tcPr/>
                </a:tc>
                <a:tc>
                  <a:txBody>
                    <a:bodyPr/>
                    <a:lstStyle/>
                    <a:p>
                      <a:r>
                        <a:rPr sz="1000">
                          <a:latin typeface="맑은 고딕"/>
                        </a:rPr>
                        <a:t>24</a:t>
                      </a:r>
                    </a:p>
                  </a:txBody>
                  <a:tcPr/>
                </a:tc>
              </a:tr>
              <a:tr h="292608">
                <a:tc>
                  <a:txBody>
                    <a:bodyPr/>
                    <a:lstStyle/>
                    <a:p>
                      <a:r>
                        <a:rPr sz="1000">
                          <a:latin typeface="맑은 고딕"/>
                        </a:rPr>
                        <a:t>대정</a:t>
                      </a:r>
                    </a:p>
                  </a:txBody>
                  <a:tcPr/>
                </a:tc>
                <a:tc>
                  <a:txBody>
                    <a:bodyPr/>
                    <a:lstStyle/>
                    <a:p>
                      <a:r>
                        <a:rPr sz="1000">
                          <a:latin typeface="맑은 고딕"/>
                        </a:rPr>
                        <a:t>22</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버킷 14종 + 미지정 148장(17.8%). 미지정은 좌표/주소 미확보 카드와 대체로 겹침</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2) 지역(region_bucket) 분포 (카드 수 내림차순) (2)</a:t>
            </a:r>
          </a:p>
        </p:txBody>
      </p:sp>
      <p:graphicFrame>
        <p:nvGraphicFramePr>
          <p:cNvPr id="3" name="Table 2"/>
          <p:cNvGraphicFramePr>
            <a:graphicFrameLocks noGrp="1"/>
          </p:cNvGraphicFramePr>
          <p:nvPr/>
        </p:nvGraphicFramePr>
        <p:xfrm>
          <a:off x="457200" y="822960"/>
          <a:ext cx="8229600" cy="877824"/>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region_bucket</a:t>
                      </a:r>
                    </a:p>
                  </a:txBody>
                  <a:tcPr/>
                </a:tc>
                <a:tc>
                  <a:txBody>
                    <a:bodyPr/>
                    <a:lstStyle/>
                    <a:p>
                      <a:r>
                        <a:rPr sz="1100" b="1">
                          <a:latin typeface="맑은 고딕"/>
                        </a:rPr>
                        <a:t>카드 수</a:t>
                      </a:r>
                    </a:p>
                  </a:txBody>
                  <a:tcPr/>
                </a:tc>
              </a:tr>
              <a:tr h="292608">
                <a:tc>
                  <a:txBody>
                    <a:bodyPr/>
                    <a:lstStyle/>
                    <a:p>
                      <a:r>
                        <a:rPr sz="1000">
                          <a:latin typeface="맑은 고딕"/>
                        </a:rPr>
                        <a:t>표선</a:t>
                      </a:r>
                    </a:p>
                  </a:txBody>
                  <a:tcPr/>
                </a:tc>
                <a:tc>
                  <a:txBody>
                    <a:bodyPr/>
                    <a:lstStyle/>
                    <a:p>
                      <a:r>
                        <a:rPr sz="1000">
                          <a:latin typeface="맑은 고딕"/>
                        </a:rPr>
                        <a:t>20</a:t>
                      </a:r>
                    </a:p>
                  </a:txBody>
                  <a:tcPr/>
                </a:tc>
              </a:tr>
              <a:tr h="292608">
                <a:tc>
                  <a:txBody>
                    <a:bodyPr/>
                    <a:lstStyle/>
                    <a:p>
                      <a:r>
                        <a:rPr sz="1000">
                          <a:latin typeface="맑은 고딕"/>
                        </a:rPr>
                        <a:t>한경</a:t>
                      </a:r>
                    </a:p>
                  </a:txBody>
                  <a:tcPr/>
                </a:tc>
                <a:tc>
                  <a:txBody>
                    <a:bodyPr/>
                    <a:lstStyle/>
                    <a:p>
                      <a:r>
                        <a:rPr sz="1000">
                          <a:latin typeface="맑은 고딕"/>
                        </a:rPr>
                        <a:t>16</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버킷 14종 + 미지정 148장(17.8%). 미지정은 좌표/주소 미확보 카드와 대체로 겹침</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3) 태그 상위 25 (전체 고유 태그 64종) (1)</a:t>
            </a:r>
          </a:p>
        </p:txBody>
      </p:sp>
      <p:graphicFrame>
        <p:nvGraphicFramePr>
          <p:cNvPr id="3" name="Table 2"/>
          <p:cNvGraphicFramePr>
            <a:graphicFrameLocks noGrp="1"/>
          </p:cNvGraphicFramePr>
          <p:nvPr/>
        </p:nvGraphicFramePr>
        <p:xfrm>
          <a:off x="457200" y="822960"/>
          <a:ext cx="8229600" cy="3803904"/>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태그</a:t>
                      </a:r>
                    </a:p>
                  </a:txBody>
                  <a:tcPr/>
                </a:tc>
                <a:tc>
                  <a:txBody>
                    <a:bodyPr/>
                    <a:lstStyle/>
                    <a:p>
                      <a:r>
                        <a:rPr sz="1100" b="1">
                          <a:latin typeface="맑은 고딕"/>
                        </a:rPr>
                        <a:t>카드 수</a:t>
                      </a:r>
                    </a:p>
                  </a:txBody>
                  <a:tcPr/>
                </a:tc>
              </a:tr>
              <a:tr h="292608">
                <a:tc>
                  <a:txBody>
                    <a:bodyPr/>
                    <a:lstStyle/>
                    <a:p>
                      <a:r>
                        <a:rPr sz="1000">
                          <a:latin typeface="맑은 고딕"/>
                        </a:rPr>
                        <a:t>주차편함</a:t>
                      </a:r>
                    </a:p>
                  </a:txBody>
                  <a:tcPr/>
                </a:tc>
                <a:tc>
                  <a:txBody>
                    <a:bodyPr/>
                    <a:lstStyle/>
                    <a:p>
                      <a:r>
                        <a:rPr sz="1000">
                          <a:latin typeface="맑은 고딕"/>
                        </a:rPr>
                        <a:t>633</a:t>
                      </a:r>
                    </a:p>
                  </a:txBody>
                  <a:tcPr/>
                </a:tc>
              </a:tr>
              <a:tr h="292608">
                <a:tc>
                  <a:txBody>
                    <a:bodyPr/>
                    <a:lstStyle/>
                    <a:p>
                      <a:r>
                        <a:rPr sz="1000">
                          <a:latin typeface="맑은 고딕"/>
                        </a:rPr>
                        <a:t>감성</a:t>
                      </a:r>
                    </a:p>
                  </a:txBody>
                  <a:tcPr/>
                </a:tc>
                <a:tc>
                  <a:txBody>
                    <a:bodyPr/>
                    <a:lstStyle/>
                    <a:p>
                      <a:r>
                        <a:rPr sz="1000">
                          <a:latin typeface="맑은 고딕"/>
                        </a:rPr>
                        <a:t>613</a:t>
                      </a:r>
                    </a:p>
                  </a:txBody>
                  <a:tcPr/>
                </a:tc>
              </a:tr>
              <a:tr h="292608">
                <a:tc>
                  <a:txBody>
                    <a:bodyPr/>
                    <a:lstStyle/>
                    <a:p>
                      <a:r>
                        <a:rPr sz="1000">
                          <a:latin typeface="맑은 고딕"/>
                        </a:rPr>
                        <a:t>오션뷰</a:t>
                      </a:r>
                    </a:p>
                  </a:txBody>
                  <a:tcPr/>
                </a:tc>
                <a:tc>
                  <a:txBody>
                    <a:bodyPr/>
                    <a:lstStyle/>
                    <a:p>
                      <a:r>
                        <a:rPr sz="1000">
                          <a:latin typeface="맑은 고딕"/>
                        </a:rPr>
                        <a:t>346</a:t>
                      </a:r>
                    </a:p>
                  </a:txBody>
                  <a:tcPr/>
                </a:tc>
              </a:tr>
              <a:tr h="292608">
                <a:tc>
                  <a:txBody>
                    <a:bodyPr/>
                    <a:lstStyle/>
                    <a:p>
                      <a:r>
                        <a:rPr sz="1000">
                          <a:latin typeface="맑은 고딕"/>
                        </a:rPr>
                        <a:t>디저트</a:t>
                      </a:r>
                    </a:p>
                  </a:txBody>
                  <a:tcPr/>
                </a:tc>
                <a:tc>
                  <a:txBody>
                    <a:bodyPr/>
                    <a:lstStyle/>
                    <a:p>
                      <a:r>
                        <a:rPr sz="1000">
                          <a:latin typeface="맑은 고딕"/>
                        </a:rPr>
                        <a:t>330</a:t>
                      </a:r>
                    </a:p>
                  </a:txBody>
                  <a:tcPr/>
                </a:tc>
              </a:tr>
              <a:tr h="292608">
                <a:tc>
                  <a:txBody>
                    <a:bodyPr/>
                    <a:lstStyle/>
                    <a:p>
                      <a:r>
                        <a:rPr sz="1000">
                          <a:latin typeface="맑은 고딕"/>
                        </a:rPr>
                        <a:t>베이커리</a:t>
                      </a:r>
                    </a:p>
                  </a:txBody>
                  <a:tcPr/>
                </a:tc>
                <a:tc>
                  <a:txBody>
                    <a:bodyPr/>
                    <a:lstStyle/>
                    <a:p>
                      <a:r>
                        <a:rPr sz="1000">
                          <a:latin typeface="맑은 고딕"/>
                        </a:rPr>
                        <a:t>307</a:t>
                      </a:r>
                    </a:p>
                  </a:txBody>
                  <a:tcPr/>
                </a:tc>
              </a:tr>
              <a:tr h="292608">
                <a:tc>
                  <a:txBody>
                    <a:bodyPr/>
                    <a:lstStyle/>
                    <a:p>
                      <a:r>
                        <a:rPr sz="1000">
                          <a:latin typeface="맑은 고딕"/>
                        </a:rPr>
                        <a:t>대형</a:t>
                      </a:r>
                    </a:p>
                  </a:txBody>
                  <a:tcPr/>
                </a:tc>
                <a:tc>
                  <a:txBody>
                    <a:bodyPr/>
                    <a:lstStyle/>
                    <a:p>
                      <a:r>
                        <a:rPr sz="1000">
                          <a:latin typeface="맑은 고딕"/>
                        </a:rPr>
                        <a:t>211</a:t>
                      </a:r>
                    </a:p>
                  </a:txBody>
                  <a:tcPr/>
                </a:tc>
              </a:tr>
              <a:tr h="292608">
                <a:tc>
                  <a:txBody>
                    <a:bodyPr/>
                    <a:lstStyle/>
                    <a:p>
                      <a:r>
                        <a:rPr sz="1000">
                          <a:latin typeface="맑은 고딕"/>
                        </a:rPr>
                        <a:t>애견</a:t>
                      </a:r>
                    </a:p>
                  </a:txBody>
                  <a:tcPr/>
                </a:tc>
                <a:tc>
                  <a:txBody>
                    <a:bodyPr/>
                    <a:lstStyle/>
                    <a:p>
                      <a:r>
                        <a:rPr sz="1000">
                          <a:latin typeface="맑은 고딕"/>
                        </a:rPr>
                        <a:t>211</a:t>
                      </a:r>
                    </a:p>
                  </a:txBody>
                  <a:tcPr/>
                </a:tc>
              </a:tr>
              <a:tr h="292608">
                <a:tc>
                  <a:txBody>
                    <a:bodyPr/>
                    <a:lstStyle/>
                    <a:p>
                      <a:r>
                        <a:rPr sz="1000">
                          <a:latin typeface="맑은 고딕"/>
                        </a:rPr>
                        <a:t>조용</a:t>
                      </a:r>
                    </a:p>
                  </a:txBody>
                  <a:tcPr/>
                </a:tc>
                <a:tc>
                  <a:txBody>
                    <a:bodyPr/>
                    <a:lstStyle/>
                    <a:p>
                      <a:r>
                        <a:rPr sz="1000">
                          <a:latin typeface="맑은 고딕"/>
                        </a:rPr>
                        <a:t>210</a:t>
                      </a:r>
                    </a:p>
                  </a:txBody>
                  <a:tcPr/>
                </a:tc>
              </a:tr>
              <a:tr h="292608">
                <a:tc>
                  <a:txBody>
                    <a:bodyPr/>
                    <a:lstStyle/>
                    <a:p>
                      <a:r>
                        <a:rPr sz="1000">
                          <a:latin typeface="맑은 고딕"/>
                        </a:rPr>
                        <a:t>테라스</a:t>
                      </a:r>
                    </a:p>
                  </a:txBody>
                  <a:tcPr/>
                </a:tc>
                <a:tc>
                  <a:txBody>
                    <a:bodyPr/>
                    <a:lstStyle/>
                    <a:p>
                      <a:r>
                        <a:rPr sz="1000">
                          <a:latin typeface="맑은 고딕"/>
                        </a:rPr>
                        <a:t>203</a:t>
                      </a:r>
                    </a:p>
                  </a:txBody>
                  <a:tcPr/>
                </a:tc>
              </a:tr>
              <a:tr h="292608">
                <a:tc>
                  <a:txBody>
                    <a:bodyPr/>
                    <a:lstStyle/>
                    <a:p>
                      <a:r>
                        <a:rPr sz="1000">
                          <a:latin typeface="맑은 고딕"/>
                        </a:rPr>
                        <a:t>애견동반</a:t>
                      </a:r>
                    </a:p>
                  </a:txBody>
                  <a:tcPr/>
                </a:tc>
                <a:tc>
                  <a:txBody>
                    <a:bodyPr/>
                    <a:lstStyle/>
                    <a:p>
                      <a:r>
                        <a:rPr sz="1000">
                          <a:latin typeface="맑은 고딕"/>
                        </a:rPr>
                        <a:t>202</a:t>
                      </a:r>
                    </a:p>
                  </a:txBody>
                  <a:tcPr/>
                </a:tc>
              </a:tr>
              <a:tr h="292608">
                <a:tc>
                  <a:txBody>
                    <a:bodyPr/>
                    <a:lstStyle/>
                    <a:p>
                      <a:r>
                        <a:rPr sz="1000">
                          <a:latin typeface="맑은 고딕"/>
                        </a:rPr>
                        <a:t>조용함</a:t>
                      </a:r>
                    </a:p>
                  </a:txBody>
                  <a:tcPr/>
                </a:tc>
                <a:tc>
                  <a:txBody>
                    <a:bodyPr/>
                    <a:lstStyle/>
                    <a:p>
                      <a:r>
                        <a:rPr sz="1000">
                          <a:latin typeface="맑은 고딕"/>
                        </a:rPr>
                        <a:t>202</a:t>
                      </a:r>
                    </a:p>
                  </a:txBody>
                  <a:tcPr/>
                </a:tc>
              </a:tr>
              <a:tr h="292608">
                <a:tc>
                  <a:txBody>
                    <a:bodyPr/>
                    <a:lstStyle/>
                    <a:p>
                      <a:r>
                        <a:rPr sz="1000">
                          <a:latin typeface="맑은 고딕"/>
                        </a:rPr>
                        <a:t>웨이팅</a:t>
                      </a:r>
                    </a:p>
                  </a:txBody>
                  <a:tcPr/>
                </a:tc>
                <a:tc>
                  <a:txBody>
                    <a:bodyPr/>
                    <a:lstStyle/>
                    <a:p>
                      <a:r>
                        <a:rPr sz="1000">
                          <a:latin typeface="맑은 고딕"/>
                        </a:rPr>
                        <a:t>199</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3) 태그 상위 25 (전체 고유 태그 64종) (2)</a:t>
            </a:r>
          </a:p>
        </p:txBody>
      </p:sp>
      <p:graphicFrame>
        <p:nvGraphicFramePr>
          <p:cNvPr id="3" name="Table 2"/>
          <p:cNvGraphicFramePr>
            <a:graphicFrameLocks noGrp="1"/>
          </p:cNvGraphicFramePr>
          <p:nvPr/>
        </p:nvGraphicFramePr>
        <p:xfrm>
          <a:off x="457200" y="822960"/>
          <a:ext cx="8229600" cy="3803904"/>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태그</a:t>
                      </a:r>
                    </a:p>
                  </a:txBody>
                  <a:tcPr/>
                </a:tc>
                <a:tc>
                  <a:txBody>
                    <a:bodyPr/>
                    <a:lstStyle/>
                    <a:p>
                      <a:r>
                        <a:rPr sz="1100" b="1">
                          <a:latin typeface="맑은 고딕"/>
                        </a:rPr>
                        <a:t>카드 수</a:t>
                      </a:r>
                    </a:p>
                  </a:txBody>
                  <a:tcPr/>
                </a:tc>
              </a:tr>
              <a:tr h="292608">
                <a:tc>
                  <a:txBody>
                    <a:bodyPr/>
                    <a:lstStyle/>
                    <a:p>
                      <a:r>
                        <a:rPr sz="1000">
                          <a:latin typeface="맑은 고딕"/>
                        </a:rPr>
                        <a:t>통창</a:t>
                      </a:r>
                    </a:p>
                  </a:txBody>
                  <a:tcPr/>
                </a:tc>
                <a:tc>
                  <a:txBody>
                    <a:bodyPr/>
                    <a:lstStyle/>
                    <a:p>
                      <a:r>
                        <a:rPr sz="1000">
                          <a:latin typeface="맑은 고딕"/>
                        </a:rPr>
                        <a:t>190</a:t>
                      </a:r>
                    </a:p>
                  </a:txBody>
                  <a:tcPr/>
                </a:tc>
              </a:tr>
              <a:tr h="292608">
                <a:tc>
                  <a:txBody>
                    <a:bodyPr/>
                    <a:lstStyle/>
                    <a:p>
                      <a:r>
                        <a:rPr sz="1000">
                          <a:latin typeface="맑은 고딕"/>
                        </a:rPr>
                        <a:t>핫플</a:t>
                      </a:r>
                    </a:p>
                  </a:txBody>
                  <a:tcPr/>
                </a:tc>
                <a:tc>
                  <a:txBody>
                    <a:bodyPr/>
                    <a:lstStyle/>
                    <a:p>
                      <a:r>
                        <a:rPr sz="1000">
                          <a:latin typeface="맑은 고딕"/>
                        </a:rPr>
                        <a:t>185</a:t>
                      </a:r>
                    </a:p>
                  </a:txBody>
                  <a:tcPr/>
                </a:tc>
              </a:tr>
              <a:tr h="292608">
                <a:tc>
                  <a:txBody>
                    <a:bodyPr/>
                    <a:lstStyle/>
                    <a:p>
                      <a:r>
                        <a:rPr sz="1000">
                          <a:latin typeface="맑은 고딕"/>
                        </a:rPr>
                        <a:t>야외석</a:t>
                      </a:r>
                    </a:p>
                  </a:txBody>
                  <a:tcPr/>
                </a:tc>
                <a:tc>
                  <a:txBody>
                    <a:bodyPr/>
                    <a:lstStyle/>
                    <a:p>
                      <a:r>
                        <a:rPr sz="1000">
                          <a:latin typeface="맑은 고딕"/>
                        </a:rPr>
                        <a:t>167</a:t>
                      </a:r>
                    </a:p>
                  </a:txBody>
                  <a:tcPr/>
                </a:tc>
              </a:tr>
              <a:tr h="292608">
                <a:tc>
                  <a:txBody>
                    <a:bodyPr/>
                    <a:lstStyle/>
                    <a:p>
                      <a:r>
                        <a:rPr sz="1000">
                          <a:latin typeface="맑은 고딕"/>
                        </a:rPr>
                        <a:t>브런치</a:t>
                      </a:r>
                    </a:p>
                  </a:txBody>
                  <a:tcPr/>
                </a:tc>
                <a:tc>
                  <a:txBody>
                    <a:bodyPr/>
                    <a:lstStyle/>
                    <a:p>
                      <a:r>
                        <a:rPr sz="1000">
                          <a:latin typeface="맑은 고딕"/>
                        </a:rPr>
                        <a:t>166</a:t>
                      </a:r>
                    </a:p>
                  </a:txBody>
                  <a:tcPr/>
                </a:tc>
              </a:tr>
              <a:tr h="292608">
                <a:tc>
                  <a:txBody>
                    <a:bodyPr/>
                    <a:lstStyle/>
                    <a:p>
                      <a:r>
                        <a:rPr sz="1000">
                          <a:latin typeface="맑은 고딕"/>
                        </a:rPr>
                        <a:t>로컬</a:t>
                      </a:r>
                    </a:p>
                  </a:txBody>
                  <a:tcPr/>
                </a:tc>
                <a:tc>
                  <a:txBody>
                    <a:bodyPr/>
                    <a:lstStyle/>
                    <a:p>
                      <a:r>
                        <a:rPr sz="1000">
                          <a:latin typeface="맑은 고딕"/>
                        </a:rPr>
                        <a:t>153</a:t>
                      </a:r>
                    </a:p>
                  </a:txBody>
                  <a:tcPr/>
                </a:tc>
              </a:tr>
              <a:tr h="292608">
                <a:tc>
                  <a:txBody>
                    <a:bodyPr/>
                    <a:lstStyle/>
                    <a:p>
                      <a:r>
                        <a:rPr sz="1000">
                          <a:latin typeface="맑은 고딕"/>
                        </a:rPr>
                        <a:t>해변</a:t>
                      </a:r>
                    </a:p>
                  </a:txBody>
                  <a:tcPr/>
                </a:tc>
                <a:tc>
                  <a:txBody>
                    <a:bodyPr/>
                    <a:lstStyle/>
                    <a:p>
                      <a:r>
                        <a:rPr sz="1000">
                          <a:latin typeface="맑은 고딕"/>
                        </a:rPr>
                        <a:t>152</a:t>
                      </a:r>
                    </a:p>
                  </a:txBody>
                  <a:tcPr/>
                </a:tc>
              </a:tr>
              <a:tr h="292608">
                <a:tc>
                  <a:txBody>
                    <a:bodyPr/>
                    <a:lstStyle/>
                    <a:p>
                      <a:r>
                        <a:rPr sz="1000">
                          <a:latin typeface="맑은 고딕"/>
                        </a:rPr>
                        <a:t>바다</a:t>
                      </a:r>
                    </a:p>
                  </a:txBody>
                  <a:tcPr/>
                </a:tc>
                <a:tc>
                  <a:txBody>
                    <a:bodyPr/>
                    <a:lstStyle/>
                    <a:p>
                      <a:r>
                        <a:rPr sz="1000">
                          <a:latin typeface="맑은 고딕"/>
                        </a:rPr>
                        <a:t>145</a:t>
                      </a:r>
                    </a:p>
                  </a:txBody>
                  <a:tcPr/>
                </a:tc>
              </a:tr>
              <a:tr h="292608">
                <a:tc>
                  <a:txBody>
                    <a:bodyPr/>
                    <a:lstStyle/>
                    <a:p>
                      <a:r>
                        <a:rPr sz="1000">
                          <a:latin typeface="맑은 고딕"/>
                        </a:rPr>
                        <a:t>시그니처</a:t>
                      </a:r>
                    </a:p>
                  </a:txBody>
                  <a:tcPr/>
                </a:tc>
                <a:tc>
                  <a:txBody>
                    <a:bodyPr/>
                    <a:lstStyle/>
                    <a:p>
                      <a:r>
                        <a:rPr sz="1000">
                          <a:latin typeface="맑은 고딕"/>
                        </a:rPr>
                        <a:t>84</a:t>
                      </a:r>
                    </a:p>
                  </a:txBody>
                  <a:tcPr/>
                </a:tc>
              </a:tr>
              <a:tr h="292608">
                <a:tc>
                  <a:txBody>
                    <a:bodyPr/>
                    <a:lstStyle/>
                    <a:p>
                      <a:r>
                        <a:rPr sz="1000">
                          <a:latin typeface="맑은 고딕"/>
                        </a:rPr>
                        <a:t>신상</a:t>
                      </a:r>
                    </a:p>
                  </a:txBody>
                  <a:tcPr/>
                </a:tc>
                <a:tc>
                  <a:txBody>
                    <a:bodyPr/>
                    <a:lstStyle/>
                    <a:p>
                      <a:r>
                        <a:rPr sz="1000">
                          <a:latin typeface="맑은 고딕"/>
                        </a:rPr>
                        <a:t>67</a:t>
                      </a:r>
                    </a:p>
                  </a:txBody>
                  <a:tcPr/>
                </a:tc>
              </a:tr>
              <a:tr h="292608">
                <a:tc>
                  <a:txBody>
                    <a:bodyPr/>
                    <a:lstStyle/>
                    <a:p>
                      <a:r>
                        <a:rPr sz="1000">
                          <a:latin typeface="맑은 고딕"/>
                        </a:rPr>
                        <a:t>사진</a:t>
                      </a:r>
                    </a:p>
                  </a:txBody>
                  <a:tcPr/>
                </a:tc>
                <a:tc>
                  <a:txBody>
                    <a:bodyPr/>
                    <a:lstStyle/>
                    <a:p>
                      <a:r>
                        <a:rPr sz="1000">
                          <a:latin typeface="맑은 고딕"/>
                        </a:rPr>
                        <a:t>65</a:t>
                      </a:r>
                    </a:p>
                  </a:txBody>
                  <a:tcPr/>
                </a:tc>
              </a:tr>
              <a:tr h="292608">
                <a:tc>
                  <a:txBody>
                    <a:bodyPr/>
                    <a:lstStyle/>
                    <a:p>
                      <a:r>
                        <a:rPr sz="1000">
                          <a:latin typeface="맑은 고딕"/>
                        </a:rPr>
                        <a:t>산뷰</a:t>
                      </a:r>
                    </a:p>
                  </a:txBody>
                  <a:tcPr/>
                </a:tc>
                <a:tc>
                  <a:txBody>
                    <a:bodyPr/>
                    <a:lstStyle/>
                    <a:p>
                      <a:r>
                        <a:rPr sz="1000">
                          <a:latin typeface="맑은 고딕"/>
                        </a:rPr>
                        <a:t>52</a:t>
                      </a:r>
                    </a:p>
                  </a:txBody>
                  <a:tcPr/>
                </a:tc>
              </a:tr>
              <a:tr h="292608">
                <a:tc>
                  <a:txBody>
                    <a:bodyPr/>
                    <a:lstStyle/>
                    <a:p>
                      <a:r>
                        <a:rPr sz="1000">
                          <a:latin typeface="맑은 고딕"/>
                        </a:rPr>
                        <a:t>숨은</a:t>
                      </a:r>
                    </a:p>
                  </a:txBody>
                  <a:tcPr/>
                </a:tc>
                <a:tc>
                  <a:txBody>
                    <a:bodyPr/>
                    <a:lstStyle/>
                    <a:p>
                      <a:r>
                        <a:rPr sz="1000">
                          <a:latin typeface="맑은 고딕"/>
                        </a:rPr>
                        <a:t>50</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3) 태그 상위 25 (전체 고유 태그 64종) (3)</a:t>
            </a:r>
          </a:p>
        </p:txBody>
      </p:sp>
      <p:graphicFrame>
        <p:nvGraphicFramePr>
          <p:cNvPr id="3" name="Table 2"/>
          <p:cNvGraphicFramePr>
            <a:graphicFrameLocks noGrp="1"/>
          </p:cNvGraphicFramePr>
          <p:nvPr/>
        </p:nvGraphicFramePr>
        <p:xfrm>
          <a:off x="457200" y="822960"/>
          <a:ext cx="8229600" cy="585216"/>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태그</a:t>
                      </a:r>
                    </a:p>
                  </a:txBody>
                  <a:tcPr/>
                </a:tc>
                <a:tc>
                  <a:txBody>
                    <a:bodyPr/>
                    <a:lstStyle/>
                    <a:p>
                      <a:r>
                        <a:rPr sz="1100" b="1">
                          <a:latin typeface="맑은 고딕"/>
                        </a:rPr>
                        <a:t>카드 수</a:t>
                      </a:r>
                    </a:p>
                  </a:txBody>
                  <a:tcPr/>
                </a:tc>
              </a:tr>
              <a:tr h="292608">
                <a:tc>
                  <a:txBody>
                    <a:bodyPr/>
                    <a:lstStyle/>
                    <a:p>
                      <a:r>
                        <a:rPr sz="1000">
                          <a:latin typeface="맑은 고딕"/>
                        </a:rPr>
                        <a:t>노을</a:t>
                      </a:r>
                    </a:p>
                  </a:txBody>
                  <a:tcPr/>
                </a:tc>
                <a:tc>
                  <a:txBody>
                    <a:bodyPr/>
                    <a:lstStyle/>
                    <a:p>
                      <a:r>
                        <a:rPr sz="1000">
                          <a:latin typeface="맑은 고딕"/>
                        </a:rPr>
                        <a:t>46</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유사 태그 쌍 실존 확인: 조용(210) vs 조용함(202), 애견(211) vs 애견동반(202), 해변(152) vs 바다(145). 그래프에서는 합산 또는 대표 태그 통일 권장. 개별 카드에 '포토존를제외한사전단어아님' 같은 노이즈 태그도 잔존</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4) 다수결 신호: 고유 블로거 수(bloggers) 상위 10 카페</a:t>
            </a:r>
          </a:p>
        </p:txBody>
      </p:sp>
      <p:graphicFrame>
        <p:nvGraphicFramePr>
          <p:cNvPr id="3" name="Table 2"/>
          <p:cNvGraphicFramePr>
            <a:graphicFrameLocks noGrp="1"/>
          </p:cNvGraphicFramePr>
          <p:nvPr/>
        </p:nvGraphicFramePr>
        <p:xfrm>
          <a:off x="457200" y="822960"/>
          <a:ext cx="8229600" cy="3218688"/>
        </p:xfrm>
        <a:graphic>
          <a:graphicData uri="http://schemas.openxmlformats.org/drawingml/2006/table">
            <a:tbl>
              <a:tblPr firstRow="1" bandRow="1">
                <a:tableStyleId>{5C22544A-7EE6-4342-B048-85BDC9FD1C3A}</a:tableStyleId>
              </a:tblPr>
              <a:tblGrid>
                <a:gridCol w="2743200"/>
                <a:gridCol w="2743200"/>
                <a:gridCol w="2743200"/>
              </a:tblGrid>
              <a:tr h="292608">
                <a:tc>
                  <a:txBody>
                    <a:bodyPr/>
                    <a:lstStyle/>
                    <a:p>
                      <a:r>
                        <a:rPr sz="1100" b="1">
                          <a:latin typeface="맑은 고딕"/>
                        </a:rPr>
                        <a:t>카페명</a:t>
                      </a:r>
                    </a:p>
                  </a:txBody>
                  <a:tcPr/>
                </a:tc>
                <a:tc>
                  <a:txBody>
                    <a:bodyPr/>
                    <a:lstStyle/>
                    <a:p>
                      <a:r>
                        <a:rPr sz="1100" b="1">
                          <a:latin typeface="맑은 고딕"/>
                        </a:rPr>
                        <a:t>고유 블로거 수</a:t>
                      </a:r>
                    </a:p>
                  </a:txBody>
                  <a:tcPr/>
                </a:tc>
                <a:tc>
                  <a:txBody>
                    <a:bodyPr/>
                    <a:lstStyle/>
                    <a:p>
                      <a:r>
                        <a:rPr sz="1100" b="1">
                          <a:latin typeface="맑은 고딕"/>
                        </a:rPr>
                        <a:t>지역</a:t>
                      </a:r>
                    </a:p>
                  </a:txBody>
                  <a:tcPr/>
                </a:tc>
              </a:tr>
              <a:tr h="292608">
                <a:tc>
                  <a:txBody>
                    <a:bodyPr/>
                    <a:lstStyle/>
                    <a:p>
                      <a:r>
                        <a:rPr sz="1000">
                          <a:latin typeface="맑은 고딕"/>
                        </a:rPr>
                        <a:t>해일리 카페</a:t>
                      </a:r>
                    </a:p>
                  </a:txBody>
                  <a:tcPr/>
                </a:tc>
                <a:tc>
                  <a:txBody>
                    <a:bodyPr/>
                    <a:lstStyle/>
                    <a:p>
                      <a:r>
                        <a:rPr sz="1000">
                          <a:latin typeface="맑은 고딕"/>
                        </a:rPr>
                        <a:t>222</a:t>
                      </a:r>
                    </a:p>
                  </a:txBody>
                  <a:tcPr/>
                </a:tc>
                <a:tc>
                  <a:txBody>
                    <a:bodyPr/>
                    <a:lstStyle/>
                    <a:p>
                      <a:r>
                        <a:rPr sz="1000">
                          <a:latin typeface="맑은 고딕"/>
                        </a:rPr>
                        <a:t>성산</a:t>
                      </a:r>
                    </a:p>
                  </a:txBody>
                  <a:tcPr/>
                </a:tc>
              </a:tr>
              <a:tr h="292608">
                <a:tc>
                  <a:txBody>
                    <a:bodyPr/>
                    <a:lstStyle/>
                    <a:p>
                      <a:r>
                        <a:rPr sz="1000">
                          <a:latin typeface="맑은 고딕"/>
                        </a:rPr>
                        <a:t>리버브제주</a:t>
                      </a:r>
                    </a:p>
                  </a:txBody>
                  <a:tcPr/>
                </a:tc>
                <a:tc>
                  <a:txBody>
                    <a:bodyPr/>
                    <a:lstStyle/>
                    <a:p>
                      <a:r>
                        <a:rPr sz="1000">
                          <a:latin typeface="맑은 고딕"/>
                        </a:rPr>
                        <a:t>222</a:t>
                      </a:r>
                    </a:p>
                  </a:txBody>
                  <a:tcPr/>
                </a:tc>
                <a:tc>
                  <a:txBody>
                    <a:bodyPr/>
                    <a:lstStyle/>
                    <a:p>
                      <a:r>
                        <a:rPr sz="1000">
                          <a:latin typeface="맑은 고딕"/>
                        </a:rPr>
                        <a:t>한림</a:t>
                      </a:r>
                    </a:p>
                  </a:txBody>
                  <a:tcPr/>
                </a:tc>
              </a:tr>
              <a:tr h="292608">
                <a:tc>
                  <a:txBody>
                    <a:bodyPr/>
                    <a:lstStyle/>
                    <a:p>
                      <a:r>
                        <a:rPr sz="1000">
                          <a:latin typeface="맑은 고딕"/>
                        </a:rPr>
                        <a:t>프릳츠 제주성산점</a:t>
                      </a:r>
                    </a:p>
                  </a:txBody>
                  <a:tcPr/>
                </a:tc>
                <a:tc>
                  <a:txBody>
                    <a:bodyPr/>
                    <a:lstStyle/>
                    <a:p>
                      <a:r>
                        <a:rPr sz="1000">
                          <a:latin typeface="맑은 고딕"/>
                        </a:rPr>
                        <a:t>211</a:t>
                      </a:r>
                    </a:p>
                  </a:txBody>
                  <a:tcPr/>
                </a:tc>
                <a:tc>
                  <a:txBody>
                    <a:bodyPr/>
                    <a:lstStyle/>
                    <a:p>
                      <a:r>
                        <a:rPr sz="1000">
                          <a:latin typeface="맑은 고딕"/>
                        </a:rPr>
                        <a:t>성산</a:t>
                      </a:r>
                    </a:p>
                  </a:txBody>
                  <a:tcPr/>
                </a:tc>
              </a:tr>
              <a:tr h="292608">
                <a:tc>
                  <a:txBody>
                    <a:bodyPr/>
                    <a:lstStyle/>
                    <a:p>
                      <a:r>
                        <a:rPr sz="1000">
                          <a:latin typeface="맑은 고딕"/>
                        </a:rPr>
                        <a:t>런던베이글뮤지엄 제주점</a:t>
                      </a:r>
                    </a:p>
                  </a:txBody>
                  <a:tcPr/>
                </a:tc>
                <a:tc>
                  <a:txBody>
                    <a:bodyPr/>
                    <a:lstStyle/>
                    <a:p>
                      <a:r>
                        <a:rPr sz="1000">
                          <a:latin typeface="맑은 고딕"/>
                        </a:rPr>
                        <a:t>191</a:t>
                      </a:r>
                    </a:p>
                  </a:txBody>
                  <a:tcPr/>
                </a:tc>
                <a:tc>
                  <a:txBody>
                    <a:bodyPr/>
                    <a:lstStyle/>
                    <a:p>
                      <a:r>
                        <a:rPr sz="1000">
                          <a:latin typeface="맑은 고딕"/>
                        </a:rPr>
                        <a:t>구좌</a:t>
                      </a:r>
                    </a:p>
                  </a:txBody>
                  <a:tcPr/>
                </a:tc>
              </a:tr>
              <a:tr h="292608">
                <a:tc>
                  <a:txBody>
                    <a:bodyPr/>
                    <a:lstStyle/>
                    <a:p>
                      <a:r>
                        <a:rPr sz="1000">
                          <a:latin typeface="맑은 고딕"/>
                        </a:rPr>
                        <a:t>스타벅스 더제주송당파크R점</a:t>
                      </a:r>
                    </a:p>
                  </a:txBody>
                  <a:tcPr/>
                </a:tc>
                <a:tc>
                  <a:txBody>
                    <a:bodyPr/>
                    <a:lstStyle/>
                    <a:p>
                      <a:r>
                        <a:rPr sz="1000">
                          <a:latin typeface="맑은 고딕"/>
                        </a:rPr>
                        <a:t>191</a:t>
                      </a:r>
                    </a:p>
                  </a:txBody>
                  <a:tcPr/>
                </a:tc>
                <a:tc>
                  <a:txBody>
                    <a:bodyPr/>
                    <a:lstStyle/>
                    <a:p>
                      <a:r>
                        <a:rPr sz="1000">
                          <a:latin typeface="맑은 고딕"/>
                        </a:rPr>
                        <a:t>구좌</a:t>
                      </a:r>
                    </a:p>
                  </a:txBody>
                  <a:tcPr/>
                </a:tc>
              </a:tr>
              <a:tr h="292608">
                <a:tc>
                  <a:txBody>
                    <a:bodyPr/>
                    <a:lstStyle/>
                    <a:p>
                      <a:r>
                        <a:rPr sz="1000">
                          <a:latin typeface="맑은 고딕"/>
                        </a:rPr>
                        <a:t>세화카페마티에르</a:t>
                      </a:r>
                    </a:p>
                  </a:txBody>
                  <a:tcPr/>
                </a:tc>
                <a:tc>
                  <a:txBody>
                    <a:bodyPr/>
                    <a:lstStyle/>
                    <a:p>
                      <a:r>
                        <a:rPr sz="1000">
                          <a:latin typeface="맑은 고딕"/>
                        </a:rPr>
                        <a:t>190</a:t>
                      </a:r>
                    </a:p>
                  </a:txBody>
                  <a:tcPr/>
                </a:tc>
                <a:tc>
                  <a:txBody>
                    <a:bodyPr/>
                    <a:lstStyle/>
                    <a:p>
                      <a:r>
                        <a:rPr sz="1000">
                          <a:latin typeface="맑은 고딕"/>
                        </a:rPr>
                        <a:t>구좌</a:t>
                      </a:r>
                    </a:p>
                  </a:txBody>
                  <a:tcPr/>
                </a:tc>
              </a:tr>
              <a:tr h="292608">
                <a:tc>
                  <a:txBody>
                    <a:bodyPr/>
                    <a:lstStyle/>
                    <a:p>
                      <a:r>
                        <a:rPr sz="1000">
                          <a:latin typeface="맑은 고딕"/>
                        </a:rPr>
                        <a:t>아베베비킬라</a:t>
                      </a:r>
                    </a:p>
                  </a:txBody>
                  <a:tcPr/>
                </a:tc>
                <a:tc>
                  <a:txBody>
                    <a:bodyPr/>
                    <a:lstStyle/>
                    <a:p>
                      <a:r>
                        <a:rPr sz="1000">
                          <a:latin typeface="맑은 고딕"/>
                        </a:rPr>
                        <a:t>184</a:t>
                      </a:r>
                    </a:p>
                  </a:txBody>
                  <a:tcPr/>
                </a:tc>
                <a:tc>
                  <a:txBody>
                    <a:bodyPr/>
                    <a:lstStyle/>
                    <a:p>
                      <a:r>
                        <a:rPr sz="1000">
                          <a:latin typeface="맑은 고딕"/>
                        </a:rPr>
                        <a:t>(지역 미지정)</a:t>
                      </a:r>
                    </a:p>
                  </a:txBody>
                  <a:tcPr/>
                </a:tc>
              </a:tr>
              <a:tr h="292608">
                <a:tc>
                  <a:txBody>
                    <a:bodyPr/>
                    <a:lstStyle/>
                    <a:p>
                      <a:r>
                        <a:rPr sz="1000">
                          <a:latin typeface="맑은 고딕"/>
                        </a:rPr>
                        <a:t>카페 레이어드 제주점</a:t>
                      </a:r>
                    </a:p>
                  </a:txBody>
                  <a:tcPr/>
                </a:tc>
                <a:tc>
                  <a:txBody>
                    <a:bodyPr/>
                    <a:lstStyle/>
                    <a:p>
                      <a:r>
                        <a:rPr sz="1000">
                          <a:latin typeface="맑은 고딕"/>
                        </a:rPr>
                        <a:t>184</a:t>
                      </a:r>
                    </a:p>
                  </a:txBody>
                  <a:tcPr/>
                </a:tc>
                <a:tc>
                  <a:txBody>
                    <a:bodyPr/>
                    <a:lstStyle/>
                    <a:p>
                      <a:r>
                        <a:rPr sz="1000">
                          <a:latin typeface="맑은 고딕"/>
                        </a:rPr>
                        <a:t>구좌</a:t>
                      </a:r>
                    </a:p>
                  </a:txBody>
                  <a:tcPr/>
                </a:tc>
              </a:tr>
              <a:tr h="292608">
                <a:tc>
                  <a:txBody>
                    <a:bodyPr/>
                    <a:lstStyle/>
                    <a:p>
                      <a:r>
                        <a:rPr sz="1000">
                          <a:latin typeface="맑은 고딕"/>
                        </a:rPr>
                        <a:t>위이</a:t>
                      </a:r>
                    </a:p>
                  </a:txBody>
                  <a:tcPr/>
                </a:tc>
                <a:tc>
                  <a:txBody>
                    <a:bodyPr/>
                    <a:lstStyle/>
                    <a:p>
                      <a:r>
                        <a:rPr sz="1000">
                          <a:latin typeface="맑은 고딕"/>
                        </a:rPr>
                        <a:t>178</a:t>
                      </a:r>
                    </a:p>
                  </a:txBody>
                  <a:tcPr/>
                </a:tc>
                <a:tc>
                  <a:txBody>
                    <a:bodyPr/>
                    <a:lstStyle/>
                    <a:p>
                      <a:r>
                        <a:rPr sz="1000">
                          <a:latin typeface="맑은 고딕"/>
                        </a:rPr>
                        <a:t>안덕</a:t>
                      </a:r>
                    </a:p>
                  </a:txBody>
                  <a:tcPr/>
                </a:tc>
              </a:tr>
              <a:tr h="292608">
                <a:tc>
                  <a:txBody>
                    <a:bodyPr/>
                    <a:lstStyle/>
                    <a:p>
                      <a:r>
                        <a:rPr sz="1000">
                          <a:latin typeface="맑은 고딕"/>
                        </a:rPr>
                        <a:t>코리코카페 제주점</a:t>
                      </a:r>
                    </a:p>
                  </a:txBody>
                  <a:tcPr/>
                </a:tc>
                <a:tc>
                  <a:txBody>
                    <a:bodyPr/>
                    <a:lstStyle/>
                    <a:p>
                      <a:r>
                        <a:rPr sz="1000">
                          <a:latin typeface="맑은 고딕"/>
                        </a:rPr>
                        <a:t>174</a:t>
                      </a:r>
                    </a:p>
                  </a:txBody>
                  <a:tcPr/>
                </a:tc>
                <a:tc>
                  <a:txBody>
                    <a:bodyPr/>
                    <a:lstStyle/>
                    <a:p>
                      <a:r>
                        <a:rPr sz="1000">
                          <a:latin typeface="맑은 고딕"/>
                        </a:rPr>
                        <a:t>구좌</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상위 10 중 5곳이 구좌 버킷. bloggers = 해당 카페를 언급한 고유 블로거 수</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5) evidence_snippets.json 근거 스니펫</a:t>
            </a:r>
          </a:p>
        </p:txBody>
      </p:sp>
      <p:graphicFrame>
        <p:nvGraphicFramePr>
          <p:cNvPr id="3" name="Table 2"/>
          <p:cNvGraphicFramePr>
            <a:graphicFrameLocks noGrp="1"/>
          </p:cNvGraphicFramePr>
          <p:nvPr/>
        </p:nvGraphicFramePr>
        <p:xfrm>
          <a:off x="457200" y="822960"/>
          <a:ext cx="8229600" cy="2048256"/>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항목</a:t>
                      </a:r>
                    </a:p>
                  </a:txBody>
                  <a:tcPr/>
                </a:tc>
                <a:tc>
                  <a:txBody>
                    <a:bodyPr/>
                    <a:lstStyle/>
                    <a:p>
                      <a:r>
                        <a:rPr sz="1100" b="1">
                          <a:latin typeface="맑은 고딕"/>
                        </a:rPr>
                        <a:t>값</a:t>
                      </a:r>
                    </a:p>
                  </a:txBody>
                  <a:tcPr/>
                </a:tc>
              </a:tr>
              <a:tr h="292608">
                <a:tc>
                  <a:txBody>
                    <a:bodyPr/>
                    <a:lstStyle/>
                    <a:p>
                      <a:r>
                        <a:rPr sz="1000">
                          <a:latin typeface="맑은 고딕"/>
                        </a:rPr>
                        <a:t>총 스니펫 수</a:t>
                      </a:r>
                    </a:p>
                  </a:txBody>
                  <a:tcPr/>
                </a:tc>
                <a:tc>
                  <a:txBody>
                    <a:bodyPr/>
                    <a:lstStyle/>
                    <a:p>
                      <a:r>
                        <a:rPr sz="1000">
                          <a:latin typeface="맑은 고딕"/>
                        </a:rPr>
                        <a:t>51,661</a:t>
                      </a:r>
                    </a:p>
                  </a:txBody>
                  <a:tcPr/>
                </a:tc>
              </a:tr>
              <a:tr h="292608">
                <a:tc>
                  <a:txBody>
                    <a:bodyPr/>
                    <a:lstStyle/>
                    <a:p>
                      <a:r>
                        <a:rPr sz="1000">
                          <a:latin typeface="맑은 고딕"/>
                        </a:rPr>
                        <a:t>커버 카페 수</a:t>
                      </a:r>
                    </a:p>
                  </a:txBody>
                  <a:tcPr/>
                </a:tc>
                <a:tc>
                  <a:txBody>
                    <a:bodyPr/>
                    <a:lstStyle/>
                    <a:p>
                      <a:r>
                        <a:rPr sz="1000">
                          <a:latin typeface="맑은 고딕"/>
                        </a:rPr>
                        <a:t>764 (전 키 비어있지 않음)</a:t>
                      </a:r>
                    </a:p>
                  </a:txBody>
                  <a:tcPr/>
                </a:tc>
              </a:tr>
              <a:tr h="292608">
                <a:tc>
                  <a:txBody>
                    <a:bodyPr/>
                    <a:lstStyle/>
                    <a:p>
                      <a:r>
                        <a:rPr sz="1000">
                          <a:latin typeface="맑은 고딕"/>
                        </a:rPr>
                        <a:t>스니펫 최다 1위</a:t>
                      </a:r>
                    </a:p>
                  </a:txBody>
                  <a:tcPr/>
                </a:tc>
                <a:tc>
                  <a:txBody>
                    <a:bodyPr/>
                    <a:lstStyle/>
                    <a:p>
                      <a:r>
                        <a:rPr sz="1000">
                          <a:latin typeface="맑은 고딕"/>
                        </a:rPr>
                        <a:t>런던베이글뮤지엄 제주점 (492건)</a:t>
                      </a:r>
                    </a:p>
                  </a:txBody>
                  <a:tcPr/>
                </a:tc>
              </a:tr>
              <a:tr h="292608">
                <a:tc>
                  <a:txBody>
                    <a:bodyPr/>
                    <a:lstStyle/>
                    <a:p>
                      <a:r>
                        <a:rPr sz="1000">
                          <a:latin typeface="맑은 고딕"/>
                        </a:rPr>
                        <a:t>스니펫 최다 2위</a:t>
                      </a:r>
                    </a:p>
                  </a:txBody>
                  <a:tcPr/>
                </a:tc>
                <a:tc>
                  <a:txBody>
                    <a:bodyPr/>
                    <a:lstStyle/>
                    <a:p>
                      <a:r>
                        <a:rPr sz="1000">
                          <a:latin typeface="맑은 고딕"/>
                        </a:rPr>
                        <a:t>해일리 카페 (488건)</a:t>
                      </a:r>
                    </a:p>
                  </a:txBody>
                  <a:tcPr/>
                </a:tc>
              </a:tr>
              <a:tr h="292608">
                <a:tc>
                  <a:txBody>
                    <a:bodyPr/>
                    <a:lstStyle/>
                    <a:p>
                      <a:r>
                        <a:rPr sz="1000">
                          <a:latin typeface="맑은 고딕"/>
                        </a:rPr>
                        <a:t>스니펫 최다 3위</a:t>
                      </a:r>
                    </a:p>
                  </a:txBody>
                  <a:tcPr/>
                </a:tc>
                <a:tc>
                  <a:txBody>
                    <a:bodyPr/>
                    <a:lstStyle/>
                    <a:p>
                      <a:r>
                        <a:rPr sz="1000">
                          <a:latin typeface="맑은 고딕"/>
                        </a:rPr>
                        <a:t>프릳츠 제주성산점 (396건)</a:t>
                      </a:r>
                    </a:p>
                  </a:txBody>
                  <a:tcPr/>
                </a:tc>
              </a:tr>
              <a:tr h="292608">
                <a:tc>
                  <a:txBody>
                    <a:bodyPr/>
                    <a:lstStyle/>
                    <a:p>
                      <a:r>
                        <a:rPr sz="1000">
                          <a:latin typeface="맑은 고딕"/>
                        </a:rPr>
                        <a:t>카페당 평균 스니펫</a:t>
                      </a:r>
                    </a:p>
                  </a:txBody>
                  <a:tcPr/>
                </a:tc>
                <a:tc>
                  <a:txBody>
                    <a:bodyPr/>
                    <a:lstStyle/>
                    <a:p>
                      <a:r>
                        <a:rPr sz="1000">
                          <a:latin typeface="맑은 고딕"/>
                        </a:rPr>
                        <a:t>67.6건</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카페명 키 -&gt; 스니펫 리스트(제목 t, date, blogger, link) 구조. 카드 831장 대비 커버율 91.9%</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1800" b="1" i="0">
                <a:solidFill>
                  <a:srgbClr val="202020"/>
                </a:solidFill>
                <a:latin typeface="맑은 고딕"/>
              </a:rPr>
              <a:t>데이터 실측 — 6) 병합 성과 (정본매핑.json)</a:t>
            </a:r>
          </a:p>
        </p:txBody>
      </p:sp>
      <p:graphicFrame>
        <p:nvGraphicFramePr>
          <p:cNvPr id="3" name="Table 2"/>
          <p:cNvGraphicFramePr>
            <a:graphicFrameLocks noGrp="1"/>
          </p:cNvGraphicFramePr>
          <p:nvPr/>
        </p:nvGraphicFramePr>
        <p:xfrm>
          <a:off x="457200" y="822960"/>
          <a:ext cx="8229600" cy="2048256"/>
        </p:xfrm>
        <a:graphic>
          <a:graphicData uri="http://schemas.openxmlformats.org/drawingml/2006/table">
            <a:tbl>
              <a:tblPr firstRow="1" bandRow="1">
                <a:tableStyleId>{5C22544A-7EE6-4342-B048-85BDC9FD1C3A}</a:tableStyleId>
              </a:tblPr>
              <a:tblGrid>
                <a:gridCol w="4114800"/>
                <a:gridCol w="4114800"/>
              </a:tblGrid>
              <a:tr h="292608">
                <a:tc>
                  <a:txBody>
                    <a:bodyPr/>
                    <a:lstStyle/>
                    <a:p>
                      <a:r>
                        <a:rPr sz="1100" b="1">
                          <a:latin typeface="맑은 고딕"/>
                        </a:rPr>
                        <a:t>항목</a:t>
                      </a:r>
                    </a:p>
                  </a:txBody>
                  <a:tcPr/>
                </a:tc>
                <a:tc>
                  <a:txBody>
                    <a:bodyPr/>
                    <a:lstStyle/>
                    <a:p>
                      <a:r>
                        <a:rPr sz="1100" b="1">
                          <a:latin typeface="맑은 고딕"/>
                        </a:rPr>
                        <a:t>값</a:t>
                      </a:r>
                    </a:p>
                  </a:txBody>
                  <a:tcPr/>
                </a:tc>
              </a:tr>
              <a:tr h="292608">
                <a:tc>
                  <a:txBody>
                    <a:bodyPr/>
                    <a:lstStyle/>
                    <a:p>
                      <a:r>
                        <a:rPr sz="1000">
                          <a:latin typeface="맑은 고딕"/>
                        </a:rPr>
                        <a:t>매핑 항목 수(이름 변형, 빈 키 1개 제외)</a:t>
                      </a:r>
                    </a:p>
                  </a:txBody>
                  <a:tcPr/>
                </a:tc>
                <a:tc>
                  <a:txBody>
                    <a:bodyPr/>
                    <a:lstStyle/>
                    <a:p>
                      <a:r>
                        <a:rPr sz="1000">
                          <a:latin typeface="맑은 고딕"/>
                        </a:rPr>
                        <a:t>1,298</a:t>
                      </a:r>
                    </a:p>
                  </a:txBody>
                  <a:tcPr/>
                </a:tc>
              </a:tr>
              <a:tr h="292608">
                <a:tc>
                  <a:txBody>
                    <a:bodyPr/>
                    <a:lstStyle/>
                    <a:p>
                      <a:r>
                        <a:rPr sz="1000">
                          <a:latin typeface="맑은 고딕"/>
                        </a:rPr>
                        <a:t>정본(canonical) 그룹 수</a:t>
                      </a:r>
                    </a:p>
                  </a:txBody>
                  <a:tcPr/>
                </a:tc>
                <a:tc>
                  <a:txBody>
                    <a:bodyPr/>
                    <a:lstStyle/>
                    <a:p>
                      <a:r>
                        <a:rPr sz="1000">
                          <a:latin typeface="맑은 고딕"/>
                        </a:rPr>
                        <a:t>830</a:t>
                      </a:r>
                    </a:p>
                  </a:txBody>
                  <a:tcPr/>
                </a:tc>
              </a:tr>
              <a:tr h="292608">
                <a:tc>
                  <a:txBody>
                    <a:bodyPr/>
                    <a:lstStyle/>
                    <a:p>
                      <a:r>
                        <a:rPr sz="1000">
                          <a:latin typeface="맑은 고딕"/>
                        </a:rPr>
                        <a:t>2조각 이상 병합 그룹 수</a:t>
                      </a:r>
                    </a:p>
                  </a:txBody>
                  <a:tcPr/>
                </a:tc>
                <a:tc>
                  <a:txBody>
                    <a:bodyPr/>
                    <a:lstStyle/>
                    <a:p>
                      <a:r>
                        <a:rPr sz="1000">
                          <a:latin typeface="맑은 고딕"/>
                        </a:rPr>
                        <a:t>348</a:t>
                      </a:r>
                    </a:p>
                  </a:txBody>
                  <a:tcPr/>
                </a:tc>
              </a:tr>
              <a:tr h="292608">
                <a:tc>
                  <a:txBody>
                    <a:bodyPr/>
                    <a:lstStyle/>
                    <a:p>
                      <a:r>
                        <a:rPr sz="1000">
                          <a:latin typeface="맑은 고딕"/>
                        </a:rPr>
                        <a:t>최다 조각 1위</a:t>
                      </a:r>
                    </a:p>
                  </a:txBody>
                  <a:tcPr/>
                </a:tc>
                <a:tc>
                  <a:txBody>
                    <a:bodyPr/>
                    <a:lstStyle/>
                    <a:p>
                      <a:r>
                        <a:rPr sz="1000">
                          <a:latin typeface="맑은 고딕"/>
                        </a:rPr>
                        <a:t>프릳츠 제주성산점 (9조각: 성산프릳츠, 프릳츠, 프릳츠카페성산점 등)</a:t>
                      </a:r>
                    </a:p>
                  </a:txBody>
                  <a:tcPr/>
                </a:tc>
              </a:tr>
              <a:tr h="292608">
                <a:tc>
                  <a:txBody>
                    <a:bodyPr/>
                    <a:lstStyle/>
                    <a:p>
                      <a:r>
                        <a:rPr sz="1000">
                          <a:latin typeface="맑은 고딕"/>
                        </a:rPr>
                        <a:t>최다 조각 2위</a:t>
                      </a:r>
                    </a:p>
                  </a:txBody>
                  <a:tcPr/>
                </a:tc>
                <a:tc>
                  <a:txBody>
                    <a:bodyPr/>
                    <a:lstStyle/>
                    <a:p>
                      <a:r>
                        <a:rPr sz="1000">
                          <a:latin typeface="맑은 고딕"/>
                        </a:rPr>
                        <a:t>해일리 카페 (7조각: 해일리, 헤일리, 성산해일리카페 등)</a:t>
                      </a:r>
                    </a:p>
                  </a:txBody>
                  <a:tcPr/>
                </a:tc>
              </a:tr>
              <a:tr h="292608">
                <a:tc>
                  <a:txBody>
                    <a:bodyPr/>
                    <a:lstStyle/>
                    <a:p>
                      <a:r>
                        <a:rPr sz="1000">
                          <a:latin typeface="맑은 고딕"/>
                        </a:rPr>
                        <a:t>최다 조각 3위</a:t>
                      </a:r>
                    </a:p>
                  </a:txBody>
                  <a:tcPr/>
                </a:tc>
                <a:tc>
                  <a:txBody>
                    <a:bodyPr/>
                    <a:lstStyle/>
                    <a:p>
                      <a:r>
                        <a:rPr sz="1000">
                          <a:latin typeface="맑은 고딕"/>
                        </a:rPr>
                        <a:t>카페루시아 본점 (7조각: Cafe Lucia, 카페 루시아 등)</a:t>
                      </a:r>
                    </a:p>
                  </a:txBody>
                  <a:tcPr/>
                </a:tc>
              </a:tr>
            </a:tbl>
          </a:graphicData>
        </a:graphic>
      </p:graphicFrame>
      <p:sp>
        <p:nvSpPr>
          <p:cNvPr id="4" name="TextBox 3"/>
          <p:cNvSpPr txBox="1"/>
          <p:nvPr/>
        </p:nvSpPr>
        <p:spPr>
          <a:xfrm>
            <a:off x="457200" y="4686300"/>
            <a:ext cx="8229600" cy="320040"/>
          </a:xfrm>
          <a:prstGeom prst="rect">
            <a:avLst/>
          </a:prstGeom>
          <a:noFill/>
        </p:spPr>
        <p:txBody>
          <a:bodyPr wrap="square">
            <a:spAutoFit/>
          </a:bodyPr>
          <a:lstStyle/>
          <a:p>
            <a:r>
              <a:rPr sz="1000" b="0" i="1">
                <a:solidFill>
                  <a:srgbClr val="777777"/>
                </a:solidFill>
                <a:latin typeface="맑은 고딕"/>
              </a:rPr>
              <a:t>※ 이름변형 -&gt; {canonical, place_id} 딕셔너리 구조. 1,298개 이름 조각이 830개 정본으로 수렴(카드 831장과 1 차이는 빈 키 유래). 오탈자(해일리/헤일리), 영문표기, 띄어쓰기 변형까지 흡수</a:t>
            </a:r>
          </a:p>
        </p:txBody>
      </p:sp>
      <p:sp>
        <p:nvSpPr>
          <p:cNvPr id="5" name="TextBox 4"/>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데이터 (1)</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크롤링의 적법성이나 저작권 문제는 없나요?</a:t>
            </a:r>
          </a:p>
          <a:p>
            <a:r>
              <a:rPr sz="1200" b="0" i="0">
                <a:solidFill>
                  <a:srgbClr val="202020"/>
                </a:solidFill>
                <a:latin typeface="맑은 고딕"/>
              </a:rPr>
              <a:t>→ 수집은 유튜브 Data API·네이버 검색 API·카카오 API 등 공식 API 경유가 기본이고, 화면에는 원문 전체가 아니라 최대 160자 발췌 + 원문 링크만 노출합니다. 상업 서비스 전환 시에는 각 플랫폼 약관 재검토가 필요하다는 점을 인지하고 있습니다.</a:t>
            </a:r>
          </a:p>
          <a:p>
            <a:pPr>
              <a:spcBef>
                <a:spcPts val="800"/>
              </a:spcBef>
            </a:pPr>
            <a:r>
              <a:rPr sz="1300" b="1" i="0">
                <a:solidFill>
                  <a:srgbClr val="202020"/>
                </a:solidFill>
                <a:latin typeface="맑은 고딕"/>
              </a:rPr>
              <a:t>Q. 데이터 최신성은 어떻게 유지하나요? 폐업한 카페가 계속 추천되면요?</a:t>
            </a:r>
          </a:p>
          <a:p>
            <a:r>
              <a:rPr sz="1200" b="0" i="0">
                <a:solidFill>
                  <a:srgbClr val="202020"/>
                </a:solidFill>
                <a:latin typeface="맑은 고딕"/>
              </a:rPr>
              <a:t>→ 폐업은 세 경로 — 블로그 closed_hint 자동 검출 11곳, 쇼츠 댓글 폐업 제보 10건, 사람 제보 — 가 서로 교차 검증하고, 실제 강등된 12곳은 자동 검출 11 + 팀 제보 1(애월빵공장)입니다. 근거 인용은 2024년 이후 글만 쓰고, 정기 자동 재수집은 아직 없어 배치 파이프라인을 재실행해 카드를 다시 굽는 구조입니다.</a:t>
            </a:r>
          </a:p>
          <a:p>
            <a:pPr>
              <a:spcBef>
                <a:spcPts val="800"/>
              </a:spcBef>
            </a:pPr>
            <a:r>
              <a:rPr sz="1300" b="1" i="0">
                <a:solidFill>
                  <a:srgbClr val="202020"/>
                </a:solidFill>
                <a:latin typeface="맑은 고딕"/>
              </a:rPr>
              <a:t>Q. 데이터 수집에 비용과 기간이 얼마나 들었나요?</a:t>
            </a:r>
          </a:p>
          <a:p>
            <a:r>
              <a:rPr sz="1200" b="0" i="0">
                <a:solidFill>
                  <a:srgbClr val="202020"/>
                </a:solidFill>
                <a:latin typeface="맑은 고딕"/>
              </a:rPr>
              <a:t>→ LLM 정제 비용은 유튜브 추출 Pass 1이 약 40분에 약 $2, 블로그 정제 996콜이 약 40분에 약 $2 — 굵직한 배치 합계가 5달러 미만입니다. 수집 자체는 공식 API 무료 쿼터로 해결했고, 전체 집중 개발 기간은 나흘이었습니다.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데이터 (2)</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카페 1,064곳이라는 규모는 어떻게 나온 숫자이고, 충분한 건가요?</a:t>
            </a:r>
          </a:p>
          <a:p>
            <a:r>
              <a:rPr sz="1200" b="0" i="0">
                <a:solidFill>
                  <a:srgbClr val="202020"/>
                </a:solidFill>
                <a:latin typeface="맑은 고딕"/>
              </a:rPr>
              <a:t>→ 특정 유튜버 구독이 아니라 지역×주제 키워드 격자 41+18개로 그물을 쳐서 유튜브 raw 1,988건(격자 1,359건 + 카페 보강) → 카페 언급 1,504건 → 고유 카페 1,064곳이 나왔고, place_id 병합 후 정본 카드 831장입니다. 평가 시점 스냅샷 기준 대표 카페 DB 수록률이 99.6%였습니다.</a:t>
            </a:r>
          </a:p>
          <a:p>
            <a:pPr>
              <a:spcBef>
                <a:spcPts val="800"/>
              </a:spcBef>
            </a:pPr>
            <a:r>
              <a:rPr sz="1300" b="1" i="0">
                <a:solidFill>
                  <a:srgbClr val="202020"/>
                </a:solidFill>
                <a:latin typeface="맑은 고딕"/>
              </a:rPr>
              <a:t>Q. 유튜브·블로그에 안 나오는 숨은 카페는 편향으로 빠지는 것 아닌가요?</a:t>
            </a:r>
          </a:p>
          <a:p>
            <a:r>
              <a:rPr sz="1200" b="0" i="0">
                <a:solidFill>
                  <a:srgbClr val="202020"/>
                </a:solidFill>
                <a:latin typeface="맑은 고딕"/>
              </a:rPr>
              <a:t>→ 맞습니다 — 미디어 노출이 없는 카페는 모집단에 못 들어옵니다. 공공 명부 2,863곳 대비 1,064곳, 약 37%입니다. 다만 '여행자가 검색으로 찾을 카페'라는 목적에는 이 편향이 정렬돼 있고, 쇼츠 댓글에서 카페를 발굴해 검증 후 편입하는 보완 경로도 실제로 돌았습니다.</a:t>
            </a:r>
          </a:p>
          <a:p>
            <a:pPr>
              <a:spcBef>
                <a:spcPts val="800"/>
              </a:spcBef>
            </a:pPr>
            <a:r>
              <a:rPr sz="1300" b="1" i="0">
                <a:solidFill>
                  <a:srgbClr val="202020"/>
                </a:solidFill>
                <a:latin typeface="맑은 고딕"/>
              </a:rPr>
              <a:t>Q. 블로그 상위 노출은 광고·협찬이 점령했는데, 그 오염은 어떻게 걸렀나요?</a:t>
            </a:r>
          </a:p>
          <a:p>
            <a:r>
              <a:rPr sz="1200" b="0" i="0">
                <a:solidFill>
                  <a:srgbClr val="202020"/>
                </a:solidFill>
                <a:latin typeface="맑은 고딕"/>
              </a:rPr>
              <a:t>→ 한 명이 열 번 말한 것보다 열 명이 한 번씩 말한 것을 믿는 '고유 블로거 수 다수결'로 도배를 무력화하고, 블로그가 절대 안 쓰는 부정 신호는 쇼츠 댓글·카카오 별점이라는 별도 매체에서 교차합니다.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서비스 (1)</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타깃 사용자는 누구인가요?</a:t>
            </a:r>
          </a:p>
          <a:p>
            <a:r>
              <a:rPr sz="1200" b="0" i="0">
                <a:solidFill>
                  <a:srgbClr val="202020"/>
                </a:solidFill>
                <a:latin typeface="맑은 고딕"/>
              </a:rPr>
              <a:t>→ 제주 여행 전에 유튜브→카카오 평점→블로그→댓글을 오가며 최소 15분씩 교차 검증하는 여행자입니다. 그 15분의 교차 검증을 시스템이 대신해서, 근거가 붙은 카드로 1~3초 만에 내놓는 게 저희 서비스의 자리입니다.</a:t>
            </a:r>
          </a:p>
          <a:p>
            <a:pPr>
              <a:spcBef>
                <a:spcPts val="800"/>
              </a:spcBef>
            </a:pPr>
            <a:r>
              <a:rPr sz="1300" b="1" i="0">
                <a:solidFill>
                  <a:srgbClr val="202020"/>
                </a:solidFill>
                <a:latin typeface="맑은 고딕"/>
              </a:rPr>
              <a:t>Q. 카카오에 너무 의존하는 것 아닌가요? 카카오맵 정책이 바뀌면 어떻게 되죠?</a:t>
            </a:r>
          </a:p>
          <a:p>
            <a:r>
              <a:rPr sz="1200" b="0" i="0">
                <a:solidFill>
                  <a:srgbClr val="202020"/>
                </a:solidFill>
                <a:latin typeface="맑은 고딕"/>
              </a:rPr>
              <a:t>→ 카카오는 두 역할로 분리돼 있습니다 — place_id(신원 키)와 지도 SDK(액자). 지도는 언제든 교체 가능하고 실제로 키 없이 SVG 폴백 지도로도 돌아가며, place_id는 내부 정본 키라 이관 시 재매핑 배치 한 번이면 됩니다.</a:t>
            </a:r>
          </a:p>
          <a:p>
            <a:pPr>
              <a:spcBef>
                <a:spcPts val="800"/>
              </a:spcBef>
            </a:pPr>
            <a:r>
              <a:rPr sz="1300" b="1" i="0">
                <a:solidFill>
                  <a:srgbClr val="202020"/>
                </a:solidFill>
                <a:latin typeface="맑은 고딕"/>
              </a:rPr>
              <a:t>Q. 다른 지역이나 맛집 도메인으로 확장할 수 있나요?</a:t>
            </a:r>
          </a:p>
          <a:p>
            <a:r>
              <a:rPr sz="1200" b="0" i="0">
                <a:solidFill>
                  <a:srgbClr val="202020"/>
                </a:solidFill>
                <a:latin typeface="맑은 고딕"/>
              </a:rPr>
              <a:t>→ 확장은 이번 해커톤 범위 밖이라 실제 계획은 없습니다. 다만 파이프라인이 제주 전용 코드가 아니라 '키워드 격자→추출→정본화→카드'라는 범용 절차여서, 지역 버킷과 태그 사전을 해당 도메인 어휘로 다시 만들면 구조상 재사용이 가능합니다.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서비스 (2)</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수익화는 어떻게 구상하고 있나요?</a:t>
            </a:r>
          </a:p>
          <a:p>
            <a:r>
              <a:rPr sz="1200" b="0" i="0">
                <a:solidFill>
                  <a:srgbClr val="202020"/>
                </a:solidFill>
                <a:latin typeface="맑은 고딕"/>
              </a:rPr>
              <a:t>→ 수익화는 현재 범위 밖이라 확정된 구상이 없습니다. 한 가지 분명한 건, 저희 컨셉이 '신뢰'라서 카페에게 돈을 받고 순위를 파는 광고 모델과는 구조적으로 상충한다는 점입니다.</a:t>
            </a:r>
          </a:p>
          <a:p>
            <a:pPr>
              <a:spcBef>
                <a:spcPts val="800"/>
              </a:spcBef>
            </a:pPr>
            <a:r>
              <a:rPr sz="1300" b="1" i="0">
                <a:solidFill>
                  <a:srgbClr val="202020"/>
                </a:solidFill>
                <a:latin typeface="맑은 고딕"/>
              </a:rPr>
              <a:t>Q. 네이버지도·카카오맵 같은 기존 서비스와 무엇이 다른가요?</a:t>
            </a:r>
          </a:p>
          <a:p>
            <a:r>
              <a:rPr sz="1200" b="0" i="0">
                <a:solidFill>
                  <a:srgbClr val="202020"/>
                </a:solidFill>
                <a:latin typeface="맑은 고딕"/>
              </a:rPr>
              <a:t>→ 기존 지도는 검색 결과를 주지만 '왜 이 카페인지'는 말하지 않습니다. 저희는 모든 추천에 코드가 조립한 추천 이유(지역·태그·블로거 수)와 원문 인용, 아쉬운 점까지 붙이고 — 조건에 맞는 곳이 없으면 없다고 말합니다.</a:t>
            </a:r>
          </a:p>
          <a:p>
            <a:pPr>
              <a:spcBef>
                <a:spcPts val="800"/>
              </a:spcBef>
            </a:pPr>
            <a:r>
              <a:rPr sz="1300" b="1" i="0">
                <a:solidFill>
                  <a:srgbClr val="202020"/>
                </a:solidFill>
                <a:latin typeface="맑은 고딕"/>
              </a:rPr>
              <a:t>Q. 조건에 맞는 카페가 없다고 0건을 보여주면 사용자가 떠나지 않나요?</a:t>
            </a:r>
          </a:p>
          <a:p>
            <a:r>
              <a:rPr sz="1200" b="0" i="0">
                <a:solidFill>
                  <a:srgbClr val="202020"/>
                </a:solidFill>
                <a:latin typeface="맑은 고딕"/>
              </a:rPr>
              <a:t>→ 맨몸의 0건이 아니라 완화 사다리를 탑니다 — 지역은 세부→버킷→전체로 단계 완화하고, /agent 판단 루프가 부족하다고 보면 조건을 하나 빼고 재검색하며, 내부에 정말 없으면 '카카오맵에서 찾았어요' 배지를 단 외부 검색 폴백까지 갑니다. 단 하드조건만은 절대 완화하지 않습니다.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운영 (1)</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배포 환경은 무엇이고 비용은 얼마나 드나요?</a:t>
            </a:r>
          </a:p>
          <a:p>
            <a:r>
              <a:rPr sz="1200" b="0" i="0">
                <a:solidFill>
                  <a:srgbClr val="202020"/>
                </a:solidFill>
                <a:latin typeface="맑은 고딕"/>
              </a:rPr>
              <a:t>→ Render 무료 티어에 Docker 단일 컨테이너(FastAPI가 API와 정적 프론트를 함께 서빙)로 배포했고, 서버 고정 비용은 0원입니다. 가변 비용은 검색당 임베딩 API 호출 1회 수준으로 사실상 무시할 수 있습니다.</a:t>
            </a:r>
          </a:p>
          <a:p>
            <a:pPr>
              <a:spcBef>
                <a:spcPts val="800"/>
              </a:spcBef>
            </a:pPr>
            <a:r>
              <a:rPr sz="1300" b="1" i="0">
                <a:solidFill>
                  <a:srgbClr val="202020"/>
                </a:solidFill>
                <a:latin typeface="맑은 고딕"/>
              </a:rPr>
              <a:t>Q. 무료 티어면 콜드스타트 문제가 있지 않나요?</a:t>
            </a:r>
          </a:p>
          <a:p>
            <a:r>
              <a:rPr sz="1200" b="0" i="0">
                <a:solidFill>
                  <a:srgbClr val="202020"/>
                </a:solidFill>
                <a:latin typeface="맑은 고딕"/>
              </a:rPr>
              <a:t>→ 있습니다 — 15분 무활동이면 컨테이너가 잠들고 첫 요청이 부팅을 기다립니다(통상 수십 초 수준, 정확한 실측치는 재확인 필요). 대신 깨어난 뒤의 초기화 병목은 사전 인덱스화로 17.6초→0.16초까지 잡았습니다.</a:t>
            </a:r>
          </a:p>
          <a:p>
            <a:pPr>
              <a:spcBef>
                <a:spcPts val="800"/>
              </a:spcBef>
            </a:pPr>
            <a:r>
              <a:rPr sz="1300" b="1" i="0">
                <a:solidFill>
                  <a:srgbClr val="202020"/>
                </a:solidFill>
                <a:latin typeface="맑은 고딕"/>
              </a:rPr>
              <a:t>Q. API 키 보안은 어떻게 관리하나요?</a:t>
            </a:r>
          </a:p>
          <a:p>
            <a:r>
              <a:rPr sz="1200" b="0" i="0">
                <a:solidFill>
                  <a:srgbClr val="202020"/>
                </a:solidFill>
                <a:latin typeface="맑은 고딕"/>
              </a:rPr>
              <a:t>→ 모든 키는 서버 환경변수로만 살고 프론트에 내려가지 않습니다 — 사진도 키 대신 만료되는 임시 URL만 전달합니다. 유일하게 브라우저로 나가는 카카오 JS 키는 카카오 콘솔 도메인 등록으로 보호합니다.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운영 (2)</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응답 속도는 얼마나 나오나요?</a:t>
            </a:r>
          </a:p>
          <a:p>
            <a:r>
              <a:rPr sz="1200" b="0" i="0">
                <a:solidFill>
                  <a:srgbClr val="202020"/>
                </a:solidFill>
                <a:latin typeface="맑은 고딕"/>
              </a:rPr>
              <a:t>→ /search는 1~3초입니다 — 런타임 생성 LLM을 전부 철거하면서 6~9초에서 3배 빨라졌습니다. 프론트가 실제로 쓰는 /agent(판단·완화 루프 포함)는 실측 3~13초입니다.</a:t>
            </a:r>
          </a:p>
          <a:p>
            <a:pPr>
              <a:spcBef>
                <a:spcPts val="800"/>
              </a:spcBef>
            </a:pPr>
            <a:r>
              <a:rPr sz="1300" b="1" i="0">
                <a:solidFill>
                  <a:srgbClr val="202020"/>
                </a:solidFill>
                <a:latin typeface="맑은 고딕"/>
              </a:rPr>
              <a:t>Q. 외부 API나 LLM이 죽으면 서비스는 어떻게 되나요?</a:t>
            </a:r>
          </a:p>
          <a:p>
            <a:r>
              <a:rPr sz="1200" b="0" i="0">
                <a:solidFill>
                  <a:srgbClr val="202020"/>
                </a:solidFill>
                <a:latin typeface="맑은 고딕"/>
              </a:rPr>
              <a:t>→ 층마다 폴백이 있어 통째로 죽지 않습니다 — LLM 판단 실패는 '기존 결과 유지'로 무해하게, 백엔드 다운은 프론트 mock 데이터로, 지도 키 부재는 SVG 폴백 지도로 각각 정직하게 강등됩니다.</a:t>
            </a:r>
          </a:p>
          <a:p>
            <a:pPr>
              <a:spcBef>
                <a:spcPts val="800"/>
              </a:spcBef>
            </a:pPr>
            <a:r>
              <a:rPr sz="1300" b="1" i="0">
                <a:solidFill>
                  <a:srgbClr val="202020"/>
                </a:solidFill>
                <a:latin typeface="맑은 고딕"/>
              </a:rPr>
              <a:t>Q. 사용자가 늘어나면 지금 구조로 감당할 수 있나요?</a:t>
            </a:r>
          </a:p>
          <a:p>
            <a:r>
              <a:rPr sz="1200" b="0" i="0">
                <a:solidFill>
                  <a:srgbClr val="202020"/>
                </a:solidFill>
                <a:latin typeface="맑은 고딕"/>
              </a:rPr>
              <a:t>→ 지금은 512MB 무료 티어 컨테이너 한 대라 해커톤 데모 규모가 정직한 현재 용량이고, 동시 접속 부하 테스트는 하지 않았습니다(재확인 필요). 다만 런타임이 읽기 전용 카드 조회뿐이라 상태가 없어, 복제·업그레이드로 늘리기 쉬운 구조입니다.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팀·과정 (1)</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개발 기간은 얼마나 걸렸나요?</a:t>
            </a:r>
          </a:p>
          <a:p>
            <a:r>
              <a:rPr sz="1200" b="0" i="0">
                <a:solidFill>
                  <a:srgbClr val="202020"/>
                </a:solidFill>
                <a:latin typeface="맑은 고딕"/>
              </a:rPr>
              <a:t>→ 집중 개발은 7월 7일부터 10일까지 나흘 — 발표 표현으로 96시간입니다. 그 안에 수집→정제→검색→평가→배포까지 관통했습니다.</a:t>
            </a:r>
          </a:p>
          <a:p>
            <a:pPr>
              <a:spcBef>
                <a:spcPts val="800"/>
              </a:spcBef>
            </a:pPr>
            <a:r>
              <a:rPr sz="1300" b="1" i="0">
                <a:solidFill>
                  <a:srgbClr val="202020"/>
                </a:solidFill>
                <a:latin typeface="맑은 고딕"/>
              </a:rPr>
              <a:t>Q. 팀 내 역할 분담은 어떻게 했나요?</a:t>
            </a:r>
          </a:p>
          <a:p>
            <a:r>
              <a:rPr sz="1200" b="0" i="0">
                <a:solidFill>
                  <a:srgbClr val="202020"/>
                </a:solidFill>
                <a:latin typeface="맑은 고딕"/>
              </a:rPr>
              <a:t>→ 데이터 파이프라인·검색 백엔드 / 프론트엔드 / 평가 체계(Gold·Silver·Bronze)와 시드 데이터셋으로 영역을 나눴습니다. 특히 평가 문항은 카드 데이터를 안 본 팀원이 전담해 평가 오염을 원천 차단했습니다.</a:t>
            </a:r>
          </a:p>
          <a:p>
            <a:pPr>
              <a:spcBef>
                <a:spcPts val="800"/>
              </a:spcBef>
            </a:pPr>
            <a:r>
              <a:rPr sz="1300" b="1" i="0">
                <a:solidFill>
                  <a:srgbClr val="202020"/>
                </a:solidFill>
                <a:latin typeface="맑은 고딕"/>
              </a:rPr>
              <a:t>Q. 개발하면서 가장 어려웠던 지점은 무엇이었나요?</a:t>
            </a:r>
          </a:p>
          <a:p>
            <a:r>
              <a:rPr sz="1200" b="0" i="0">
                <a:solidFill>
                  <a:srgbClr val="202020"/>
                </a:solidFill>
                <a:latin typeface="맑은 고딕"/>
              </a:rPr>
              <a:t>→ '같은 카페가 같은 카페인지 아는 것' — 신원 문제였습니다. 유명 카페 해지개가 검색에서 전멸하고, 프릳츠가 표기 차이로 9조각 나 있고, 지역 라벨 24.6%가 오답인 걸 연달아 실측하면서, 식별자를 전부 LLM 우회·코드 운반으로 바꾸는 대공사를 했습니다.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팀·과정 (2)</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Q. LLM 호출 비용은 총 얼마나 들었나요?</a:t>
            </a:r>
          </a:p>
          <a:p>
            <a:r>
              <a:rPr sz="1200" b="0" i="0">
                <a:solidFill>
                  <a:srgbClr val="202020"/>
                </a:solidFill>
                <a:latin typeface="맑은 고딕"/>
              </a:rPr>
              <a:t>→ 비용은 오프라인 배치에 몰려 있고 gpt-5-mini 기준 굵직한 배치 합계가 5달러 미만입니다 — 유튜브 추출 약 $2, 블로그 정제 약 $2. 런타임 /search는 생성 LLM 0회라 운영 중 비용이 거의 없습니다.</a:t>
            </a:r>
          </a:p>
          <a:p>
            <a:pPr>
              <a:spcBef>
                <a:spcPts val="800"/>
              </a:spcBef>
            </a:pPr>
            <a:r>
              <a:rPr sz="1300" b="1" i="0">
                <a:solidFill>
                  <a:srgbClr val="202020"/>
                </a:solidFill>
                <a:latin typeface="맑은 고딕"/>
              </a:rPr>
              <a:t>Q. 팀 협업은 구체적으로 어떤 방식으로 진행했나요?</a:t>
            </a:r>
          </a:p>
          <a:p>
            <a:r>
              <a:rPr sz="1200" b="0" i="0">
                <a:solidFill>
                  <a:srgbClr val="202020"/>
                </a:solidFill>
                <a:latin typeface="맑은 고딕"/>
              </a:rPr>
              <a:t>→ '회의 대신 실험, 말 대신 문서'였습니다 — 설계 논쟁은 같은 문항을 여러 방식에 던지는 비교 실험 실측으로 결정하고, 팀 간 인터페이스는 파도 계약·작업 지침서 같은 문서로 고정해 병렬로 작업했습니다.</a:t>
            </a:r>
          </a:p>
          <a:p>
            <a:pPr>
              <a:spcBef>
                <a:spcPts val="800"/>
              </a:spcBef>
            </a:pPr>
            <a:r>
              <a:rPr sz="1300" b="1" i="0">
                <a:solidFill>
                  <a:srgbClr val="202020"/>
                </a:solidFill>
                <a:latin typeface="맑은 고딕"/>
              </a:rPr>
              <a:t>Q. AI 코딩 도구는 얼마나 활용했나요? 그럼 팀이 직접 한 일은 뭔가요?</a:t>
            </a:r>
          </a:p>
          <a:p>
            <a:r>
              <a:rPr sz="1200" b="0" i="0">
                <a:solidFill>
                  <a:srgbClr val="202020"/>
                </a:solidFill>
                <a:latin typeface="맑은 고딕"/>
              </a:rPr>
              <a:t>→ AI 코딩 에이전트와의 협업이 개발 방식 그 자체였고, 그래서 나흘에 이 규모가 가능했습니다. 사람의 자리는 설계 결정·검증·평가 설계였습니다 — 나흘간의 확정 결정 30개는 전부 사람이 사건과 실측을 보고 내린 판단입니다.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정체성/RAG 정의</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이게 RAG 맞나요? 임베딩을 번역에만 쓰면 그냥 태그 필터 검색 아닌가요?</a:t>
            </a:r>
          </a:p>
          <a:p>
            <a:r>
              <a:rPr sz="1200" b="0" i="0">
                <a:solidFill>
                  <a:srgbClr val="202020"/>
                </a:solidFill>
                <a:latin typeface="맑은 고딕"/>
              </a:rPr>
              <a:t>→ 검색(Retrieval)으로 가져온 근거를 생성(Generation)에 주입하는 RAG의 정의를 그대로 충족합니다. 임베딩은 번역에'만' 쓰이는 게 아니라 두 자리에서 일합니다 — 태그 번역기(앵커 93개)와 후보 소집(카드 요약 985문서 벡터 검색). 다른 것은 부품이 아니라 각 부품의 '권한'입니다.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정량 근거</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임베딩을 번역기로 쓰는 방식이 일반 유사도 검색보다 낫다는 정량 근거가 있나요?</a:t>
            </a:r>
          </a:p>
          <a:p>
            <a:r>
              <a:rPr sz="1200" b="0" i="0">
                <a:solidFill>
                  <a:srgbClr val="202020"/>
                </a:solidFill>
                <a:latin typeface="맑은 고딕"/>
              </a:rPr>
              <a:t>→ 번역 레이어 단독의 A/B 정량 비교는 아직 없습니다(골든셋 재측정 예정). 대신 반대 방향의 정량 근거는 있습니다 — 일반 유사도 검색의 실패를 실측한 수치들(표현 변형 안정성 22.8%, 해지개 top-10 전멸·1위 유사도 0.328, 지역 정합 18/20 vs 11/20)이고, 번역 레이어는 그 실패들의 처방으로 설계됐습니다.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아키텍처/LLM 역할</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LLM을 양끝 2회 쓰는 이유는 무엇인가요? 아예 0회면 안 되나요 — 실제로 한때 0회였다고 들었습니다.</a:t>
            </a:r>
          </a:p>
          <a:p>
            <a:r>
              <a:rPr sz="1200" b="0" i="0">
                <a:solidFill>
                  <a:srgbClr val="202020"/>
                </a:solidFill>
                <a:latin typeface="맑은 고딕"/>
              </a:rPr>
              <a:t>→ 0회 시스템이 지금도 뼈대입니다 — /search는 여전히 LLM 0회, 1~3초로 돕니다. 다시 얹은 이유는 코드가 못 하는 판단 때문입니다 — 현재 배선된 /agent에서 LLM은 '결과가 충분한가, 부족하면 어떤 조건을 양보할까'의 판단(최대 2회)과 문장 종합(1회)만 맡고, LLM이 죽어도 검색은 그대로 돕니다(무해 폴백). '양끝 2회(해석+종합)'는 정본 설계(W2-4)의 숫자로, 해석(router)은 구현·검증까지 끝나 배선 대기입니다.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커버리지/롱테일</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태그 사전에 없는 롱테일 질의 — '물멍', '겨울에 따뜻한' 같은 표현은 어떻게 되나요?</a:t>
            </a:r>
          </a:p>
          <a:p>
            <a:r>
              <a:rPr sz="1200" b="0" i="0">
                <a:solidFill>
                  <a:srgbClr val="202020"/>
                </a:solidFill>
                <a:latin typeface="맑은 고딕"/>
              </a:rPr>
              <a:t>→ 3단 번역기가 순서대로 받습니다 — 정확 매칭, 임베딩 최근접(0.55 이상), 둘 다 실패하면 강제 번역하지 않고 unresolved로 정직하게 남깁니다. '물멍'은 실제 검증 시나리오 8번이고, W2-4 파이프라인 기준으로 unresolved 기록과 해석 불가 안내까지 통과를 실측했습니다.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평가 수치 방어</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Final Intent 65.1%는 낮지 않나요?</a:t>
            </a:r>
          </a:p>
          <a:p>
            <a:r>
              <a:rPr sz="1200" b="0" i="0">
                <a:solidFill>
                  <a:srgbClr val="202020"/>
                </a:solidFill>
                <a:latin typeface="맑은 고딕"/>
              </a:rPr>
              <a:t>→ 낮습니다 — 다만 이 수치는 카드 병합·완화 사다리·태그 재정렬이 구현되기 전 구 시스템의 스냅샷입니다. 분해해 보면 수록률 99.6%로 데이터 문제가 아니라 재정렬 병목이었고, 처방 중 P0 폐업 차단과 P1 place_id 병합은 서빙에 반영됐으며, P1의 태그 재정렬은 모듈 구현·검증까지 끝나 배선 대기입니다.</a:t>
            </a:r>
          </a:p>
          <a:p>
            <a:pPr>
              <a:spcBef>
                <a:spcPts val="800"/>
              </a:spcBef>
            </a:pPr>
            <a:r>
              <a:rPr sz="1300" b="1" i="0">
                <a:solidFill>
                  <a:srgbClr val="202020"/>
                </a:solidFill>
                <a:latin typeface="맑은 고딕"/>
              </a:rPr>
              <a:t>🔺 표현 변형 안정성 22.8%의 원인은 무엇이고 대책은 뭔가요?</a:t>
            </a:r>
          </a:p>
          <a:p>
            <a:r>
              <a:rPr sz="1200" b="0" i="0">
                <a:solidFill>
                  <a:srgbClr val="202020"/>
                </a:solidFill>
                <a:latin typeface="맑은 고딕"/>
              </a:rPr>
              <a:t>→ 원인은 순수 임베딩 유사도 검색의 체질입니다 — '오션뷰'와 '바다 보이는'이 다른 벡터라 같은 의도인데 결과가 흔들렸습니다. 대책이 바로 태그 번역 레이어입니다 — 표현을 통제 어휘로 접으면 그 뒤의 처리는 결정적이라 흔들림이 구조적으로 줄어듭니다. 개선 폭의 재측정 수치는 아직 없습니다.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신뢰/인용 검증 한계</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인용 검증이 '존재 증명'일 뿐 '맥락 증명'이 아니지 않나요? '조용하지 않아요'에서 '조용'이 매칭되는 부정어 반전이면 어떻게 되죠?</a:t>
            </a:r>
          </a:p>
          <a:p>
            <a:r>
              <a:rPr sz="1200" b="0" i="0">
                <a:solidFill>
                  <a:srgbClr val="202020"/>
                </a:solidFill>
                <a:latin typeface="맑은 고딕"/>
              </a:rPr>
              <a:t>→ 정확한 지적이고, 부분문자열 검증은 '이 문장이 원문에 실재한다'까지만 보장한다는 한계를 인정합니다. 방어는 세 겹입니다 — 발췌를 편집 없이 원문 그대로 보여줘 반전이 눈에 보이게 하고, 극성은 텍스트가 아니라 카카오 별점이라는 독립 신호로 판정하며(충돌 시 별점이 이김), 태그와 모순되는 증거를 자동 대조하는 tag_audit을 재평가 장치로 두고 있습니다.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확장성</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1천 곳에서 10만 곳으로 늘면 어디가 깨지나요?</a:t>
            </a:r>
          </a:p>
          <a:p>
            <a:r>
              <a:rPr sz="1200" b="0" i="0">
                <a:solidFill>
                  <a:srgbClr val="202020"/>
                </a:solidFill>
                <a:latin typeface="맑은 고딕"/>
              </a:rPr>
              <a:t>→ 층이 분리돼 있어 깨지는 지점을 층별로 답할 수 있습니다 — 가장 먼저 깨지는 건 이름 사전의 부분포함 매칭(오탐 증가)과 사람 검수(O/X 26건→수천 건), 근거 인덱스의 통 메모리 로드(57MB급→수 GB)입니다. 벡터 검색과 place_id 자동 병합, 배치 비용(~$2/996콜의 단순 비례)은 스케일이 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데이터 품질</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place_id가 없는 19%의 카페는 어떻게 처리하나요?</a:t>
            </a:r>
          </a:p>
          <a:p>
            <a:r>
              <a:rPr sz="1200" b="0" i="0">
                <a:solidFill>
                  <a:srgbClr val="202020"/>
                </a:solidFill>
                <a:latin typeface="맑은 고딕"/>
              </a:rPr>
              <a:t>→ place_id는 '병합과 좌표의 키'이지 '검색 자격'이 아닙니다 — 없어도 카드로 정상 검색·추천됩니다. 대신 자동 병합에서 빠지는 부분은 사람 검수(이름변형 26건 O/X)로 메웠고, 지역은 place_id가 아니라 주소 문자열에서 코드로 유도(880곳)하므로 주소가 있으면 지역 필터도 돕니다.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기술 선택</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왜 Chroma, FastAPI, gpt-5-mini인가요?</a:t>
            </a:r>
          </a:p>
          <a:p>
            <a:r>
              <a:rPr sz="1200" b="0" i="0">
                <a:solidFill>
                  <a:srgbClr val="202020"/>
                </a:solidFill>
                <a:latin typeface="맑은 고딕"/>
              </a:rPr>
              <a:t>→ 규모·비용·검증 가능성 기준의 실용 선택입니다 — Chroma는 985문서 규모에 서버 없이 파일로 붙고 컬렉션 전환으로 회귀가 한 줄, FastAPI는 파이썬 단일 스택으로 단일 컨테이너 무료 배포, gpt-5-mini는 배치 996콜에 약 $2라는 실측 비용으로 충분했습니다. 검증을 코드가 하므로 더 큰 모델이 필요 없었습니다.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평가 방법론</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골든셋을 데이터를 본 사람이 만들면 평가 오염 아닌가요?</a:t>
            </a:r>
          </a:p>
          <a:p>
            <a:r>
              <a:rPr sz="1200" b="0" i="0">
                <a:solidFill>
                  <a:srgbClr val="202020"/>
                </a:solidFill>
                <a:latin typeface="맑은 고딕"/>
              </a:rPr>
              <a:t>→ 그 오염을 처음부터 인지하고 출제자를 분리했습니다 — 골든셋은 '카드 데이터를 안 본 팀원만' 만든다는 원칙을 계획 단계에 명문화했고, 데이터를 만진 두 사람은 스스로를 오염자로 분류해 출제에서 뺐습니다. 완전한 외부 블라인드는 아니라는 한계도 인정합니다.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파라미터 근거</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번역 임계값 0.55는 무슨 근거로 정했나요?</a:t>
            </a:r>
          </a:p>
          <a:p>
            <a:r>
              <a:rPr sz="1200" b="0" i="0">
                <a:solidFill>
                  <a:srgbClr val="202020"/>
                </a:solidFill>
                <a:latin typeface="맑은 고딕"/>
              </a:rPr>
              <a:t>→ 초기 실용값이고 이론적 최적점이라고 주장하지 않습니다 — 코드 주석에 '실측 튜닝 대상'으로 명시하고, 튜닝 기준을 골든셋 무드형 문항(G002/G011)의 태그 커버리지 변화로 정해 뒀습니다. 임계 미달이어도 최근접 태그를 참고로 남기고 번역 로그를 전부 공개하므로, 재조정의 근거가 운영 중에 계속 쌓이는 구조입니다.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데이터 품질/측정</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지역 라벨 오염 24.6%는 어떻게 측정한 숫자인가요?</a:t>
            </a:r>
          </a:p>
          <a:p>
            <a:r>
              <a:rPr sz="1200" b="0" i="0">
                <a:solidFill>
                  <a:srgbClr val="202020"/>
                </a:solidFill>
                <a:latin typeface="맑은 고딕"/>
              </a:rPr>
              <a:t>→ 표본이 아니라 전수 대조입니다 — LLM이 영상 텍스트로 추측한 지역 라벨을, 네이버 지역검색에서 온 실제 주소와 주소 보유 852곳 전체에 대해 대조해 불일치 210곳, 24.6%가 나왔습니다. 처방은 라벨 전량 폐기 후 주소 문자열에서 코드로 지역을 유도(880곳 교정)한 것입니다.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신뢰/책임</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폐업 정보가 틀리면 — 멀쩡히 영업 중인 가게를 폐업 처리했다면 — 책임은 어떻게 되나요?</a:t>
            </a:r>
          </a:p>
          <a:p>
            <a:r>
              <a:rPr sz="1200" b="0" i="0">
                <a:solidFill>
                  <a:srgbClr val="202020"/>
                </a:solidFill>
                <a:latin typeface="맑은 고딕"/>
              </a:rPr>
              <a:t>→ 오판 피해를 줄이는 쪽으로 두 가지를 설계했습니다 — 폐업은 삭제가 아니라 '강등'이라 이름으로 찾으면 카드가 그대로 보여서 오판이 은폐되지 않고, 강등 판정 자체를 보수적으로(자동 단서 11곳+교차 확인된 제보 1곳, 총 12장만) 했습니다. 법적 책임 체계는 현재 범위 밖이며, 실서비스화 시 고지와 이의 절차가 필요하다는 걸 인정합니다.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계약/프론트</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'프론트 재정렬 금지' 같은 계약을 왜 뒀나요? 프론트가 UX에 맞게 순서를 바꾸면 안 되나요?</a:t>
            </a:r>
          </a:p>
          <a:p>
            <a:r>
              <a:rPr sz="1200" b="0" i="0">
                <a:solidFill>
                  <a:srgbClr val="202020"/>
                </a:solidFill>
                <a:latin typeface="맑은 고딕"/>
              </a:rPr>
              <a:t>→ 순위가 곧 추천의 실체이기 때문입니다 — 백엔드 순위는 읽을 수 있는 규칙(조회=이름 고정, 브라우즈=다수결, 조건검색=근거 게이트 통과 후보의 정렬)으로 결정되고 그 근거가 matched·번역·완화 로그로 응답에 남는데, 프론트가 재정렬하는 순간 '화면의 순위'와 '시스템이 설명하는 순위'가 어긋나 설명가능성 전체가 깨집니다.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아키텍처/일관성</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'런타임 LLM 0'이라고 하셨는데 실제 웹 프론트는 LLM이 도는 /agent를 호출하지 않나요? 어느 쪽이 진짜 시스템인가요?</a:t>
            </a:r>
          </a:p>
          <a:p>
            <a:r>
              <a:rPr sz="1200" b="0" i="0">
                <a:solidFill>
                  <a:srgbClr val="202020"/>
                </a:solidFill>
                <a:latin typeface="맑은 고딕"/>
              </a:rPr>
              <a:t>→ 둘 다 진짜이고 관계가 명확합니다 — LLM 0회 결정적 파이프라인인 /search가 뼈대이고, /agent는 그 /search를 '도구'로 쓰는 판단 루프(판단 최대 2회+종합 1회)입니다. /agent의 LLM은 검색 순위를 만지지 못하고, 결과가 부족할 때 완화를 제안하고 문장을 종합하는 권한만 갖습니다.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8229600" cy="457200"/>
          </a:xfrm>
          <a:prstGeom prst="rect">
            <a:avLst/>
          </a:prstGeom>
          <a:noFill/>
        </p:spPr>
        <p:txBody>
          <a:bodyPr wrap="square">
            <a:spAutoFit/>
          </a:bodyPr>
          <a:lstStyle/>
          <a:p>
            <a:r>
              <a:rPr sz="2000" b="1" i="0">
                <a:solidFill>
                  <a:srgbClr val="202020"/>
                </a:solidFill>
                <a:latin typeface="맑은 고딕"/>
              </a:rPr>
              <a:t>Q&amp;A — 정렬/편향</a:t>
            </a:r>
          </a:p>
        </p:txBody>
      </p:sp>
      <p:sp>
        <p:nvSpPr>
          <p:cNvPr id="3" name="TextBox 2"/>
          <p:cNvSpPr txBox="1"/>
          <p:nvPr/>
        </p:nvSpPr>
        <p:spPr>
          <a:xfrm>
            <a:off x="457200" y="868680"/>
            <a:ext cx="8229600" cy="3931920"/>
          </a:xfrm>
          <a:prstGeom prst="rect">
            <a:avLst/>
          </a:prstGeom>
          <a:noFill/>
        </p:spPr>
        <p:txBody>
          <a:bodyPr wrap="square">
            <a:spAutoFit/>
          </a:bodyPr>
          <a:lstStyle/>
          <a:p>
            <a:pPr>
              <a:spcBef>
                <a:spcPts val="800"/>
              </a:spcBef>
            </a:pPr>
            <a:r>
              <a:rPr sz="1300" b="1" i="0">
                <a:solidFill>
                  <a:srgbClr val="202020"/>
                </a:solidFill>
                <a:latin typeface="맑은 고딕"/>
              </a:rPr>
              <a:t>🔺 다수결(블로거 수) 정렬이면 결국 스타벅스 같은 대형 프랜차이즈와 핫플만 위로 오지 않나요? 숨은 카페는 어떻게 찾죠?</a:t>
            </a:r>
          </a:p>
          <a:p>
            <a:r>
              <a:rPr sz="1200" b="0" i="0">
                <a:solidFill>
                  <a:srgbClr val="202020"/>
                </a:solidFill>
                <a:latin typeface="맑은 고딕"/>
              </a:rPr>
              <a:t>→ 실제로 블로거 수 상위 10에 스타벅스 송당파크점(191명)·런던베이글(191명)이 있습니다 — 인정합니다. 다만 다수결의 권한은 '조건 없는 브라우즈'와 동점 정렬로 제한되어 있고(결정 8: 인기는 적합성이 아니다), 조건이 구체적일수록 어휘 근거 게이트가 먼저 자르기 때문에 인기의 영향은 줄어듭니다.</a:t>
            </a:r>
          </a:p>
        </p:txBody>
      </p:sp>
      <p:sp>
        <p:nvSpPr>
          <p:cNvPr id="4" name="TextBox 3"/>
          <p:cNvSpPr txBox="1"/>
          <p:nvPr/>
        </p:nvSpPr>
        <p:spPr>
          <a:xfrm>
            <a:off x="8503920" y="4796028"/>
            <a:ext cx="502920" cy="274320"/>
          </a:xfrm>
          <a:prstGeom prst="rect">
            <a:avLst/>
          </a:prstGeom>
          <a:noFill/>
        </p:spPr>
        <p:txBody>
          <a:bodyPr wrap="square">
            <a:spAutoFit/>
          </a:bodyPr>
          <a:lstStyle/>
          <a:p>
            <a:pPr algn="r"/>
            <a:r>
              <a:rPr sz="1000" b="0" i="0">
                <a:solidFill>
                  <a:srgbClr val="777777"/>
                </a:solidFill>
                <a:latin typeface="맑은 고딕"/>
              </a:rPr>
              <a:t>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