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구조 — 두 개의 무대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무거운 판단은 배치에서 끝내고, 런타임은 카드를 읽기만 한다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1417320"/>
          </a:xfrm>
          <a:prstGeom prst="roundRect">
            <a:avLst>
              <a:gd name="adj" fmla="val 5806"/>
            </a:avLst>
          </a:prstGeom>
          <a:solidFill>
            <a:srgbClr val="F7F9FC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417320"/>
            <a:ext cx="566928" cy="566928"/>
          </a:xfrm>
          <a:prstGeom prst="ellipse">
            <a:avLst/>
          </a:prstGeom>
          <a:solidFill>
            <a:srgbClr val="0E7490"/>
          </a:solidFill>
          <a:ln w="12700">
            <a:solidFill>
              <a:srgbClr val="F7F9F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36192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2011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배치 타임 · 공장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286000" y="1463040"/>
            <a:ext cx="137160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331720" y="1536192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원본 수집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(유튜브·블로그·리뷰·댓글)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65760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3858768" y="1463040"/>
            <a:ext cx="137160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904488" y="1536192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정제 LLM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(요약·태그·판정)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230368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5431536" y="1463040"/>
            <a:ext cx="137160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477256" y="1536192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정본화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(place_id·지역·폐업)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803136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7004304" y="1463040"/>
            <a:ext cx="137160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050024" y="1536192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624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카드 저장소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D624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cards.json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57200" y="2880360"/>
            <a:ext cx="8229600" cy="1600200"/>
          </a:xfrm>
          <a:prstGeom prst="roundRect">
            <a:avLst>
              <a:gd name="adj" fmla="val 5143"/>
            </a:avLst>
          </a:prstGeom>
          <a:solidFill>
            <a:srgbClr val="EEF3F9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58368" y="3127248"/>
            <a:ext cx="566928" cy="566928"/>
          </a:xfrm>
          <a:prstGeom prst="ellipse">
            <a:avLst/>
          </a:prstGeom>
          <a:solidFill>
            <a:srgbClr val="D6246B"/>
          </a:solidFill>
          <a:ln w="12700">
            <a:solidFill>
              <a:srgbClr val="EEF3F9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46120"/>
            <a:ext cx="329184" cy="32918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58368" y="37307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24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런타임 · 창구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2286000" y="3200400"/>
            <a:ext cx="109728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2313432" y="3255264"/>
            <a:ext cx="10424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338328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6" name="Shape 22"/>
          <p:cNvSpPr/>
          <p:nvPr/>
        </p:nvSpPr>
        <p:spPr>
          <a:xfrm>
            <a:off x="3566160" y="3200400"/>
            <a:ext cx="109728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27" name="Text 23"/>
          <p:cNvSpPr/>
          <p:nvPr/>
        </p:nvSpPr>
        <p:spPr>
          <a:xfrm>
            <a:off x="3593592" y="3255264"/>
            <a:ext cx="10424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624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① 해석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466344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9" name="Shape 25"/>
          <p:cNvSpPr/>
          <p:nvPr/>
        </p:nvSpPr>
        <p:spPr>
          <a:xfrm>
            <a:off x="4846320" y="3200400"/>
            <a:ext cx="109728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30" name="Text 26"/>
          <p:cNvSpPr/>
          <p:nvPr/>
        </p:nvSpPr>
        <p:spPr>
          <a:xfrm>
            <a:off x="4873752" y="3255264"/>
            <a:ext cx="10424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 검색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(필터·번역·정렬)</a:t>
            </a:r>
            <a:endParaRPr lang="en-US" sz="950" dirty="0"/>
          </a:p>
        </p:txBody>
      </p:sp>
      <p:sp>
        <p:nvSpPr>
          <p:cNvPr id="31" name="Text 27"/>
          <p:cNvSpPr/>
          <p:nvPr/>
        </p:nvSpPr>
        <p:spPr>
          <a:xfrm>
            <a:off x="594360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2" name="Shape 28"/>
          <p:cNvSpPr/>
          <p:nvPr/>
        </p:nvSpPr>
        <p:spPr>
          <a:xfrm>
            <a:off x="6126480" y="3200400"/>
            <a:ext cx="109728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33" name="Text 29"/>
          <p:cNvSpPr/>
          <p:nvPr/>
        </p:nvSpPr>
        <p:spPr>
          <a:xfrm>
            <a:off x="6153912" y="3255264"/>
            <a:ext cx="10424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624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② 종합</a:t>
            </a:r>
            <a:endParaRPr lang="en-US" sz="950" dirty="0"/>
          </a:p>
        </p:txBody>
      </p:sp>
      <p:sp>
        <p:nvSpPr>
          <p:cNvPr id="34" name="Text 30"/>
          <p:cNvSpPr/>
          <p:nvPr/>
        </p:nvSpPr>
        <p:spPr>
          <a:xfrm>
            <a:off x="722376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5" name="Shape 31"/>
          <p:cNvSpPr/>
          <p:nvPr/>
        </p:nvSpPr>
        <p:spPr>
          <a:xfrm>
            <a:off x="7406640" y="3200400"/>
            <a:ext cx="109728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36" name="Text 32"/>
          <p:cNvSpPr/>
          <p:nvPr/>
        </p:nvSpPr>
        <p:spPr>
          <a:xfrm>
            <a:off x="7434072" y="3255264"/>
            <a:ext cx="10424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근거 답변</a:t>
            </a:r>
            <a:endParaRPr lang="en-US" sz="950" dirty="0"/>
          </a:p>
        </p:txBody>
      </p:sp>
      <p:sp>
        <p:nvSpPr>
          <p:cNvPr id="37" name="Text 33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카드 저장소가 두 무대를 잇는 유일한 다리 — 런타임은 원본을 다시 건드리지 않는다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파이프라인 — 네 소스, 각자의 역할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매체마다 잘하는 것만 맡긴다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931920" cy="566928"/>
          </a:xfrm>
          <a:prstGeom prst="roundRect">
            <a:avLst>
              <a:gd name="adj" fmla="val 14516"/>
            </a:avLst>
          </a:prstGeom>
          <a:solidFill>
            <a:srgbClr val="F7F9FC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371600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289304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유튜브 영상·쇼츠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487168" y="1289304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발견·화제성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364992" y="1289304"/>
            <a:ext cx="932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1,359건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1892808"/>
            <a:ext cx="3931920" cy="566928"/>
          </a:xfrm>
          <a:prstGeom prst="roundRect">
            <a:avLst>
              <a:gd name="adj" fmla="val 14516"/>
            </a:avLst>
          </a:prstGeom>
          <a:solidFill>
            <a:srgbClr val="F7F9FC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2029968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05840" y="1947672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네이버 블로그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2487168" y="1947672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정보·다수결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3364992" y="1947672"/>
            <a:ext cx="932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1,064곳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457200" y="2551176"/>
            <a:ext cx="3931920" cy="566928"/>
          </a:xfrm>
          <a:prstGeom prst="roundRect">
            <a:avLst>
              <a:gd name="adj" fmla="val 14516"/>
            </a:avLst>
          </a:prstGeom>
          <a:solidFill>
            <a:srgbClr val="F7F9FC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688336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05840" y="260604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카카오맵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2487168" y="26060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신원·별점리뷰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3364992" y="2606040"/>
            <a:ext cx="932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리뷰 2만</a:t>
            </a:r>
            <a:endParaRPr lang="en-US" sz="800" dirty="0"/>
          </a:p>
        </p:txBody>
      </p:sp>
      <p:sp>
        <p:nvSpPr>
          <p:cNvPr id="19" name="Shape 14"/>
          <p:cNvSpPr/>
          <p:nvPr/>
        </p:nvSpPr>
        <p:spPr>
          <a:xfrm>
            <a:off x="457200" y="3209544"/>
            <a:ext cx="3931920" cy="566928"/>
          </a:xfrm>
          <a:prstGeom prst="roundRect">
            <a:avLst>
              <a:gd name="adj" fmla="val 14516"/>
            </a:avLst>
          </a:prstGeom>
          <a:solidFill>
            <a:srgbClr val="F7F9FC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3346704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05840" y="3264408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쇼츠 댓글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2487168" y="32644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반응·감정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3364992" y="3264408"/>
            <a:ext cx="932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1,467영상</a:t>
            </a:r>
            <a:endParaRPr lang="en-US" sz="800" dirty="0"/>
          </a:p>
        </p:txBody>
      </p:sp>
      <p:sp>
        <p:nvSpPr>
          <p:cNvPr id="24" name="Text 18"/>
          <p:cNvSpPr/>
          <p:nvPr/>
        </p:nvSpPr>
        <p:spPr>
          <a:xfrm>
            <a:off x="4434840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624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19"/>
          <p:cNvSpPr/>
          <p:nvPr/>
        </p:nvSpPr>
        <p:spPr>
          <a:xfrm>
            <a:off x="4800600" y="1280160"/>
            <a:ext cx="388620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26" name="Text 20"/>
          <p:cNvSpPr/>
          <p:nvPr/>
        </p:nvSpPr>
        <p:spPr>
          <a:xfrm>
            <a:off x="4983480" y="1371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정제 LLM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4983480" y="166420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요약·태그(사전강제)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실존 판정 3신호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6583680" y="21762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500" dirty="0"/>
          </a:p>
        </p:txBody>
      </p:sp>
      <p:sp>
        <p:nvSpPr>
          <p:cNvPr id="29" name="Shape 23"/>
          <p:cNvSpPr/>
          <p:nvPr/>
        </p:nvSpPr>
        <p:spPr>
          <a:xfrm>
            <a:off x="4800600" y="2331720"/>
            <a:ext cx="388620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30" name="Text 24"/>
          <p:cNvSpPr/>
          <p:nvPr/>
        </p:nvSpPr>
        <p:spPr>
          <a:xfrm>
            <a:off x="4983480" y="2423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정본화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4983480" y="271576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지역=주소유도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신원=place_id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6583680" y="32278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500" dirty="0"/>
          </a:p>
        </p:txBody>
      </p:sp>
      <p:sp>
        <p:nvSpPr>
          <p:cNvPr id="33" name="Shape 27"/>
          <p:cNvSpPr/>
          <p:nvPr/>
        </p:nvSpPr>
        <p:spPr>
          <a:xfrm>
            <a:off x="4800600" y="3383280"/>
            <a:ext cx="3886200" cy="914400"/>
          </a:xfrm>
          <a:prstGeom prst="roundRect">
            <a:avLst>
              <a:gd name="adj" fmla="val 9000"/>
            </a:avLst>
          </a:prstGeom>
          <a:solidFill>
            <a:srgbClr val="EEF3F9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34" name="Text 28"/>
          <p:cNvSpPr/>
          <p:nvPr/>
        </p:nvSpPr>
        <p:spPr>
          <a:xfrm>
            <a:off x="4983480" y="34747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24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카드 조립</a:t>
            </a:r>
            <a:endParaRPr lang="en-US" sz="1300" dirty="0"/>
          </a:p>
        </p:txBody>
      </p:sp>
      <p:sp>
        <p:nvSpPr>
          <p:cNvPr id="35" name="Text 29"/>
          <p:cNvSpPr/>
          <p:nvPr/>
        </p:nvSpPr>
        <p:spPr>
          <a:xfrm>
            <a:off x="4983480" y="376732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폐업 게이트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cards.json 831장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원칙: 판단은 LLM, 사실·식별자·숫자는 코드가 운반 (환각 방지)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카드 — LLM에 도착하는 데이터 계약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카페 한 곳 = 카드 한 장, 다섯 층으로 조립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846320" cy="548640"/>
          </a:xfrm>
          <a:prstGeom prst="roundRect">
            <a:avLst>
              <a:gd name="adj" fmla="val 15000"/>
            </a:avLst>
          </a:prstGeom>
          <a:solidFill>
            <a:srgbClr val="F7F9FC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4128" y="1289304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624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신호층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2103120" y="1289304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다수결(고유 채널·블로거 수) · 반응 톤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1892808"/>
            <a:ext cx="4846320" cy="548640"/>
          </a:xfrm>
          <a:prstGeom prst="roundRect">
            <a:avLst>
              <a:gd name="adj" fmla="val 15000"/>
            </a:avLst>
          </a:prstGeom>
          <a:solidFill>
            <a:srgbClr val="F7F9FC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29968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24128" y="1947672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근거층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2103120" y="1947672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좋았던 점 / 아쉬운 점 — 원문 인용 + 출처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57200" y="2551176"/>
            <a:ext cx="4846320" cy="548640"/>
          </a:xfrm>
          <a:prstGeom prst="roundRect">
            <a:avLst>
              <a:gd name="adj" fmla="val 15000"/>
            </a:avLst>
          </a:prstGeom>
          <a:solidFill>
            <a:srgbClr val="F7F9FC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688336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24128" y="260604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태그층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2103120" y="2606040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통제 사전 태그 + 지역 코드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457200" y="3209544"/>
            <a:ext cx="4846320" cy="548640"/>
          </a:xfrm>
          <a:prstGeom prst="roundRect">
            <a:avLst>
              <a:gd name="adj" fmla="val 15000"/>
            </a:avLst>
          </a:prstGeom>
          <a:solidFill>
            <a:srgbClr val="F7F9FC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346704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24128" y="3264408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텍스트층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2103120" y="3264408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검색용 자연어 요약 (블로그 우선)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457200" y="3867912"/>
            <a:ext cx="4846320" cy="548640"/>
          </a:xfrm>
          <a:prstGeom prst="roundRect">
            <a:avLst>
              <a:gd name="adj" fmla="val 15000"/>
            </a:avLst>
          </a:prstGeom>
          <a:solidFill>
            <a:srgbClr val="F7F9FC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005072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024128" y="3922776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신원층</a:t>
            </a:r>
            <a:endParaRPr lang="en-US" sz="1250" dirty="0"/>
          </a:p>
        </p:txBody>
      </p:sp>
      <p:sp>
        <p:nvSpPr>
          <p:cNvPr id="23" name="Text 16"/>
          <p:cNvSpPr/>
          <p:nvPr/>
        </p:nvSpPr>
        <p:spPr>
          <a:xfrm>
            <a:off x="2103120" y="3922776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place_id · 정본 이름 · 좌표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5532120" y="1234440"/>
            <a:ext cx="3154680" cy="3035808"/>
          </a:xfrm>
          <a:prstGeom prst="roundRect">
            <a:avLst>
              <a:gd name="adj" fmla="val 2711"/>
            </a:avLst>
          </a:prstGeom>
          <a:solidFill>
            <a:srgbClr val="EEF3F9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25" name="Text 18"/>
          <p:cNvSpPr/>
          <p:nvPr/>
        </p:nvSpPr>
        <p:spPr>
          <a:xfrm>
            <a:off x="5742432" y="1417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규칙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5742432" y="1783080"/>
            <a:ext cx="27432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런타임 내내 읽기 전용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카드가 틀리면 서비스가 아니라 카드를 다시 굽는다 (배치 재실행)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LLM엔 요약·태그·근거만 전달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식별자·조회수는 차단 — 접근 통제는 주는 쪽 설계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언급 '횟수' 아닌 '사람 수'가 신호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런타임 검색 — LLM은 두 번, 나머지는 코드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예: “애월에서 노을 보기 좋은 조용한 카페”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325880"/>
            <a:ext cx="1600200" cy="1965960"/>
          </a:xfrm>
          <a:prstGeom prst="roundRect">
            <a:avLst>
              <a:gd name="adj" fmla="val 5143"/>
            </a:avLst>
          </a:prstGeom>
          <a:solidFill>
            <a:srgbClr val="EEF3F9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1481328"/>
            <a:ext cx="548640" cy="548640"/>
          </a:xfrm>
          <a:prstGeom prst="ellipse">
            <a:avLst/>
          </a:prstGeom>
          <a:solidFill>
            <a:srgbClr val="D6246B"/>
          </a:solidFill>
          <a:ln w="12700">
            <a:solidFill>
              <a:srgbClr val="EEF3F9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1591056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212140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624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① 해석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2395728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 → {지역,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하드조건, 소프트조건}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2048256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624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2487168" y="1325880"/>
            <a:ext cx="4160520" cy="1965960"/>
          </a:xfrm>
          <a:prstGeom prst="roundRect">
            <a:avLst>
              <a:gd name="adj" fmla="val 4186"/>
            </a:avLst>
          </a:prstGeom>
          <a:solidFill>
            <a:srgbClr val="F7F9FC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487168" y="1426464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 (밀리초 · 결정론)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697480" y="1783080"/>
            <a:ext cx="1170432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5536" y="1901952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715768" y="2240280"/>
            <a:ext cx="1133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지역 필터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3867912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4023360" y="1783080"/>
            <a:ext cx="1170432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1416" y="1901952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041648" y="2240280"/>
            <a:ext cx="1133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조건 번역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5193792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5"/>
          <p:cNvSpPr/>
          <p:nvPr/>
        </p:nvSpPr>
        <p:spPr>
          <a:xfrm>
            <a:off x="5349240" y="1783080"/>
            <a:ext cx="1170432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7296" y="1901952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67528" y="2240280"/>
            <a:ext cx="1133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매칭·정렬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2606040" y="27889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조건어가 카드 근거에 실재하는 카페만 통과 — 없으면 억지로 채우지 않고 정직하게 침묵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667512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624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19"/>
          <p:cNvSpPr/>
          <p:nvPr/>
        </p:nvSpPr>
        <p:spPr>
          <a:xfrm>
            <a:off x="7114032" y="1325880"/>
            <a:ext cx="1600200" cy="1965960"/>
          </a:xfrm>
          <a:prstGeom prst="roundRect">
            <a:avLst>
              <a:gd name="adj" fmla="val 5143"/>
            </a:avLst>
          </a:prstGeom>
          <a:solidFill>
            <a:srgbClr val="EEF3F9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7635240" y="1481328"/>
            <a:ext cx="548640" cy="548640"/>
          </a:xfrm>
          <a:prstGeom prst="ellipse">
            <a:avLst/>
          </a:prstGeom>
          <a:solidFill>
            <a:srgbClr val="D6246B"/>
          </a:solidFill>
          <a:ln w="12700">
            <a:solidFill>
              <a:srgbClr val="EEF3F9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4968" y="1591056"/>
            <a:ext cx="329184" cy="32918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114032" y="212140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624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② 종합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7159752" y="2395728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카드 근거 인용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(카드 밖 사실 금지)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457200" y="3566160"/>
            <a:ext cx="822960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31" name="Text 24"/>
          <p:cNvSpPr/>
          <p:nvPr/>
        </p:nvSpPr>
        <p:spPr>
          <a:xfrm>
            <a:off x="658368" y="36758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검색 깔때기 (그대로 사용자에게 “이렇게 찾았어요”):</a:t>
            </a:r>
            <a:endParaRPr lang="en-US" sz="1050" dirty="0"/>
          </a:p>
        </p:txBody>
      </p:sp>
      <p:sp>
        <p:nvSpPr>
          <p:cNvPr id="32" name="Text 25"/>
          <p:cNvSpPr/>
          <p:nvPr/>
        </p:nvSpPr>
        <p:spPr>
          <a:xfrm>
            <a:off x="822960" y="402336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0E7490"/>
          </a:solidFill>
          <a:ln>
            <a:solidFill>
              <a:srgbClr val="0E749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1,064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2194560" y="4023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4" name="Text 27"/>
          <p:cNvSpPr/>
          <p:nvPr/>
        </p:nvSpPr>
        <p:spPr>
          <a:xfrm>
            <a:off x="2743200" y="402336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0E7490"/>
          </a:solidFill>
          <a:ln>
            <a:solidFill>
              <a:srgbClr val="0E749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애월 87</a:t>
            </a:r>
            <a:endParaRPr lang="en-US" sz="1100" dirty="0"/>
          </a:p>
        </p:txBody>
      </p:sp>
      <p:sp>
        <p:nvSpPr>
          <p:cNvPr id="35" name="Text 28"/>
          <p:cNvSpPr/>
          <p:nvPr/>
        </p:nvSpPr>
        <p:spPr>
          <a:xfrm>
            <a:off x="4114800" y="4023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6" name="Text 29"/>
          <p:cNvSpPr/>
          <p:nvPr/>
        </p:nvSpPr>
        <p:spPr>
          <a:xfrm>
            <a:off x="4663440" y="402336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0E7490"/>
          </a:solidFill>
          <a:ln>
            <a:solidFill>
              <a:srgbClr val="0E749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노을 12</a:t>
            </a:r>
            <a:endParaRPr lang="en-US" sz="1100" dirty="0"/>
          </a:p>
        </p:txBody>
      </p:sp>
      <p:sp>
        <p:nvSpPr>
          <p:cNvPr id="37" name="Text 30"/>
          <p:cNvSpPr/>
          <p:nvPr/>
        </p:nvSpPr>
        <p:spPr>
          <a:xfrm>
            <a:off x="6035040" y="4023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8" name="Text 31"/>
          <p:cNvSpPr/>
          <p:nvPr/>
        </p:nvSpPr>
        <p:spPr>
          <a:xfrm>
            <a:off x="6583680" y="402336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D6246B"/>
          </a:solidFill>
          <a:ln>
            <a:solidFill>
              <a:srgbClr val="D6246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상위 5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구현 — 임베딩은 찾지 않고 번역한다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언어를 통제 태그 어휘로 옮기는 3단 게이트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521208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716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정확 매칭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70078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사전의 tag·synonym과 문자열 일치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880360" y="132588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“선셋” → 노을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971800" y="21031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521208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23317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임베딩 번역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66090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태그사전 임베딩 최근접 (유사도 ≥ 0.55)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880360" y="22860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“석양빛” → 노을 (0.82)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971800" y="30632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200400"/>
            <a:ext cx="5212080" cy="841248"/>
          </a:xfrm>
          <a:prstGeom prst="roundRect">
            <a:avLst>
              <a:gd name="adj" fmla="val 9783"/>
            </a:avLst>
          </a:prstGeom>
          <a:solidFill>
            <a:srgbClr val="EEF3F9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" y="32918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미해석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362102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어디에도 안 가까움 — 강제 번역 금지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880360" y="32461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“물멍” → 해석 불가 (정직한 실패)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852160" y="1280160"/>
            <a:ext cx="2834640" cy="2990088"/>
          </a:xfrm>
          <a:prstGeom prst="roundRect">
            <a:avLst>
              <a:gd name="adj" fmla="val 2903"/>
            </a:avLst>
          </a:prstGeom>
          <a:solidFill>
            <a:srgbClr val="F7F9FC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3328" y="1463040"/>
            <a:ext cx="329184" cy="329184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446520" y="14813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이렇게?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053328" y="192024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임베딩 공간엔 카페 831장이 아니라 태그 표현 수십 개만 들어간다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카페 순위는 태그 충족·다수결 같은 읽을 수 있는 신호로만 결정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“왜 이 카페?”를 항상 설명 가능 (통상 RAG의 유사도 점수와 다른 점)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미해석은 실패가 아니라 정직 — 안내·재검색의 재료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신뢰를 코드로 — 세 가지 안전장치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“정직한 실패”가 기능이다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70048" cy="3017520"/>
          </a:xfrm>
          <a:prstGeom prst="roundRect">
            <a:avLst>
              <a:gd name="adj" fmla="val 3082"/>
            </a:avLst>
          </a:prstGeom>
          <a:solidFill>
            <a:srgbClr val="F7F9FC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76656" y="1481328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600200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53312" y="153619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원문 인용 검증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76656" y="2212848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LLM이 뽑은 모든 인용을 코드가 원문과 글자 단위 대조. 의역·지어낸 인용은 폐기.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76656" y="3611880"/>
            <a:ext cx="2286000" cy="548640"/>
          </a:xfrm>
          <a:prstGeom prst="roundRect">
            <a:avLst>
              <a:gd name="adj" fmla="val 15000"/>
            </a:avLst>
          </a:prstGeom>
          <a:solidFill>
            <a:srgbClr val="EEF3F9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68096" y="3657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지어낸 근거가 구조적으로 불가능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310128" y="1280160"/>
            <a:ext cx="2670048" cy="3017520"/>
          </a:xfrm>
          <a:prstGeom prst="roundRect">
            <a:avLst>
              <a:gd name="adj" fmla="val 3082"/>
            </a:avLst>
          </a:prstGeom>
          <a:solidFill>
            <a:srgbClr val="F7F9FC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29584" y="1481328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8456" y="1600200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206240" y="153619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624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하드 배제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3529584" y="2212848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“아이 동반” 쿼리에서 노키즈존을 결과에서 제거. 어떤 완화에도 안 풀림.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3529584" y="3611880"/>
            <a:ext cx="2286000" cy="548640"/>
          </a:xfrm>
          <a:prstGeom prst="roundRect">
            <a:avLst>
              <a:gd name="adj" fmla="val 15000"/>
            </a:avLst>
          </a:prstGeom>
          <a:solidFill>
            <a:srgbClr val="EEF3F9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3621024" y="3657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D624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필수 조건 위반을 원천 차단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6163056" y="1280160"/>
            <a:ext cx="2670048" cy="3017520"/>
          </a:xfrm>
          <a:prstGeom prst="roundRect">
            <a:avLst>
              <a:gd name="adj" fmla="val 3082"/>
            </a:avLst>
          </a:prstGeom>
          <a:solidFill>
            <a:srgbClr val="F7F9FC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382512" y="1481328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1384" y="1600200"/>
            <a:ext cx="329184" cy="32918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059168" y="153619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근거 게이트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6382512" y="2212848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조건어가 카드 근거(태그·요약)에 실제로 있는 카페만 남긴다. 유사도로 억지로 채우지 않는다.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6382512" y="3611880"/>
            <a:ext cx="2286000" cy="548640"/>
          </a:xfrm>
          <a:prstGeom prst="roundRect">
            <a:avLst>
              <a:gd name="adj" fmla="val 15000"/>
            </a:avLst>
          </a:prstGeom>
          <a:solidFill>
            <a:srgbClr val="EEF3F9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24" name="Text 19"/>
          <p:cNvSpPr/>
          <p:nvPr/>
        </p:nvSpPr>
        <p:spPr>
          <a:xfrm>
            <a:off x="6473952" y="3657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없으면 정직하게 “못 찾았어요”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제주 카페 추천 — 기술 아키텍처 &amp; 파이프라인</dc:title>
  <dc:subject>PptxGenJS Presentation</dc:subject>
  <dc:creator>PptxGenJS</dc:creator>
  <cp:lastModifiedBy>PptxGenJS</cp:lastModifiedBy>
  <cp:revision>1</cp:revision>
  <dcterms:created xsi:type="dcterms:W3CDTF">2026-07-09T18:34:19Z</dcterms:created>
  <dcterms:modified xsi:type="dcterms:W3CDTF">2026-07-09T18:34:19Z</dcterms:modified>
</cp:coreProperties>
</file>