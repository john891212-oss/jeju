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4" r:id="rId3"/>
    <p:sldId id="277" r:id="rId4"/>
    <p:sldId id="276" r:id="rId5"/>
    <p:sldId id="257" r:id="rId6"/>
    <p:sldId id="279" r:id="rId7"/>
    <p:sldId id="258" r:id="rId8"/>
    <p:sldId id="259" r:id="rId9"/>
    <p:sldId id="260" r:id="rId10"/>
    <p:sldId id="261" r:id="rId11"/>
    <p:sldId id="262" r:id="rId12"/>
    <p:sldId id="263" r:id="rId13"/>
    <p:sldId id="264" r:id="rId14"/>
    <p:sldId id="265" r:id="rId15"/>
    <p:sldId id="266" r:id="rId16"/>
    <p:sldId id="267" r:id="rId17"/>
    <p:sldId id="268" r:id="rId18"/>
    <p:sldId id="278" r:id="rId19"/>
    <p:sldId id="269" r:id="rId20"/>
    <p:sldId id="270" r:id="rId21"/>
    <p:sldId id="271" r:id="rId22"/>
    <p:sldId id="272" r:id="rId23"/>
    <p:sldId id="273" r:id="rId24"/>
    <p:sldId id="280" r:id="rId25"/>
    <p:sldId id="28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정보 부족(low)</c:v>
                </c:pt>
              </c:strCache>
            </c:strRef>
          </c:tx>
          <c:spPr>
            <a:solidFill>
              <a:srgbClr val="C3D2CF"/>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Sheet1!$B$2:$B$3</c:f>
              <c:numCache>
                <c:formatCode>General</c:formatCode>
                <c:ptCount val="2"/>
                <c:pt idx="0">
                  <c:v>667</c:v>
                </c:pt>
                <c:pt idx="1">
                  <c:v>117</c:v>
                </c:pt>
              </c:numCache>
            </c:numRef>
          </c:val>
          <c:extLst>
            <c:ext xmlns:c16="http://schemas.microsoft.com/office/drawing/2014/chart" uri="{C3380CC4-5D6E-409C-BE32-E72D297353CC}">
              <c16:uniqueId val="{00000000-ADC8-46CF-B615-CF6A4CEDB482}"/>
            </c:ext>
          </c:extLst>
        </c:ser>
        <c:ser>
          <c:idx val="1"/>
          <c:order val="1"/>
          <c:tx>
            <c:strRef>
              <c:f>Sheet1!$C$1</c:f>
              <c:strCache>
                <c:ptCount val="1"/>
                <c:pt idx="0">
                  <c:v>정보 풍부(high)</c:v>
                </c:pt>
              </c:strCache>
            </c:strRef>
          </c:tx>
          <c:spPr>
            <a:solidFill>
              <a:srgbClr val="168A7E"/>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Sheet1!$C$2:$C$3</c:f>
              <c:numCache>
                <c:formatCode>General</c:formatCode>
                <c:ptCount val="2"/>
                <c:pt idx="0">
                  <c:v>397</c:v>
                </c:pt>
                <c:pt idx="1">
                  <c:v>947</c:v>
                </c:pt>
              </c:numCache>
            </c:numRef>
          </c:val>
          <c:extLst>
            <c:ext xmlns:c16="http://schemas.microsoft.com/office/drawing/2014/chart" uri="{C3380CC4-5D6E-409C-BE32-E72D297353CC}">
              <c16:uniqueId val="{00000001-ADC8-46CF-B615-CF6A4CEDB48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7175"/>
                </a:solidFill>
                <a:latin typeface="맑은 고딕"/>
              </a:defRPr>
            </a:pPr>
            <a:endParaRPr lang="en-US"/>
          </a:p>
        </c:txPr>
        <c:crossAx val="2094734552"/>
        <c:crosses val="autoZero"/>
        <c:auto val="1"/>
        <c:lblAlgn val="ctr"/>
        <c:lblOffset val="100"/>
        <c:noMultiLvlLbl val="1"/>
      </c:catAx>
      <c:valAx>
        <c:axId val="2094734552"/>
        <c:scaling>
          <c:orientation val="minMax"/>
          <c:max val="1100"/>
        </c:scaling>
        <c:delete val="0"/>
        <c:axPos val="l"/>
        <c:majorGridlines>
          <c:spPr>
            <a:ln w="6350" cap="flat">
              <a:solidFill>
                <a:srgbClr val="EEF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AA9AC"/>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900">
              <a:latin typeface="맑은 고딕"/>
              <a:cs typeface="맑은 고딕"/>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Must Hit</c:v>
                </c:pt>
              </c:strCache>
            </c:strRef>
          </c:tx>
          <c:spPr>
            <a:solidFill>
              <a:srgbClr val="BFD9D5"/>
            </a:solidFill>
            <a:effectLst/>
          </c:spPr>
          <c:invertIfNegative val="0"/>
          <c:dPt>
            <c:idx val="0"/>
            <c:invertIfNegative val="0"/>
            <c:bubble3D val="0"/>
            <c:extLst>
              <c:ext xmlns:c16="http://schemas.microsoft.com/office/drawing/2014/chart" uri="{C3380CC4-5D6E-409C-BE32-E72D297353CC}">
                <c16:uniqueId val="{00000001-C04F-42D4-BC51-04820EE2BDDD}"/>
              </c:ext>
            </c:extLst>
          </c:dPt>
          <c:dPt>
            <c:idx val="1"/>
            <c:invertIfNegative val="0"/>
            <c:bubble3D val="0"/>
            <c:spPr>
              <a:solidFill>
                <a:srgbClr val="168A7E"/>
              </a:solidFill>
              <a:effectLst/>
            </c:spPr>
            <c:extLst>
              <c:ext xmlns:c16="http://schemas.microsoft.com/office/drawing/2014/chart" uri="{C3380CC4-5D6E-409C-BE32-E72D297353CC}">
                <c16:uniqueId val="{00000003-C04F-42D4-BC51-04820EE2BDDD}"/>
              </c:ext>
            </c:extLst>
          </c:dPt>
          <c:dPt>
            <c:idx val="2"/>
            <c:invertIfNegative val="0"/>
            <c:bubble3D val="0"/>
            <c:spPr>
              <a:solidFill>
                <a:srgbClr val="0F5257"/>
              </a:solidFill>
              <a:effectLst/>
            </c:spPr>
            <c:extLst>
              <c:ext xmlns:c16="http://schemas.microsoft.com/office/drawing/2014/chart" uri="{C3380CC4-5D6E-409C-BE32-E72D297353CC}">
                <c16:uniqueId val="{00000005-C04F-42D4-BC51-04820EE2BDDD}"/>
              </c:ext>
            </c:extLst>
          </c:dPt>
          <c:dLbls>
            <c:numFmt formatCode="0.0&quot;%&quot;" sourceLinked="0"/>
            <c:spPr>
              <a:noFill/>
              <a:ln>
                <a:noFill/>
              </a:ln>
              <a:effectLst/>
            </c:spPr>
            <c:txPr>
              <a:bodyPr/>
              <a:lstStyle/>
              <a:p>
                <a:pPr>
                  <a:defRPr sz="10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c:v>
                </c:pt>
                <c:pt idx="1">
                  <c:v>@5</c:v>
                </c:pt>
                <c:pt idx="2">
                  <c:v>@10</c:v>
                </c:pt>
              </c:strCache>
            </c:strRef>
          </c:cat>
          <c:val>
            <c:numRef>
              <c:f>Sheet1!$B$2:$B$4</c:f>
              <c:numCache>
                <c:formatCode>General</c:formatCode>
                <c:ptCount val="3"/>
                <c:pt idx="0">
                  <c:v>30</c:v>
                </c:pt>
                <c:pt idx="1">
                  <c:v>62</c:v>
                </c:pt>
                <c:pt idx="2">
                  <c:v>74</c:v>
                </c:pt>
              </c:numCache>
            </c:numRef>
          </c:val>
          <c:extLst>
            <c:ext xmlns:c16="http://schemas.microsoft.com/office/drawing/2014/chart" uri="{C3380CC4-5D6E-409C-BE32-E72D297353CC}">
              <c16:uniqueId val="{00000006-C04F-42D4-BC51-04820EE2BDDD}"/>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75"/>
                </a:solidFill>
                <a:latin typeface="맑은 고딕"/>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EF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AA9AC"/>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8659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마요선수입니다. 저희가 만든 '카페인제주'는 제주 카페를 추천하는 RAG 검색 서비스입니다. 한 문장으로 말하면, 검색엔진 뒤에 LLM을 붙인 게 아니라 LLM에게 읽을 수 있는 검색 도구를 쥐여준 서비스입니다. 오늘 15분 동안 문제 인식부터 평가 결과, 시연까지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42A4-0F2C-549D-BCEE-F9FAF6101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CEF00-9C91-4052-5BC4-24AE5A863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C6CB5-C9BE-41D4-DE6F-992D32271125}"/>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F52369E5-E1EF-5BEB-E2B2-C5BEFF3348B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1631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53948-D2F5-7295-EDCF-C188C0A3A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5270F-2BF0-DF48-A359-C084B8DD9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44589-9BE5-7AF1-0D06-3EE796FA4AD2}"/>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DD94FCF5-3874-8A88-28EC-E29A4B686A4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201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3E102-743B-36EE-EB2A-6C2682242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F9BBD-47D5-F249-B624-26B0B1AA8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09956-E708-E7CB-0BF5-AAE28AE276B4}"/>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282EF3DD-7459-57E2-3CCA-C21C125CF27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98037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1D06D-9B1B-4DD9-B8CB-47ED42878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42650-5457-23BE-70B0-4E936A010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D4805-401B-9D77-B71D-52067A8FB9E0}"/>
              </a:ext>
            </a:extLst>
          </p:cNvPr>
          <p:cNvSpPr>
            <a:spLocks noGrp="1"/>
          </p:cNvSpPr>
          <p:nvPr>
            <p:ph type="body" idx="1"/>
          </p:nvPr>
        </p:nvSpPr>
        <p:spPr/>
        <p:txBody>
          <a:bodyPr/>
          <a:lstStyle/>
          <a:p>
            <a:r>
              <a:rPr lang="en-US" dirty="0"/>
              <a:t>서비스 화면입니다. 카드 한 장에 좋았던 점과 아쉬운 점이 나란히 붙습니다. 두 인용 모두 실제 발화 원문이고, 코드가 원문 부분문자열인지 검증한 것만 남습니다. 하단에는 '전체 1,064곳에서 어떻게 5곳으로 줄었는지' 검색 깔때기를 그대로 노출합니다. 설명가능성이 기능이 아니라 데이터 구조라는 뜻입니다.</a:t>
            </a:r>
          </a:p>
        </p:txBody>
      </p:sp>
      <p:sp>
        <p:nvSpPr>
          <p:cNvPr id="4" name="Slide Number Placeholder 3">
            <a:extLst>
              <a:ext uri="{FF2B5EF4-FFF2-40B4-BE49-F238E27FC236}">
                <a16:creationId xmlns:a16="http://schemas.microsoft.com/office/drawing/2014/main" id="{BF394B34-7F90-7A89-F8FA-2936EBA022C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42241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 화면입니다. 카드 한 장에 좋았던 점과 아쉬운 점이 나란히 붙습니다. 두 인용 모두 실제 발화 원문이고, 코드가 원문 부분문자열인지 검증한 것만 남습니다. 하단에는 '전체 1,064곳에서 어떻게 5곳으로 줄었는지' 검색 깔때기를 그대로 노출합니다. 설명가능성이 기능이 아니라 데이터 구조라는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차이는 임베딩의 역할입니다. 통상의 RAG는 카페 1,064곳을 전부 임베딩해 유사도로 줄을 세우기 때문에 왜 0.83점인지 아무도 설명할 수 없습니다. 저희는 임베딩 공간에 카페가 아니라 태그 사전 수십 개만 넣고, 사용자 언어를 통제 어휘로 옮기는 번역기로만 씁니다. 그러면 순위는 태그 충족과 다수결이라는 읽을 수 있는 신호로만 결정됩니다.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두 무대입니다. 왼쪽 배치 타임은 공장 — 무겁고 실수 가능한 LLM 판단을 여기서 전부 끝내 카페마다 카드 한 장을 만듭니다. 오른쪽 런타임은 창구 — 이미 만들어진 카드를 가볍고 예측 가능하게 조회만 합니다. 저장소가 층으로 나뉘어 있다는 점을 봐 주세요. 검색 벡터에 들어가는 것과 표시용으로만 쓰는 것을 물리적으로 분리했습니다.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수집은 특정 유튜버를 따라가는 방식이 아니라 지역과 주제를 곱한 키워드 격자 59개로 그물을 넓게 쳤습니다. 영상 1,359건에서 카페 언급 1,504건, 중복을 걷어낸 고유 카페 1,064곳이 나왔고 이것이 이후 모든 단계의 모집단입니다. 여기서 gpt-5-mini의 출력 토큰 한도 문제와 조용히 에러를 삼키는 코드 문제를 실측으로 배웠습니다.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유튜브만으로는 1,064곳 중 667곳이 정보 부족이었습니다. 네이버 블로그로 보강하자 정보 풍부가 947곳으로 뒤집혔습니다. 이 시점부터 역할 분담이 확정됩니다 — 블로그는 정보, 유튜브는 근거 영상과 화제성, 댓글은 반응. 특히 댓글은 감정 데이터라 검색 임베딩에 넣으면 아무 질문에나 걸리는 만능 자석이 됩니다. 그래서 표시와 정렬 신호로만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실존은 신뢰의 최소 조건입니다. 상호 확인, 유효 후기, 공공 명부 세 신호를 교차해서 유지 876, 보류 134, 제외 49로 갈랐습니다. 중요한 건 자동으로 다 끝내지 않는다는 점입니다. 애매한 것은 사람 검수 큐로 보냅니다. 오른쪽은 파이프라인이 스스로 문제를 재발견한 사례입니다 — 우리가 손으로 발견했던 폐업 의심 카페를 댓글 극성 분리가 독립적으로 잡아냈습니다.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품질에 관한 결정은 회의에서 말로 정하지 않고 전부 실험으로 정했습니다. 임베딩에 넣을 텍스트 형태를 3~4가지로 만들어 같은 문항으로 붙였고, 자연어 요약이 이겼습니다. 지역 정합 18대 11로 밀린 키워드 스팸 데이터는 버리지 않고 라벨층으로 옮겼습니다. 층을 옮기면 독이 약이 된다는 게 이 프로젝트의 반복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카페의 이름이 검색을 계속 헛돌게 한 사건이 계기가 되어 이름 조인을 은퇴시켰습니다. place_id를 붙이자 중복 122그룹이 자동으로 드러났습니다. 지역 라벨도 마찬가지입니다 — LLM 추측은 오염율이 24.6%였고, 주소에서 코드로 유도하니 사라졌습니다. 판단은 LLM에게, 사실은 코드에게. 오른쪽 /evidence가 이 원칙의 결정판입니다. 지어낸 인용은 코드가 원문 대조에서 걸러내므로 구조적으로 불가능합니다.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세 단으로 나눴습니다. Gold는 사람이 만든 실제 질문 50개로, 대표 카페를 찾았는지와 의도를 만족했는지를 분리해서 봅니다. 이 분리가 핵심입니다 — 이름을 맞혔다고 좋은 추천은 아니니까요. Silver는 168개 자동 질의로 유형별 강약을 보고, Bronze는 정확도가 아니라 시스템 건강 — 중복률, 거절률, 결정성을 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결과입니다. Must Hit이 @5에서 62%, @10에서 74% — 12%p 차이가 핵심입니다. 정답 후보는 Top-10에 들어와 있는데 Top-5로 못 올라옵니다. 즉 검색 실패가 아니라 재정렬 실패입니다. 태그 Coverage 85.7%와 Match 59.3%의 간극도 같은 이야기를 합니다. 대표 카페 수록률이 99.6%이므로 데이터를 더 모으는 건 답이 아닙니다. 오른쪽 유형 분해를 보면 완전 실패는 18%, 20%는 오히려 expected 밖의 새 후보를 찾은 경우입니다.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Silver는 유형별 강약을 보여줍니다. 카페명 조회 96%, 단일 지역 100%로 안정적이지만, 지역과 태그가 겹치면 Precision@5가 40%까지 떨어집니다. Bronze에서 가장 뼈아픈 지표는 서비스 밖 질문 거절률 0%입니다 — 서울이나 맥주를 물어도 제주 카페를 추천합니다. 그래서 개선 순서를 P0 잘못된 추천 차단, P1 place_id 병합과 태그 재정렬, P2 동의어 확장으로 정했습니다. 데이터를 더 넣는 건 목록에 없습니다.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FE999-3597-A826-C159-44B27149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D40EB-BB30-893D-1170-78FE09D95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077E4-B887-B59F-C9AA-323E309E1BC8}"/>
              </a:ext>
            </a:extLst>
          </p:cNvPr>
          <p:cNvSpPr>
            <a:spLocks noGrp="1"/>
          </p:cNvSpPr>
          <p:nvPr>
            <p:ph type="body" idx="1"/>
          </p:nvPr>
        </p:nvSpPr>
        <p:spPr/>
        <p:txBody>
          <a:bodyPr/>
          <a:lstStyle/>
          <a:p>
            <a:r>
              <a:rPr lang="en-US" dirty="0"/>
              <a:t>Silver는 유형별 강약을 보여줍니다. 카페명 조회 96%, 단일 지역 100%로 안정적이지만, 지역과 태그가 겹치면 Precision@5가 40%까지 떨어집니다. Bronze에서 가장 뼈아픈 지표는 서비스 밖 질문 거절률 0%입니다 — 서울이나 맥주를 물어도 제주 카페를 추천합니다. 그래서 개선 순서를 P0 잘못된 추천 차단, P1 place_id 병합과 태그 재정렬, P2 동의어 확장으로 정했습니다. 데이터를 더 넣는 건 목록에 없습니다.</a:t>
            </a:r>
          </a:p>
        </p:txBody>
      </p:sp>
      <p:sp>
        <p:nvSpPr>
          <p:cNvPr id="4" name="Slide Number Placeholder 3">
            <a:extLst>
              <a:ext uri="{FF2B5EF4-FFF2-40B4-BE49-F238E27FC236}">
                <a16:creationId xmlns:a16="http://schemas.microsoft.com/office/drawing/2014/main" id="{29E40894-5879-45C7-859D-2E1B6B5CDAC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07466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항목 다섯 가지에 대해 저희가 무엇으로 답하는지 정리했습니다. 특히 보안은 별도 슬라이드가 없어 여기서 말씀드립니다 — 모든 API 키는 서버 .env에서만 로드하고, 프론트에는 만료되는 임시 사진 URL만 내려갑니다. 카카오 JS 키는 로컬 설정 파일로 분리해 저장소에 올라가지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네 장면입니다. 이름 조회, 브라우즈, 조건 검색, 그리고 근거 보기. 세 번째 조건 검색에서 LLM 입력에 조회수 같은 인기 수치가 아예 들어가지 않는다는 점을 봐 주세요 — LLM도 큰 숫자에 홀립니다. 네 번째 근거 보기에서는 부정 또는 혼합 리뷰가 반드시 하나 포함됩니다. 라이브가 실패하면 스크린샷으로 대체하겠습니다.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달을 세 줄로 줄이면 이렇습니다. 첫째, 판단은 LLM에게 맡기되 사실과 강제는 코드가 쥔다. 둘째, 같은 데이터도 어느 층에 두느냐로 독이 되고 약이 된다. 셋째, 언급 횟수가 아니라 언급한 사람 수를 센다 — 도배와 옛글에 오염되지 않는 유일한 신호였습니다.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숨기지 않겠습니다. 서비스 밖 질문을 거절하지 못하고, 같은 의도의 다른 표현에 결과가 흔들립니다. 카드 정본 병합도 아직 진행 중입니다. 다만 평가가 방향을 명확히 알려줬습니다 — 데이터를 더 넣는 게 아니라 후보를 차단하고, place_id로 병합하고, 태그로 재정렬하는 것. 3주 로드맵으로 잡았습니다.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 서비스에서 임베딩은 찾는 도구가 아니라 번역하는 도구이고, LLM은 사실을 만들어내는 존재가 아니라 검증된 증언을 배열하는 존재입니다. 판단은 배치에서 끝나 검수 가능한 데이터로 남고, 런타임은 그것을 투명하게 조회할 뿐입니다. 질문 받겠습니다.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09160" y="0"/>
            <a:ext cx="4434840" cy="3328416"/>
          </a:xfrm>
          <a:prstGeom prst="rect">
            <a:avLst/>
          </a:prstGeom>
        </p:spPr>
      </p:pic>
      <p:sp>
        <p:nvSpPr>
          <p:cNvPr id="3" name="Shape 0"/>
          <p:cNvSpPr/>
          <p:nvPr/>
        </p:nvSpPr>
        <p:spPr>
          <a:xfrm>
            <a:off x="4709160" y="3328416"/>
            <a:ext cx="4434840" cy="1815084"/>
          </a:xfrm>
          <a:prstGeom prst="rect">
            <a:avLst/>
          </a:prstGeom>
          <a:solidFill>
            <a:srgbClr val="0B4247"/>
          </a:solidFill>
          <a:ln w="12700">
            <a:solidFill>
              <a:srgbClr val="333333"/>
            </a:solidFill>
            <a:prstDash val="solid"/>
          </a:ln>
        </p:spPr>
        <p:txBody>
          <a:bodyPr/>
          <a:lstStyle/>
          <a:p>
            <a:endParaRPr lang="ko-KR" altLang="en-US"/>
          </a:p>
        </p:txBody>
      </p:sp>
      <p:sp>
        <p:nvSpPr>
          <p:cNvPr id="4" name="Text 1"/>
          <p:cNvSpPr/>
          <p:nvPr/>
        </p:nvSpPr>
        <p:spPr>
          <a:xfrm>
            <a:off x="548640" y="914400"/>
            <a:ext cx="4023360" cy="320040"/>
          </a:xfrm>
          <a:prstGeom prst="rect">
            <a:avLst/>
          </a:prstGeom>
          <a:noFill/>
          <a:ln/>
        </p:spPr>
        <p:txBody>
          <a:bodyPr wrap="square" lIns="0" tIns="0" rIns="0" bIns="0" rtlCol="0" anchor="ctr"/>
          <a:lstStyle/>
          <a:p>
            <a:pPr marL="0" indent="0">
              <a:buNone/>
            </a:pPr>
            <a:r>
              <a:rPr lang="en-US" sz="1300" b="1" kern="0" spc="300" dirty="0">
                <a:solidFill>
                  <a:srgbClr val="6FD0C0"/>
                </a:solidFill>
                <a:latin typeface="맑은 고딕" pitchFamily="34" charset="0"/>
                <a:ea typeface="맑은 고딕" pitchFamily="34" charset="-122"/>
                <a:cs typeface="맑은 고딕" pitchFamily="34" charset="-120"/>
              </a:rPr>
              <a:t>Caffe in Jeju</a:t>
            </a:r>
            <a:endParaRPr lang="en-US" sz="1300" dirty="0"/>
          </a:p>
        </p:txBody>
      </p:sp>
      <p:sp>
        <p:nvSpPr>
          <p:cNvPr id="5" name="Text 2"/>
          <p:cNvSpPr/>
          <p:nvPr/>
        </p:nvSpPr>
        <p:spPr>
          <a:xfrm>
            <a:off x="548640" y="1298448"/>
            <a:ext cx="4206240" cy="868680"/>
          </a:xfrm>
          <a:prstGeom prst="rect">
            <a:avLst/>
          </a:prstGeom>
          <a:noFill/>
          <a:ln/>
        </p:spPr>
        <p:txBody>
          <a:bodyPr wrap="square" lIns="0" tIns="0" rIns="0" bIns="0" rtlCol="0" anchor="ctr"/>
          <a:lstStyle/>
          <a:p>
            <a:pPr marL="0" indent="0">
              <a:buNone/>
            </a:pPr>
            <a:r>
              <a:rPr lang="en-US" sz="4600" b="1" dirty="0">
                <a:solidFill>
                  <a:srgbClr val="FFFFFF"/>
                </a:solidFill>
                <a:latin typeface="맑은 고딕" pitchFamily="34" charset="0"/>
                <a:ea typeface="맑은 고딕" pitchFamily="34" charset="-122"/>
                <a:cs typeface="맑은 고딕" pitchFamily="34" charset="-120"/>
              </a:rPr>
              <a:t>카페인제주</a:t>
            </a:r>
            <a:endParaRPr lang="en-US" sz="4600" dirty="0"/>
          </a:p>
        </p:txBody>
      </p:sp>
      <p:sp>
        <p:nvSpPr>
          <p:cNvPr id="6" name="Text 3"/>
          <p:cNvSpPr/>
          <p:nvPr/>
        </p:nvSpPr>
        <p:spPr>
          <a:xfrm>
            <a:off x="548640" y="2240280"/>
            <a:ext cx="4114800" cy="822960"/>
          </a:xfrm>
          <a:prstGeom prst="rect">
            <a:avLst/>
          </a:prstGeom>
          <a:noFill/>
          <a:ln/>
        </p:spPr>
        <p:txBody>
          <a:bodyPr wrap="square" lIns="0" tIns="0" rIns="0" bIns="0" rtlCol="0" anchor="ctr"/>
          <a:lstStyle/>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모든 추천에 원문 인용을 붙이는</a:t>
            </a:r>
            <a:endParaRPr lang="en-US" sz="1500" dirty="0"/>
          </a:p>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제주 카페 RAG 검색 서비스</a:t>
            </a:r>
            <a:endParaRPr lang="en-US" sz="1500" dirty="0"/>
          </a:p>
        </p:txBody>
      </p:sp>
      <p:sp>
        <p:nvSpPr>
          <p:cNvPr id="7" name="Shape 4"/>
          <p:cNvSpPr/>
          <p:nvPr/>
        </p:nvSpPr>
        <p:spPr>
          <a:xfrm>
            <a:off x="548640" y="3246120"/>
            <a:ext cx="1600200" cy="384048"/>
          </a:xfrm>
          <a:prstGeom prst="roundRect">
            <a:avLst>
              <a:gd name="adj" fmla="val 50000"/>
            </a:avLst>
          </a:prstGeom>
          <a:solidFill>
            <a:srgbClr val="E8842B"/>
          </a:solidFill>
          <a:ln w="12700">
            <a:solidFill>
              <a:srgbClr val="333333"/>
            </a:solidFill>
            <a:prstDash val="solid"/>
          </a:ln>
        </p:spPr>
        <p:txBody>
          <a:bodyPr/>
          <a:lstStyle/>
          <a:p>
            <a:endParaRPr lang="ko-KR" altLang="en-US"/>
          </a:p>
        </p:txBody>
      </p:sp>
      <p:sp>
        <p:nvSpPr>
          <p:cNvPr id="8" name="Text 5"/>
          <p:cNvSpPr/>
          <p:nvPr/>
        </p:nvSpPr>
        <p:spPr>
          <a:xfrm>
            <a:off x="548640" y="3246120"/>
            <a:ext cx="1600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팀  마요선수</a:t>
            </a:r>
            <a:endParaRPr lang="en-US" sz="1200" dirty="0"/>
          </a:p>
        </p:txBody>
      </p:sp>
      <p:sp>
        <p:nvSpPr>
          <p:cNvPr id="9" name="Text 6"/>
          <p:cNvSpPr/>
          <p:nvPr/>
        </p:nvSpPr>
        <p:spPr>
          <a:xfrm>
            <a:off x="548640" y="388620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gpt-5-mini  ·  text-embedding-3-large  ·  Chroma  ·  FastAPI</a:t>
            </a:r>
            <a:endParaRPr lang="en-US" sz="1000" dirty="0"/>
          </a:p>
        </p:txBody>
      </p:sp>
      <p:sp>
        <p:nvSpPr>
          <p:cNvPr id="10" name="Text 7"/>
          <p:cNvSpPr/>
          <p:nvPr/>
        </p:nvSpPr>
        <p:spPr>
          <a:xfrm>
            <a:off x="548640" y="420624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2026. 07. 09</a:t>
            </a:r>
            <a:endParaRPr lang="en-US" sz="1000" dirty="0"/>
          </a:p>
        </p:txBody>
      </p:sp>
      <p:sp>
        <p:nvSpPr>
          <p:cNvPr id="11" name="Text 8"/>
          <p:cNvSpPr/>
          <p:nvPr/>
        </p:nvSpPr>
        <p:spPr>
          <a:xfrm>
            <a:off x="5036820" y="3703320"/>
            <a:ext cx="3749040" cy="868680"/>
          </a:xfrm>
          <a:prstGeom prst="rect">
            <a:avLst/>
          </a:prstGeom>
          <a:noFill/>
          <a:ln/>
        </p:spPr>
        <p:txBody>
          <a:bodyPr wrap="square" lIns="0" tIns="0" rIns="0" bIns="0" rtlCol="0" anchor="ctr"/>
          <a:lstStyle/>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a:t>
            </a:r>
            <a:r>
              <a:rPr lang="ko-KR" altLang="en-US" sz="1400" dirty="0" err="1">
                <a:solidFill>
                  <a:srgbClr val="9FCFC7"/>
                </a:solidFill>
                <a:latin typeface="맑은 고딕" pitchFamily="34" charset="0"/>
                <a:ea typeface="맑은 고딕" pitchFamily="34" charset="-122"/>
                <a:cs typeface="맑은 고딕" pitchFamily="34" charset="-120"/>
              </a:rPr>
              <a:t>진진가는</a:t>
            </a:r>
            <a:r>
              <a:rPr lang="ko-KR" altLang="en-US" sz="1400" dirty="0">
                <a:solidFill>
                  <a:srgbClr val="9FCFC7"/>
                </a:solidFill>
                <a:latin typeface="맑은 고딕" pitchFamily="34" charset="0"/>
                <a:ea typeface="맑은 고딕" pitchFamily="34" charset="-122"/>
                <a:cs typeface="맑은 고딕" pitchFamily="34" charset="-120"/>
              </a:rPr>
              <a:t>　제주도　카페에서도　계속된다，</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 </a:t>
            </a:r>
            <a:r>
              <a:rPr lang="ko-KR" altLang="en-US" sz="1400" dirty="0">
                <a:solidFill>
                  <a:srgbClr val="9FCFC7"/>
                </a:solidFill>
                <a:latin typeface="맑은 고딕" pitchFamily="34" charset="0"/>
                <a:ea typeface="맑은 고딕" pitchFamily="34" charset="-122"/>
                <a:cs typeface="맑은 고딕" pitchFamily="34" charset="-120"/>
              </a:rPr>
              <a:t>믿을　수　있는　제주　카페　정보．．．</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ko-KR" altLang="en-US" sz="1400" dirty="0">
                <a:solidFill>
                  <a:srgbClr val="9FCFC7"/>
                </a:solidFill>
                <a:latin typeface="맑은 고딕" pitchFamily="34" charset="0"/>
                <a:ea typeface="맑은 고딕" pitchFamily="34" charset="-122"/>
                <a:cs typeface="맑은 고딕" pitchFamily="34" charset="-120"/>
              </a:rPr>
              <a:t>답이　없어서　내가　직접　만들었다！</a:t>
            </a:r>
            <a:r>
              <a:rPr lang="en-US" sz="1400" dirty="0">
                <a:solidFill>
                  <a:srgbClr val="9FCFC7"/>
                </a:solidFill>
                <a:latin typeface="맑은 고딕" pitchFamily="34" charset="0"/>
                <a:ea typeface="맑은 고딕" pitchFamily="34" charset="-122"/>
                <a:cs typeface="맑은 고딕" pitchFamily="34" charset="-120"/>
              </a:rPr>
              <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CB1F2F1D-3152-4458-B981-5D395D0528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8BADB0-9226-7E46-726B-1A83B3A9ED1C}"/>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30D0DC57-F293-A53D-9A19-E509F5B85798}"/>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err="1">
                <a:solidFill>
                  <a:schemeClr val="bg1"/>
                </a:solidFill>
                <a:latin typeface="맑은 고딕" pitchFamily="34" charset="0"/>
                <a:ea typeface="맑은 고딕" pitchFamily="34" charset="-122"/>
                <a:cs typeface="맑은 고딕" pitchFamily="34" charset="-120"/>
              </a:rPr>
              <a:t>제주</a:t>
            </a:r>
            <a:r>
              <a:rPr lang="ko-KR" altLang="en-US" sz="2700" b="1" dirty="0">
                <a:solidFill>
                  <a:schemeClr val="bg1"/>
                </a:solidFill>
                <a:latin typeface="맑은 고딕" pitchFamily="34" charset="0"/>
                <a:ea typeface="맑은 고딕" pitchFamily="34" charset="-122"/>
                <a:cs typeface="맑은 고딕" pitchFamily="34" charset="-120"/>
              </a:rPr>
              <a:t>　여행　중　마주한　불편한　진실．．．</a:t>
            </a:r>
            <a:endParaRPr lang="en-US" sz="2700" dirty="0">
              <a:solidFill>
                <a:schemeClr val="bg1"/>
              </a:solidFill>
            </a:endParaRPr>
          </a:p>
        </p:txBody>
      </p:sp>
      <p:sp>
        <p:nvSpPr>
          <p:cNvPr id="29" name="Text 24">
            <a:extLst>
              <a:ext uri="{FF2B5EF4-FFF2-40B4-BE49-F238E27FC236}">
                <a16:creationId xmlns:a16="http://schemas.microsoft.com/office/drawing/2014/main" id="{5D17520C-E654-0A40-5A14-D6950ED3DF58}"/>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pic>
        <p:nvPicPr>
          <p:cNvPr id="35" name="그림 34">
            <a:extLst>
              <a:ext uri="{FF2B5EF4-FFF2-40B4-BE49-F238E27FC236}">
                <a16:creationId xmlns:a16="http://schemas.microsoft.com/office/drawing/2014/main" id="{1690C7AD-4BD2-B110-16A4-7DB49BA730C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751070" y="1290240"/>
            <a:ext cx="5974209" cy="3684096"/>
          </a:xfrm>
          <a:prstGeom prst="rect">
            <a:avLst/>
          </a:prstGeom>
        </p:spPr>
      </p:pic>
      <p:sp>
        <p:nvSpPr>
          <p:cNvPr id="37" name="Text 5">
            <a:extLst>
              <a:ext uri="{FF2B5EF4-FFF2-40B4-BE49-F238E27FC236}">
                <a16:creationId xmlns:a16="http://schemas.microsoft.com/office/drawing/2014/main" id="{AA4B682D-34E4-4DCD-68F0-D540777BAE4B}"/>
              </a:ext>
            </a:extLst>
          </p:cNvPr>
          <p:cNvSpPr/>
          <p:nvPr/>
        </p:nvSpPr>
        <p:spPr>
          <a:xfrm>
            <a:off x="502919" y="1486337"/>
            <a:ext cx="5866566" cy="310852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1100" dirty="0">
                <a:solidFill>
                  <a:schemeClr val="bg1"/>
                </a:solidFill>
                <a:latin typeface="맑은 고딕" pitchFamily="34" charset="0"/>
                <a:ea typeface="맑은 고딕" pitchFamily="34" charset="-122"/>
                <a:cs typeface="맑은 고딕" pitchFamily="34" charset="-120"/>
              </a:rPr>
              <a:t>２０２６년　７월　제주</a:t>
            </a:r>
            <a:r>
              <a:rPr lang="en-US" sz="1100" dirty="0">
                <a:solidFill>
                  <a:schemeClr val="bg1"/>
                </a:solidFill>
                <a:latin typeface="맑은 고딕" pitchFamily="34" charset="0"/>
                <a:ea typeface="맑은 고딕" pitchFamily="34" charset="-122"/>
                <a:cs typeface="맑은 고딕" pitchFamily="34" charset="-120"/>
              </a:rPr>
              <a:t>.</a:t>
            </a:r>
          </a:p>
          <a:p>
            <a:pPr marL="180975">
              <a:lnSpc>
                <a:spcPts val="1700"/>
              </a:lnSpc>
              <a:buNone/>
            </a:pPr>
            <a:r>
              <a:rPr lang="ko-KR" altLang="en-US" sz="1100" dirty="0">
                <a:solidFill>
                  <a:schemeClr val="bg1"/>
                </a:solidFill>
                <a:latin typeface="맑은 고딕" pitchFamily="34" charset="0"/>
                <a:ea typeface="맑은 고딕" pitchFamily="34" charset="-122"/>
              </a:rPr>
              <a:t>부푼　마음으로　３주간의　제주　</a:t>
            </a:r>
            <a:r>
              <a:rPr lang="ko-KR" altLang="en-US" sz="1100" dirty="0" err="1">
                <a:solidFill>
                  <a:schemeClr val="bg1"/>
                </a:solidFill>
                <a:latin typeface="맑은 고딕" pitchFamily="34" charset="0"/>
                <a:ea typeface="맑은 고딕" pitchFamily="34" charset="-122"/>
              </a:rPr>
              <a:t>런케이션에</a:t>
            </a:r>
            <a:r>
              <a:rPr lang="ko-KR" altLang="en-US" sz="1100" dirty="0">
                <a:solidFill>
                  <a:schemeClr val="bg1"/>
                </a:solidFill>
                <a:latin typeface="맑은 고딕" pitchFamily="34" charset="0"/>
                <a:ea typeface="맑은 고딕" pitchFamily="34" charset="-122"/>
              </a:rPr>
              <a:t>　참여하여</a:t>
            </a:r>
            <a:endParaRPr lang="en-US" altLang="ko-KR" sz="1100" dirty="0">
              <a:solidFill>
                <a:schemeClr val="bg1"/>
              </a:solidFill>
              <a:latin typeface="맑은 고딕" pitchFamily="34" charset="0"/>
              <a:ea typeface="맑은 고딕" pitchFamily="34" charset="-122"/>
            </a:endParaRPr>
          </a:p>
          <a:p>
            <a:pPr marL="180975">
              <a:lnSpc>
                <a:spcPts val="1700"/>
              </a:lnSpc>
              <a:buNone/>
            </a:pPr>
            <a:r>
              <a:rPr lang="ko-KR" altLang="en-US" sz="1100" dirty="0">
                <a:solidFill>
                  <a:schemeClr val="bg1"/>
                </a:solidFill>
                <a:latin typeface="맑은 고딕" pitchFamily="34" charset="0"/>
                <a:ea typeface="맑은 고딕" pitchFamily="34" charset="-122"/>
              </a:rPr>
              <a:t>멋진　제주　여행을　기대하며　네이버　추천　카페를　찾았는데．．．</a:t>
            </a:r>
            <a:endParaRPr lang="en-US" altLang="ko-KR" sz="1100" dirty="0">
              <a:solidFill>
                <a:schemeClr val="bg1"/>
              </a:solidFill>
              <a:latin typeface="맑은 고딕" pitchFamily="34" charset="0"/>
              <a:ea typeface="맑은 고딕" pitchFamily="34" charset="-122"/>
            </a:endParaRPr>
          </a:p>
          <a:p>
            <a:pPr marL="180975">
              <a:lnSpc>
                <a:spcPts val="1700"/>
              </a:lnSpc>
              <a:buNone/>
            </a:pPr>
            <a:endParaRPr lang="en-US" sz="1100" dirty="0">
              <a:solidFill>
                <a:schemeClr val="bg1"/>
              </a:solidFill>
            </a:endParaRPr>
          </a:p>
          <a:p>
            <a:pPr marL="180975">
              <a:lnSpc>
                <a:spcPts val="1700"/>
              </a:lnSpc>
              <a:buNone/>
            </a:pPr>
            <a:r>
              <a:rPr lang="ko-KR" altLang="en-US" sz="1100" dirty="0">
                <a:solidFill>
                  <a:schemeClr val="bg1"/>
                </a:solidFill>
              </a:rPr>
              <a:t>좁은　도로와　주차장으로　인해　카페　초입부터　스트레스　가득，</a:t>
            </a:r>
            <a:endParaRPr lang="en-US" altLang="ko-KR" sz="1100" dirty="0">
              <a:solidFill>
                <a:schemeClr val="bg1"/>
              </a:solidFill>
            </a:endParaRPr>
          </a:p>
          <a:p>
            <a:pPr marL="180975">
              <a:lnSpc>
                <a:spcPts val="1700"/>
              </a:lnSpc>
              <a:buNone/>
            </a:pPr>
            <a:r>
              <a:rPr lang="ko-KR" altLang="en-US" sz="1100" dirty="0">
                <a:solidFill>
                  <a:schemeClr val="bg1"/>
                </a:solidFill>
              </a:rPr>
              <a:t>카페　안은　이미　많은　사람들로　가득하고　</a:t>
            </a:r>
            <a:r>
              <a:rPr lang="ko-KR" altLang="en-US" sz="1100" dirty="0" err="1">
                <a:solidFill>
                  <a:schemeClr val="bg1"/>
                </a:solidFill>
              </a:rPr>
              <a:t>웨이팅도</a:t>
            </a:r>
            <a:r>
              <a:rPr lang="ko-KR" altLang="en-US" sz="1100" dirty="0">
                <a:solidFill>
                  <a:schemeClr val="bg1"/>
                </a:solidFill>
              </a:rPr>
              <a:t>　만만치　않은　상황　</a:t>
            </a:r>
            <a:r>
              <a:rPr lang="ko-KR" altLang="en-US" sz="1100" dirty="0" err="1">
                <a:solidFill>
                  <a:schemeClr val="bg1"/>
                </a:solidFill>
              </a:rPr>
              <a:t>ㅠ</a:t>
            </a:r>
            <a:endParaRPr lang="en-US" altLang="ko-KR" sz="1100" dirty="0">
              <a:solidFill>
                <a:schemeClr val="bg1"/>
              </a:solidFill>
            </a:endParaRPr>
          </a:p>
          <a:p>
            <a:pPr marL="180975">
              <a:lnSpc>
                <a:spcPts val="1700"/>
              </a:lnSpc>
              <a:buNone/>
            </a:pPr>
            <a:r>
              <a:rPr lang="ko-KR" altLang="en-US" sz="1100" dirty="0">
                <a:solidFill>
                  <a:schemeClr val="bg1"/>
                </a:solidFill>
              </a:rPr>
              <a:t>고생　끝에　겨우　받아　든　커피　한　잔은　내　취향에는　안　맞기까지．．．</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100" dirty="0">
                <a:solidFill>
                  <a:schemeClr val="bg1"/>
                </a:solidFill>
              </a:rPr>
              <a:t>제주　여행에는　좋은　일만　있을　줄　알았는데，</a:t>
            </a:r>
            <a:endParaRPr lang="en-US" altLang="ko-KR" sz="1100" dirty="0">
              <a:solidFill>
                <a:schemeClr val="bg1"/>
              </a:solidFill>
            </a:endParaRPr>
          </a:p>
          <a:p>
            <a:pPr marL="180975">
              <a:lnSpc>
                <a:spcPts val="1700"/>
              </a:lnSpc>
              <a:buNone/>
            </a:pPr>
            <a:r>
              <a:rPr lang="ko-KR" altLang="en-US" sz="1100" dirty="0">
                <a:solidFill>
                  <a:schemeClr val="bg1"/>
                </a:solidFill>
              </a:rPr>
              <a:t>실망감을　머리에　이고　도망치듯　카페를　빠져나오는　내　머리　속엔　온통　한가지　생각　뿐이다．</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400" b="1" dirty="0">
                <a:solidFill>
                  <a:schemeClr val="bg1"/>
                </a:solidFill>
              </a:rPr>
              <a:t>＇믿을　만한　제주　카페　정보는　어디서　어떻게　찾지？？？＇　</a:t>
            </a:r>
            <a:endParaRPr lang="en-US" sz="1400" b="1" dirty="0">
              <a:solidFill>
                <a:schemeClr val="bg1"/>
              </a:solidFill>
            </a:endParaRPr>
          </a:p>
        </p:txBody>
      </p:sp>
    </p:spTree>
    <p:extLst>
      <p:ext uri="{BB962C8B-B14F-4D97-AF65-F5344CB8AC3E}">
        <p14:creationId xmlns:p14="http://schemas.microsoft.com/office/powerpoint/2010/main" val="164771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CF01-5391-4C05-C7D4-E0609116EC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7B2CC5-C0B7-7795-DDE4-6721F76EF38A}"/>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CD60A50D-E18E-191D-B782-0938E226528D}"/>
              </a:ext>
            </a:extLst>
          </p:cNvPr>
          <p:cNvSpPr/>
          <p:nvPr/>
        </p:nvSpPr>
        <p:spPr>
          <a:xfrm>
            <a:off x="502920" y="548639"/>
            <a:ext cx="8138160" cy="1111059"/>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신뢰할　수　있는　</a:t>
            </a:r>
            <a:r>
              <a:rPr lang="en-US" sz="2700" b="1" dirty="0" err="1">
                <a:solidFill>
                  <a:srgbClr val="1F2933"/>
                </a:solidFill>
                <a:latin typeface="맑은 고딕" pitchFamily="34" charset="0"/>
                <a:ea typeface="맑은 고딕" pitchFamily="34" charset="-122"/>
                <a:cs typeface="맑은 고딕" pitchFamily="34" charset="-120"/>
              </a:rPr>
              <a:t>제주</a:t>
            </a:r>
            <a:r>
              <a:rPr lang="ko-KR" altLang="en-US" sz="2700" b="1" dirty="0">
                <a:solidFill>
                  <a:srgbClr val="1F2933"/>
                </a:solidFill>
                <a:latin typeface="맑은 고딕" pitchFamily="34" charset="0"/>
                <a:ea typeface="맑은 고딕" pitchFamily="34" charset="-122"/>
                <a:cs typeface="맑은 고딕" pitchFamily="34" charset="-120"/>
              </a:rPr>
              <a:t>　카페　정보를　찾으려면</a:t>
            </a:r>
            <a:endParaRPr lang="en-US" altLang="ko-KR" sz="27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손과　눈이　바쁘게　움직여야　한다．　</a:t>
            </a:r>
            <a:endParaRPr lang="en-US" sz="2700" dirty="0"/>
          </a:p>
        </p:txBody>
      </p:sp>
      <p:sp>
        <p:nvSpPr>
          <p:cNvPr id="28" name="Text 23">
            <a:extLst>
              <a:ext uri="{FF2B5EF4-FFF2-40B4-BE49-F238E27FC236}">
                <a16:creationId xmlns:a16="http://schemas.microsoft.com/office/drawing/2014/main" id="{75229B0E-4EF8-074B-F89B-3AB4C7D1031D}"/>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a:extLst>
              <a:ext uri="{FF2B5EF4-FFF2-40B4-BE49-F238E27FC236}">
                <a16:creationId xmlns:a16="http://schemas.microsoft.com/office/drawing/2014/main" id="{52674E5D-2B8A-FEF2-1677-3DB2B6BA5C10}"/>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
        <p:nvSpPr>
          <p:cNvPr id="5" name="Shape 10">
            <a:extLst>
              <a:ext uri="{FF2B5EF4-FFF2-40B4-BE49-F238E27FC236}">
                <a16:creationId xmlns:a16="http://schemas.microsoft.com/office/drawing/2014/main" id="{2FAB9610-D512-F55F-2274-EFBC8A0366B9}"/>
              </a:ext>
            </a:extLst>
          </p:cNvPr>
          <p:cNvSpPr/>
          <p:nvPr/>
        </p:nvSpPr>
        <p:spPr>
          <a:xfrm>
            <a:off x="553025"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9" name="그림 8">
            <a:extLst>
              <a:ext uri="{FF2B5EF4-FFF2-40B4-BE49-F238E27FC236}">
                <a16:creationId xmlns:a16="http://schemas.microsoft.com/office/drawing/2014/main" id="{EF7EE5E0-EAF2-580A-0032-CEC638A14F4B}"/>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a:fillRect/>
          </a:stretch>
        </p:blipFill>
        <p:spPr>
          <a:xfrm>
            <a:off x="1251351" y="1775708"/>
            <a:ext cx="646342" cy="445384"/>
          </a:xfrm>
          <a:prstGeom prst="rect">
            <a:avLst/>
          </a:prstGeom>
        </p:spPr>
      </p:pic>
      <p:sp>
        <p:nvSpPr>
          <p:cNvPr id="13" name="Shape 10">
            <a:extLst>
              <a:ext uri="{FF2B5EF4-FFF2-40B4-BE49-F238E27FC236}">
                <a16:creationId xmlns:a16="http://schemas.microsoft.com/office/drawing/2014/main" id="{F7573AE4-6B77-B143-D785-9CC378F86523}"/>
              </a:ext>
            </a:extLst>
          </p:cNvPr>
          <p:cNvSpPr/>
          <p:nvPr/>
        </p:nvSpPr>
        <p:spPr>
          <a:xfrm>
            <a:off x="3519933" y="2048504"/>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Shape 10">
            <a:extLst>
              <a:ext uri="{FF2B5EF4-FFF2-40B4-BE49-F238E27FC236}">
                <a16:creationId xmlns:a16="http://schemas.microsoft.com/office/drawing/2014/main" id="{342FBA73-7352-0A43-992E-3BB45978239C}"/>
              </a:ext>
            </a:extLst>
          </p:cNvPr>
          <p:cNvSpPr/>
          <p:nvPr/>
        </p:nvSpPr>
        <p:spPr>
          <a:xfrm>
            <a:off x="6455289"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Shape 34">
            <a:extLst>
              <a:ext uri="{FF2B5EF4-FFF2-40B4-BE49-F238E27FC236}">
                <a16:creationId xmlns:a16="http://schemas.microsoft.com/office/drawing/2014/main" id="{C6E5CE71-8DB5-CC1C-D0D5-F836502DFF51}"/>
              </a:ext>
            </a:extLst>
          </p:cNvPr>
          <p:cNvSpPr/>
          <p:nvPr/>
        </p:nvSpPr>
        <p:spPr>
          <a:xfrm>
            <a:off x="2716895" y="2734430"/>
            <a:ext cx="682668" cy="904379"/>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34">
            <a:extLst>
              <a:ext uri="{FF2B5EF4-FFF2-40B4-BE49-F238E27FC236}">
                <a16:creationId xmlns:a16="http://schemas.microsoft.com/office/drawing/2014/main" id="{6E1C769C-7DDA-54DF-F60D-66A8C26EC2DA}"/>
              </a:ext>
            </a:extLst>
          </p:cNvPr>
          <p:cNvSpPr/>
          <p:nvPr/>
        </p:nvSpPr>
        <p:spPr>
          <a:xfrm>
            <a:off x="5699781" y="2757852"/>
            <a:ext cx="682668" cy="904379"/>
          </a:xfrm>
          <a:prstGeom prst="rightArrow">
            <a:avLst/>
          </a:prstGeom>
          <a:solidFill>
            <a:srgbClr val="BBD3CE"/>
          </a:solidFill>
          <a:ln w="12700">
            <a:solidFill>
              <a:srgbClr val="BBD3CE"/>
            </a:solidFill>
            <a:prstDash val="solid"/>
          </a:ln>
        </p:spPr>
        <p:txBody>
          <a:bodyPr/>
          <a:lstStyle/>
          <a:p>
            <a:endParaRPr lang="ko-KR" altLang="en-US"/>
          </a:p>
        </p:txBody>
      </p:sp>
      <p:pic>
        <p:nvPicPr>
          <p:cNvPr id="21" name="Picture 2" descr="카카오톡 로고(.ai) 일러스트 다운로드 | 로고, 앱, 아이콘">
            <a:extLst>
              <a:ext uri="{FF2B5EF4-FFF2-40B4-BE49-F238E27FC236}">
                <a16:creationId xmlns:a16="http://schemas.microsoft.com/office/drawing/2014/main" id="{7F300635-C9E5-8AB5-9AF2-744E7B2370D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86216" y="1782469"/>
            <a:ext cx="477859" cy="477859"/>
          </a:xfrm>
          <a:prstGeom prst="rect">
            <a:avLst/>
          </a:prstGeom>
          <a:noFill/>
          <a:extLst>
            <a:ext uri="{909E8E84-426E-40DD-AFC4-6F175D3DCCD1}">
              <a14:hiddenFill xmlns:a14="http://schemas.microsoft.com/office/drawing/2010/main">
                <a:solidFill>
                  <a:srgbClr val="FFFFFF"/>
                </a:solidFill>
              </a14:hiddenFill>
            </a:ext>
          </a:extLst>
        </p:spPr>
      </p:pic>
      <p:pic>
        <p:nvPicPr>
          <p:cNvPr id="23" name="그림 22">
            <a:extLst>
              <a:ext uri="{FF2B5EF4-FFF2-40B4-BE49-F238E27FC236}">
                <a16:creationId xmlns:a16="http://schemas.microsoft.com/office/drawing/2014/main" id="{5562145A-680E-22A9-85AF-ECB41556ADC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207484" y="1812560"/>
            <a:ext cx="477860" cy="467779"/>
          </a:xfrm>
          <a:prstGeom prst="rect">
            <a:avLst/>
          </a:prstGeom>
        </p:spPr>
      </p:pic>
      <p:sp>
        <p:nvSpPr>
          <p:cNvPr id="25" name="Text 4">
            <a:extLst>
              <a:ext uri="{FF2B5EF4-FFF2-40B4-BE49-F238E27FC236}">
                <a16:creationId xmlns:a16="http://schemas.microsoft.com/office/drawing/2014/main" id="{76755957-9C64-77B1-30F2-3DAC1B7B99C2}"/>
              </a:ext>
            </a:extLst>
          </p:cNvPr>
          <p:cNvSpPr/>
          <p:nvPr/>
        </p:nvSpPr>
        <p:spPr>
          <a:xfrm>
            <a:off x="728962" y="3210041"/>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여행정보는</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영상으로　봐야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내　스타일을</a:t>
            </a:r>
            <a:endParaRPr lang="en-US" altLang="ko-KR" sz="1200" dirty="0">
              <a:solidFill>
                <a:srgbClr val="1F2933"/>
              </a:solidFill>
              <a:latin typeface="맑은 고딕" pitchFamily="34" charset="0"/>
              <a:ea typeface="맑은 고딕" pitchFamily="34" charset="-122"/>
            </a:endParaRPr>
          </a:p>
          <a:p>
            <a:pPr marL="0" indent="0">
              <a:buNone/>
            </a:pPr>
            <a:r>
              <a:rPr lang="ko-KR" altLang="en-US" sz="1200" dirty="0">
                <a:solidFill>
                  <a:srgbClr val="1F2933"/>
                </a:solidFill>
                <a:latin typeface="맑은 고딕" pitchFamily="34" charset="0"/>
                <a:ea typeface="맑은 고딕" pitchFamily="34" charset="-122"/>
              </a:rPr>
              <a:t>제대로　찾지　않겠어？</a:t>
            </a:r>
            <a:endParaRPr lang="en-US" sz="1200" dirty="0"/>
          </a:p>
        </p:txBody>
      </p:sp>
      <p:sp>
        <p:nvSpPr>
          <p:cNvPr id="27" name="Text 4">
            <a:extLst>
              <a:ext uri="{FF2B5EF4-FFF2-40B4-BE49-F238E27FC236}">
                <a16:creationId xmlns:a16="http://schemas.microsoft.com/office/drawing/2014/main" id="{83B37BBB-0A93-E017-C84C-99478D709EDF}"/>
              </a:ext>
            </a:extLst>
          </p:cNvPr>
          <p:cNvSpPr/>
          <p:nvPr/>
        </p:nvSpPr>
        <p:spPr>
          <a:xfrm>
            <a:off x="754943" y="2192109"/>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일단　시작은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여행　</a:t>
            </a:r>
            <a:r>
              <a:rPr lang="ko-KR" altLang="en-US" sz="1600" b="1" dirty="0" err="1">
                <a:solidFill>
                  <a:srgbClr val="1F2933"/>
                </a:solidFill>
                <a:latin typeface="맑은 고딕" pitchFamily="34" charset="0"/>
                <a:ea typeface="맑은 고딕" pitchFamily="34" charset="-122"/>
                <a:cs typeface="맑은 고딕" pitchFamily="34" charset="-120"/>
              </a:rPr>
              <a:t>유튜버들의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카페　추천　영상</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2" name="Text 4">
            <a:extLst>
              <a:ext uri="{FF2B5EF4-FFF2-40B4-BE49-F238E27FC236}">
                <a16:creationId xmlns:a16="http://schemas.microsoft.com/office/drawing/2014/main" id="{228A9566-73C9-12F7-7A85-E8479812DFF8}"/>
              </a:ext>
            </a:extLst>
          </p:cNvPr>
          <p:cNvSpPr/>
          <p:nvPr/>
        </p:nvSpPr>
        <p:spPr>
          <a:xfrm>
            <a:off x="3717618" y="2200470"/>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카카오　평점으로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진짜　좋은　카페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선별하고</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4" name="Text 4">
            <a:extLst>
              <a:ext uri="{FF2B5EF4-FFF2-40B4-BE49-F238E27FC236}">
                <a16:creationId xmlns:a16="http://schemas.microsoft.com/office/drawing/2014/main" id="{8F283682-12C2-37F4-0AF2-B35A78278D8D}"/>
              </a:ext>
            </a:extLst>
          </p:cNvPr>
          <p:cNvSpPr/>
          <p:nvPr/>
        </p:nvSpPr>
        <p:spPr>
          <a:xfrm>
            <a:off x="6650588" y="2280865"/>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블로그와　댓글로　영업시간　체크　및　</a:t>
            </a:r>
            <a:r>
              <a:rPr lang="ko-KR" altLang="en-US" sz="1600" b="1" dirty="0" err="1">
                <a:solidFill>
                  <a:srgbClr val="1F2933"/>
                </a:solidFill>
                <a:latin typeface="맑은 고딕" pitchFamily="34" charset="0"/>
                <a:ea typeface="맑은 고딕" pitchFamily="34" charset="-122"/>
                <a:cs typeface="맑은 고딕" pitchFamily="34" charset="-120"/>
              </a:rPr>
              <a:t>찐후기</a:t>
            </a:r>
            <a:r>
              <a:rPr lang="ko-KR" altLang="en-US" sz="1600" b="1" dirty="0">
                <a:solidFill>
                  <a:srgbClr val="1F2933"/>
                </a:solidFill>
                <a:latin typeface="맑은 고딕" pitchFamily="34" charset="0"/>
                <a:ea typeface="맑은 고딕" pitchFamily="34" charset="-122"/>
                <a:cs typeface="맑은 고딕" pitchFamily="34" charset="-120"/>
              </a:rPr>
              <a:t>　체크</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6" name="Text 4">
            <a:extLst>
              <a:ext uri="{FF2B5EF4-FFF2-40B4-BE49-F238E27FC236}">
                <a16:creationId xmlns:a16="http://schemas.microsoft.com/office/drawing/2014/main" id="{72D04797-E6FA-E095-22F5-58DCE71F53C2}"/>
              </a:ext>
            </a:extLst>
          </p:cNvPr>
          <p:cNvSpPr/>
          <p:nvPr/>
        </p:nvSpPr>
        <p:spPr>
          <a:xfrm>
            <a:off x="3694005" y="3242186"/>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짜기로　유명한　카카오　평점으로　실패　확률　줄이고　</a:t>
            </a:r>
            <a:r>
              <a:rPr lang="ko-KR" altLang="en-US" sz="1200" dirty="0" err="1">
                <a:solidFill>
                  <a:srgbClr val="1F2933"/>
                </a:solidFill>
                <a:latin typeface="맑은 고딕" pitchFamily="34" charset="0"/>
                <a:ea typeface="맑은 고딕" pitchFamily="34" charset="-122"/>
                <a:cs typeface="맑은 고딕" pitchFamily="34" charset="-120"/>
              </a:rPr>
              <a:t>맵에서</a:t>
            </a:r>
            <a:r>
              <a:rPr lang="ko-KR" altLang="en-US" sz="1200" dirty="0">
                <a:solidFill>
                  <a:srgbClr val="1F2933"/>
                </a:solidFill>
                <a:latin typeface="맑은 고딕" pitchFamily="34" charset="0"/>
                <a:ea typeface="맑은 고딕" pitchFamily="34" charset="-122"/>
                <a:cs typeface="맑은 고딕" pitchFamily="34" charset="-120"/>
              </a:rPr>
              <a:t>　카페　위치도　체크　</a:t>
            </a:r>
            <a:endParaRPr lang="en-US" sz="1200" dirty="0"/>
          </a:p>
        </p:txBody>
      </p:sp>
      <p:sp>
        <p:nvSpPr>
          <p:cNvPr id="38" name="Text 4">
            <a:extLst>
              <a:ext uri="{FF2B5EF4-FFF2-40B4-BE49-F238E27FC236}">
                <a16:creationId xmlns:a16="http://schemas.microsoft.com/office/drawing/2014/main" id="{D30094FA-155D-E14A-4F34-90907A9C2808}"/>
              </a:ext>
            </a:extLst>
          </p:cNvPr>
          <p:cNvSpPr/>
          <p:nvPr/>
        </p:nvSpPr>
        <p:spPr>
          <a:xfrm>
            <a:off x="6637866" y="3333499"/>
            <a:ext cx="1726139" cy="1302704"/>
          </a:xfrm>
          <a:prstGeom prst="rect">
            <a:avLst/>
          </a:prstGeom>
          <a:noFill/>
          <a:ln/>
        </p:spPr>
        <p:txBody>
          <a:bodyPr wrap="square" lIns="0" tIns="0" rIns="0" bIns="0" rtlCol="0" anchor="ctr"/>
          <a:lstStyle/>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휴업／폐업한건</a:t>
            </a:r>
            <a:r>
              <a:rPr lang="ko-KR" altLang="en-US" sz="1200" dirty="0">
                <a:solidFill>
                  <a:srgbClr val="1F2933"/>
                </a:solidFill>
                <a:latin typeface="맑은 고딕" pitchFamily="34" charset="0"/>
                <a:ea typeface="맑은 고딕" pitchFamily="34" charset="-122"/>
                <a:cs typeface="맑은 고딕" pitchFamily="34" charset="-120"/>
              </a:rPr>
              <a:t>　아닌지，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몇시에</a:t>
            </a:r>
            <a:r>
              <a:rPr lang="ko-KR" altLang="en-US" sz="1200" dirty="0">
                <a:solidFill>
                  <a:srgbClr val="1F2933"/>
                </a:solidFill>
                <a:latin typeface="맑은 고딕" pitchFamily="34" charset="0"/>
                <a:ea typeface="맑은 고딕" pitchFamily="34" charset="-122"/>
                <a:cs typeface="맑은 고딕" pitchFamily="34" charset="-120"/>
              </a:rPr>
              <a:t>　여는지，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일반인들의　찐　방문　후기까지　체크해야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맘이　놓인다　</a:t>
            </a:r>
            <a:r>
              <a:rPr lang="ko-KR" altLang="en-US" sz="1200" dirty="0" err="1">
                <a:solidFill>
                  <a:srgbClr val="1F2933"/>
                </a:solidFill>
                <a:latin typeface="맑은 고딕" pitchFamily="34" charset="0"/>
                <a:ea typeface="맑은 고딕" pitchFamily="34" charset="-122"/>
              </a:rPr>
              <a:t>ㅠ．ㅠ</a:t>
            </a:r>
            <a:endParaRPr lang="en-US" sz="1200" dirty="0"/>
          </a:p>
        </p:txBody>
      </p:sp>
    </p:spTree>
    <p:extLst>
      <p:ext uri="{BB962C8B-B14F-4D97-AF65-F5344CB8AC3E}">
        <p14:creationId xmlns:p14="http://schemas.microsoft.com/office/powerpoint/2010/main" val="74223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038B-B2C6-2600-8BA5-FE284C87D30E}"/>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C4753E9E-6ECC-7DE4-0DB7-F2DEAEEAD53E}"/>
              </a:ext>
            </a:extLst>
          </p:cNvPr>
          <p:cNvPicPr>
            <a:picLocks noChangeAspect="1"/>
          </p:cNvPicPr>
          <p:nvPr/>
        </p:nvPicPr>
        <p:blipFill>
          <a:blip r:embed="rId3"/>
          <a:stretch>
            <a:fillRect/>
          </a:stretch>
        </p:blipFill>
        <p:spPr>
          <a:xfrm>
            <a:off x="0" y="-59473"/>
            <a:ext cx="9144000" cy="6075335"/>
          </a:xfrm>
          <a:prstGeom prst="rect">
            <a:avLst/>
          </a:prstGeom>
        </p:spPr>
      </p:pic>
      <p:sp>
        <p:nvSpPr>
          <p:cNvPr id="2" name="Text 0">
            <a:extLst>
              <a:ext uri="{FF2B5EF4-FFF2-40B4-BE49-F238E27FC236}">
                <a16:creationId xmlns:a16="http://schemas.microsoft.com/office/drawing/2014/main" id="{BE3F5BAE-0E73-B1C1-350C-80E72F6D1D2D}"/>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PROBLEM</a:t>
            </a:r>
            <a:r>
              <a:rPr lang="ko-KR" altLang="en-US" sz="1100" b="1" kern="0" spc="200" dirty="0">
                <a:solidFill>
                  <a:srgbClr val="168A7E"/>
                </a:solidFill>
                <a:latin typeface="맑은 고딕" pitchFamily="34" charset="0"/>
                <a:ea typeface="맑은 고딕" pitchFamily="34" charset="-122"/>
                <a:cs typeface="맑은 고딕" pitchFamily="34" charset="-120"/>
              </a:rPr>
              <a:t>　</a:t>
            </a:r>
            <a:r>
              <a:rPr lang="ko-KR" altLang="en-US" sz="1100" b="1" kern="0" spc="200" dirty="0">
                <a:solidFill>
                  <a:srgbClr val="168A7E"/>
                </a:solidFill>
                <a:latin typeface="맑은 고딕" pitchFamily="34" charset="0"/>
                <a:ea typeface="맑은 고딕" pitchFamily="34" charset="-122"/>
              </a:rPr>
              <a:t>ＤＥＦＩＮＥＤ</a:t>
            </a:r>
            <a:endParaRPr lang="en-US" sz="1100" b="1" kern="0" spc="200" dirty="0">
              <a:solidFill>
                <a:srgbClr val="168A7E"/>
              </a:solidFill>
              <a:latin typeface="맑은 고딕" pitchFamily="34" charset="0"/>
              <a:ea typeface="맑은 고딕" pitchFamily="34" charset="-122"/>
            </a:endParaRPr>
          </a:p>
        </p:txBody>
      </p:sp>
      <p:sp>
        <p:nvSpPr>
          <p:cNvPr id="7" name="Text 5">
            <a:extLst>
              <a:ext uri="{FF2B5EF4-FFF2-40B4-BE49-F238E27FC236}">
                <a16:creationId xmlns:a16="http://schemas.microsoft.com/office/drawing/2014/main" id="{B474A081-641D-39DF-0D8A-16673CA7D357}"/>
              </a:ext>
            </a:extLst>
          </p:cNvPr>
          <p:cNvSpPr/>
          <p:nvPr/>
        </p:nvSpPr>
        <p:spPr>
          <a:xfrm>
            <a:off x="1809959" y="1234440"/>
            <a:ext cx="6008162" cy="2674620"/>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400" dirty="0">
                <a:solidFill>
                  <a:schemeClr val="bg1"/>
                </a:solidFill>
              </a:rPr>
              <a:t>　　</a:t>
            </a:r>
            <a:endParaRPr lang="en-US" altLang="ko-KR" sz="2400" dirty="0">
              <a:solidFill>
                <a:schemeClr val="bg1"/>
              </a:solidFill>
            </a:endParaRPr>
          </a:p>
          <a:p>
            <a:pPr marL="180975">
              <a:lnSpc>
                <a:spcPts val="1700"/>
              </a:lnSpc>
              <a:buNone/>
            </a:pPr>
            <a:r>
              <a:rPr lang="ko-KR" altLang="en-US" sz="3200" b="1" dirty="0">
                <a:solidFill>
                  <a:schemeClr val="bg1"/>
                </a:solidFill>
              </a:rPr>
              <a:t>　　제주　카페　정보，</a:t>
            </a: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r>
              <a:rPr lang="ko-KR" altLang="en-US" sz="3200" b="1" dirty="0">
                <a:solidFill>
                  <a:schemeClr val="bg1"/>
                </a:solidFill>
              </a:rPr>
              <a:t>　</a:t>
            </a:r>
            <a:endParaRPr lang="en-US" altLang="ko-KR" sz="3200" b="1" dirty="0">
              <a:solidFill>
                <a:schemeClr val="bg1"/>
              </a:solidFill>
            </a:endParaRPr>
          </a:p>
          <a:p>
            <a:pPr marL="180975">
              <a:lnSpc>
                <a:spcPts val="1700"/>
              </a:lnSpc>
              <a:buNone/>
            </a:pPr>
            <a:r>
              <a:rPr lang="ko-KR" altLang="en-US" sz="3200" b="1" dirty="0">
                <a:solidFill>
                  <a:schemeClr val="bg1"/>
                </a:solidFill>
              </a:rPr>
              <a:t>　　뭐가　문제일까？　</a:t>
            </a:r>
            <a:endParaRPr lang="en-US" sz="3200" b="1" dirty="0">
              <a:solidFill>
                <a:schemeClr val="bg1"/>
              </a:solidFill>
            </a:endParaRPr>
          </a:p>
        </p:txBody>
      </p:sp>
    </p:spTree>
    <p:extLst>
      <p:ext uri="{BB962C8B-B14F-4D97-AF65-F5344CB8AC3E}">
        <p14:creationId xmlns:p14="http://schemas.microsoft.com/office/powerpoint/2010/main" val="427807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PROBLEM</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제주 카페를 찾을 때 마주치는 3대 장벽</a:t>
            </a:r>
            <a:endParaRPr lang="en-US" sz="2700" dirty="0"/>
          </a:p>
        </p:txBody>
      </p:sp>
      <p:sp>
        <p:nvSpPr>
          <p:cNvPr id="4" name="Shape 2"/>
          <p:cNvSpPr/>
          <p:nvPr/>
        </p:nvSpPr>
        <p:spPr>
          <a:xfrm>
            <a:off x="435342" y="1353249"/>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5895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06353" y="1720169"/>
            <a:ext cx="272125" cy="272125"/>
          </a:xfrm>
          <a:prstGeom prst="rect">
            <a:avLst/>
          </a:prstGeom>
        </p:spPr>
      </p:pic>
      <p:sp>
        <p:nvSpPr>
          <p:cNvPr id="7" name="Text 4"/>
          <p:cNvSpPr/>
          <p:nvPr/>
        </p:nvSpPr>
        <p:spPr>
          <a:xfrm>
            <a:off x="758952" y="2286000"/>
            <a:ext cx="2057400" cy="32004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광고에 오염된 정보</a:t>
            </a:r>
            <a:endParaRPr lang="en-US" sz="1500" dirty="0"/>
          </a:p>
        </p:txBody>
      </p:sp>
      <p:sp>
        <p:nvSpPr>
          <p:cNvPr id="8" name="Text 5"/>
          <p:cNvSpPr/>
          <p:nvPr/>
        </p:nvSpPr>
        <p:spPr>
          <a:xfrm>
            <a:off x="75895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블로그 상위 노출은 협찬이 점령했다.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무엇이 진짜 후기인지 구분할 방법이 없다.</a:t>
            </a:r>
            <a:endParaRPr lang="en-US" sz="1100" dirty="0"/>
          </a:p>
        </p:txBody>
      </p:sp>
      <p:sp>
        <p:nvSpPr>
          <p:cNvPr id="9" name="Shape 6"/>
          <p:cNvSpPr/>
          <p:nvPr/>
        </p:nvSpPr>
        <p:spPr>
          <a:xfrm>
            <a:off x="708848" y="3584448"/>
            <a:ext cx="2135938"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806050" y="3639312"/>
            <a:ext cx="202621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1,064</a:t>
            </a:r>
            <a:r>
              <a:rPr lang="ko-KR" altLang="en-US" sz="1700" b="1" dirty="0">
                <a:solidFill>
                  <a:srgbClr val="0F5257"/>
                </a:solidFill>
                <a:latin typeface="맑은 고딕" pitchFamily="34" charset="0"/>
                <a:ea typeface="맑은 고딕" pitchFamily="34" charset="-122"/>
                <a:cs typeface="맑은 고딕" pitchFamily="34" charset="-120"/>
              </a:rPr>
              <a:t>곳</a:t>
            </a:r>
            <a:r>
              <a:rPr lang="ko-KR" altLang="en-US" sz="900" b="1" dirty="0">
                <a:solidFill>
                  <a:srgbClr val="0F5257"/>
                </a:solidFill>
                <a:latin typeface="맑은 고딕" pitchFamily="34" charset="0"/>
                <a:ea typeface="맑은 고딕" pitchFamily="34" charset="-122"/>
                <a:cs typeface="맑은 고딕" pitchFamily="34" charset="-120"/>
              </a:rPr>
              <a:t>　</a:t>
            </a:r>
            <a:r>
              <a:rPr lang="ko-KR" altLang="en-US" sz="1700" b="1" dirty="0" err="1">
                <a:solidFill>
                  <a:srgbClr val="0F5257"/>
                </a:solidFill>
                <a:latin typeface="맑은 고딕" pitchFamily="34" charset="0"/>
                <a:ea typeface="맑은 고딕" pitchFamily="34" charset="-122"/>
                <a:cs typeface="맑은 고딕" pitchFamily="34" charset="-120"/>
              </a:rPr>
              <a:t>ｉｎ</a:t>
            </a:r>
            <a:r>
              <a:rPr lang="ko-KR" altLang="en-US" sz="1000" b="1" dirty="0">
                <a:solidFill>
                  <a:srgbClr val="0F5257"/>
                </a:solidFill>
                <a:latin typeface="맑은 고딕" pitchFamily="34" charset="0"/>
                <a:ea typeface="맑은 고딕" pitchFamily="34" charset="-122"/>
                <a:cs typeface="맑은 고딕" pitchFamily="34" charset="-120"/>
              </a:rPr>
              <a:t>　</a:t>
            </a:r>
            <a:r>
              <a:rPr lang="ko-KR" altLang="en-US" sz="1700" b="1" dirty="0">
                <a:solidFill>
                  <a:srgbClr val="0F5257"/>
                </a:solidFill>
                <a:latin typeface="맑은 고딕" pitchFamily="34" charset="0"/>
                <a:ea typeface="맑은 고딕" pitchFamily="34" charset="-122"/>
                <a:cs typeface="맑은 고딕" pitchFamily="34" charset="-120"/>
              </a:rPr>
              <a:t>제주</a:t>
            </a:r>
            <a:endParaRPr lang="en-US" sz="1700" dirty="0"/>
          </a:p>
        </p:txBody>
      </p:sp>
      <p:sp>
        <p:nvSpPr>
          <p:cNvPr id="11" name="Text 8"/>
          <p:cNvSpPr/>
          <p:nvPr/>
        </p:nvSpPr>
        <p:spPr>
          <a:xfrm>
            <a:off x="780998" y="3959853"/>
            <a:ext cx="2048256"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카페는　</a:t>
            </a:r>
            <a:r>
              <a:rPr lang="ko-KR" altLang="en-US" sz="900">
                <a:solidFill>
                  <a:srgbClr val="5F7175"/>
                </a:solidFill>
                <a:latin typeface="맑은 고딕" pitchFamily="34" charset="0"/>
                <a:ea typeface="맑은 고딕" pitchFamily="34" charset="-122"/>
                <a:cs typeface="맑은 고딕" pitchFamily="34" charset="-120"/>
              </a:rPr>
              <a:t>많지만　찐　맛집은　</a:t>
            </a:r>
            <a:r>
              <a:rPr lang="ko-KR" altLang="en-US" sz="900" dirty="0">
                <a:solidFill>
                  <a:srgbClr val="5F7175"/>
                </a:solidFill>
                <a:latin typeface="맑은 고딕" pitchFamily="34" charset="0"/>
                <a:ea typeface="맑은 고딕" pitchFamily="34" charset="-122"/>
                <a:cs typeface="맑은 고딕" pitchFamily="34" charset="-120"/>
              </a:rPr>
              <a:t>어디에？</a:t>
            </a:r>
            <a:endParaRPr lang="en-US" sz="900" dirty="0"/>
          </a:p>
        </p:txBody>
      </p:sp>
      <p:sp>
        <p:nvSpPr>
          <p:cNvPr id="12" name="Shape 9"/>
          <p:cNvSpPr/>
          <p:nvPr/>
        </p:nvSpPr>
        <p:spPr>
          <a:xfrm>
            <a:off x="329184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Shape 10"/>
          <p:cNvSpPr/>
          <p:nvPr/>
        </p:nvSpPr>
        <p:spPr>
          <a:xfrm>
            <a:off x="354787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14"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3695273" y="1720169"/>
            <a:ext cx="272125" cy="272125"/>
          </a:xfrm>
          <a:prstGeom prst="rect">
            <a:avLst/>
          </a:prstGeom>
        </p:spPr>
      </p:pic>
      <p:sp>
        <p:nvSpPr>
          <p:cNvPr id="15" name="Text 11"/>
          <p:cNvSpPr/>
          <p:nvPr/>
        </p:nvSpPr>
        <p:spPr>
          <a:xfrm>
            <a:off x="354787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끊임없는　정보　변동</a:t>
            </a:r>
            <a:endParaRPr lang="en-US" sz="1500" dirty="0"/>
          </a:p>
        </p:txBody>
      </p:sp>
      <p:sp>
        <p:nvSpPr>
          <p:cNvPr id="16" name="Text 12"/>
          <p:cNvSpPr/>
          <p:nvPr/>
        </p:nvSpPr>
        <p:spPr>
          <a:xfrm>
            <a:off x="354787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폐업·이전·이름 변형이 계속된다.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추천받은 카페가 이미 없을 수 있다.</a:t>
            </a:r>
            <a:endParaRPr lang="en-US" sz="1100" dirty="0"/>
          </a:p>
        </p:txBody>
      </p:sp>
      <p:sp>
        <p:nvSpPr>
          <p:cNvPr id="17" name="Shape 13"/>
          <p:cNvSpPr/>
          <p:nvPr/>
        </p:nvSpPr>
        <p:spPr>
          <a:xfrm>
            <a:off x="3547872" y="3584448"/>
            <a:ext cx="2103120"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8" name="Text 14"/>
          <p:cNvSpPr/>
          <p:nvPr/>
        </p:nvSpPr>
        <p:spPr>
          <a:xfrm>
            <a:off x="3657600" y="3639312"/>
            <a:ext cx="182880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122그룹</a:t>
            </a:r>
            <a:endParaRPr lang="en-US" sz="1700" dirty="0"/>
          </a:p>
        </p:txBody>
      </p:sp>
      <p:sp>
        <p:nvSpPr>
          <p:cNvPr id="19" name="Text 15"/>
          <p:cNvSpPr/>
          <p:nvPr/>
        </p:nvSpPr>
        <p:spPr>
          <a:xfrm>
            <a:off x="3657600" y="3972379"/>
            <a:ext cx="1828800" cy="256032"/>
          </a:xfrm>
          <a:prstGeom prst="rect">
            <a:avLst/>
          </a:prstGeom>
          <a:noFill/>
          <a:ln/>
        </p:spPr>
        <p:txBody>
          <a:bodyPr wrap="square" lIns="0" tIns="0" rIns="0" bIns="0" rtlCol="0" anchor="ctr"/>
          <a:lstStyle/>
          <a:p>
            <a:pPr marL="0" indent="0">
              <a:buNone/>
            </a:pPr>
            <a:r>
              <a:rPr lang="en-US" sz="900" dirty="0">
                <a:solidFill>
                  <a:srgbClr val="5F7175"/>
                </a:solidFill>
                <a:latin typeface="맑은 고딕" pitchFamily="34" charset="0"/>
                <a:ea typeface="맑은 고딕" pitchFamily="34" charset="-122"/>
                <a:cs typeface="맑은 고딕" pitchFamily="34" charset="-120"/>
              </a:rPr>
              <a:t>동일 카페 중복 등록</a:t>
            </a:r>
            <a:endParaRPr lang="en-US" sz="900" dirty="0"/>
          </a:p>
        </p:txBody>
      </p:sp>
      <p:sp>
        <p:nvSpPr>
          <p:cNvPr id="20" name="Shape 16"/>
          <p:cNvSpPr/>
          <p:nvPr/>
        </p:nvSpPr>
        <p:spPr>
          <a:xfrm>
            <a:off x="608076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633679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484193" y="1720169"/>
            <a:ext cx="272125" cy="272125"/>
          </a:xfrm>
          <a:prstGeom prst="rect">
            <a:avLst/>
          </a:prstGeom>
        </p:spPr>
      </p:pic>
      <p:sp>
        <p:nvSpPr>
          <p:cNvPr id="23" name="Text 18"/>
          <p:cNvSpPr/>
          <p:nvPr/>
        </p:nvSpPr>
        <p:spPr>
          <a:xfrm>
            <a:off x="633679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채널별　분산된　정보</a:t>
            </a:r>
            <a:endParaRPr lang="en-US" sz="1500" dirty="0"/>
          </a:p>
        </p:txBody>
      </p:sp>
      <p:sp>
        <p:nvSpPr>
          <p:cNvPr id="24" name="Text 19"/>
          <p:cNvSpPr/>
          <p:nvPr/>
        </p:nvSpPr>
        <p:spPr>
          <a:xfrm>
            <a:off x="6336792" y="2670048"/>
            <a:ext cx="2103120" cy="777240"/>
          </a:xfrm>
          <a:prstGeom prst="rect">
            <a:avLst/>
          </a:prstGeom>
          <a:noFill/>
          <a:ln/>
        </p:spPr>
        <p:txBody>
          <a:bodyPr wrap="square" lIns="0" tIns="0" rIns="0" bIns="0" rtlCol="0" anchor="ctr"/>
          <a:lstStyle/>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유튜브　＋　카카오＋　네이버</a:t>
            </a:r>
            <a:endParaRPr lang="en-US" altLang="ko-KR" sz="1100" dirty="0">
              <a:solidFill>
                <a:srgbClr val="5F7175"/>
              </a:solidFill>
              <a:latin typeface="맑은 고딕" pitchFamily="34" charset="0"/>
              <a:ea typeface="맑은 고딕" pitchFamily="34" charset="-122"/>
              <a:cs typeface="맑은 고딕" pitchFamily="34" charset="-120"/>
            </a:endParaRPr>
          </a:p>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구슬은　</a:t>
            </a:r>
            <a:r>
              <a:rPr lang="ko-KR" altLang="en-US" sz="1100" dirty="0" err="1">
                <a:solidFill>
                  <a:srgbClr val="5F7175"/>
                </a:solidFill>
                <a:latin typeface="맑은 고딕" pitchFamily="34" charset="0"/>
                <a:ea typeface="맑은 고딕" pitchFamily="34" charset="-122"/>
                <a:cs typeface="맑은 고딕" pitchFamily="34" charset="-120"/>
              </a:rPr>
              <a:t>서말인데</a:t>
            </a:r>
            <a:r>
              <a:rPr lang="ko-KR" altLang="en-US" sz="1100" dirty="0">
                <a:solidFill>
                  <a:srgbClr val="5F7175"/>
                </a:solidFill>
                <a:latin typeface="맑은 고딕" pitchFamily="34" charset="0"/>
                <a:ea typeface="맑은 고딕" pitchFamily="34" charset="-122"/>
                <a:cs typeface="맑은 고딕" pitchFamily="34" charset="-120"/>
              </a:rPr>
              <a:t>　이거　</a:t>
            </a:r>
            <a:r>
              <a:rPr lang="ko-KR" altLang="en-US" sz="1100" dirty="0" err="1">
                <a:solidFill>
                  <a:srgbClr val="5F7175"/>
                </a:solidFill>
                <a:latin typeface="맑은 고딕" pitchFamily="34" charset="0"/>
                <a:ea typeface="맑은 고딕" pitchFamily="34" charset="-122"/>
                <a:cs typeface="맑은 고딕" pitchFamily="34" charset="-120"/>
              </a:rPr>
              <a:t>꿰다간</a:t>
            </a:r>
            <a:r>
              <a:rPr lang="ko-KR" altLang="en-US" sz="1100" dirty="0">
                <a:solidFill>
                  <a:srgbClr val="5F7175"/>
                </a:solidFill>
                <a:latin typeface="맑은 고딕" pitchFamily="34" charset="0"/>
                <a:ea typeface="맑은 고딕" pitchFamily="34" charset="-122"/>
                <a:cs typeface="맑은 고딕" pitchFamily="34" charset="-120"/>
              </a:rPr>
              <a:t>　여행은　대체　언제？</a:t>
            </a:r>
            <a:endParaRPr lang="en-US" sz="1100" dirty="0"/>
          </a:p>
        </p:txBody>
      </p:sp>
      <p:sp>
        <p:nvSpPr>
          <p:cNvPr id="25" name="Shape 20"/>
          <p:cNvSpPr/>
          <p:nvPr/>
        </p:nvSpPr>
        <p:spPr>
          <a:xfrm>
            <a:off x="6336792" y="3584448"/>
            <a:ext cx="2048256"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26" name="Text 21"/>
          <p:cNvSpPr/>
          <p:nvPr/>
        </p:nvSpPr>
        <p:spPr>
          <a:xfrm>
            <a:off x="6446520" y="3639312"/>
            <a:ext cx="1828800" cy="320040"/>
          </a:xfrm>
          <a:prstGeom prst="rect">
            <a:avLst/>
          </a:prstGeom>
          <a:noFill/>
          <a:ln/>
        </p:spPr>
        <p:txBody>
          <a:bodyPr wrap="square" lIns="0" tIns="0" rIns="0" bIns="0" rtlCol="0" anchor="ctr"/>
          <a:lstStyle/>
          <a:p>
            <a:pPr marL="0" indent="0">
              <a:buNone/>
            </a:pPr>
            <a:r>
              <a:rPr lang="ko-KR" altLang="en-US" sz="1700" b="1" dirty="0">
                <a:solidFill>
                  <a:srgbClr val="0F5257"/>
                </a:solidFill>
                <a:latin typeface="맑은 고딕" pitchFamily="34" charset="0"/>
                <a:ea typeface="맑은 고딕" pitchFamily="34" charset="-122"/>
                <a:cs typeface="맑은 고딕" pitchFamily="34" charset="-120"/>
              </a:rPr>
              <a:t>최소　１５분</a:t>
            </a:r>
            <a:endParaRPr lang="en-US" sz="1700" dirty="0"/>
          </a:p>
        </p:txBody>
      </p:sp>
      <p:sp>
        <p:nvSpPr>
          <p:cNvPr id="27" name="Text 22"/>
          <p:cNvSpPr/>
          <p:nvPr/>
        </p:nvSpPr>
        <p:spPr>
          <a:xfrm>
            <a:off x="6433994" y="3984905"/>
            <a:ext cx="1828800"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　정보　탐색과　교차　검증에</a:t>
            </a:r>
            <a:endParaRPr lang="en-US" altLang="ko-KR" sz="900" dirty="0">
              <a:solidFill>
                <a:srgbClr val="5F7175"/>
              </a:solidFill>
              <a:latin typeface="맑은 고딕" pitchFamily="34" charset="0"/>
              <a:ea typeface="맑은 고딕" pitchFamily="34" charset="-122"/>
              <a:cs typeface="맑은 고딕" pitchFamily="34" charset="-120"/>
            </a:endParaRPr>
          </a:p>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시간과　토큰이　녹는다　</a:t>
            </a:r>
            <a:endParaRPr lang="en-US" sz="900" dirty="0"/>
          </a:p>
        </p:txBody>
      </p:sp>
      <p:sp>
        <p:nvSpPr>
          <p:cNvPr id="28"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4351-4970-BA5E-7124-8CAF8BE462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E266CD-3EDC-AB78-BE24-DD8F47A97AE7}"/>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SOLUTION</a:t>
            </a:r>
            <a:endParaRPr lang="en-US" sz="1100" dirty="0"/>
          </a:p>
        </p:txBody>
      </p:sp>
      <p:sp>
        <p:nvSpPr>
          <p:cNvPr id="3" name="Text 1">
            <a:extLst>
              <a:ext uri="{FF2B5EF4-FFF2-40B4-BE49-F238E27FC236}">
                <a16:creationId xmlns:a16="http://schemas.microsoft.com/office/drawing/2014/main" id="{A0F057E4-D885-9D7F-B512-AA8A96CEC85E}"/>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묻고, 고르고, 원문으로 증명한다</a:t>
            </a:r>
            <a:endParaRPr lang="en-US" sz="2700" dirty="0"/>
          </a:p>
        </p:txBody>
      </p:sp>
      <p:sp>
        <p:nvSpPr>
          <p:cNvPr id="4" name="Shape 2">
            <a:extLst>
              <a:ext uri="{FF2B5EF4-FFF2-40B4-BE49-F238E27FC236}">
                <a16:creationId xmlns:a16="http://schemas.microsoft.com/office/drawing/2014/main" id="{5C62B692-4BB0-F050-DCA9-E214ABD652D0}"/>
              </a:ext>
            </a:extLst>
          </p:cNvPr>
          <p:cNvSpPr/>
          <p:nvPr/>
        </p:nvSpPr>
        <p:spPr>
          <a:xfrm>
            <a:off x="502920" y="1298448"/>
            <a:ext cx="3931920" cy="566928"/>
          </a:xfrm>
          <a:prstGeom prst="roundRect">
            <a:avLst>
              <a:gd name="adj" fmla="val 50000"/>
            </a:avLst>
          </a:prstGeom>
          <a:solidFill>
            <a:srgbClr val="E7F3F1"/>
          </a:solidFill>
          <a:ln w="9525">
            <a:solidFill>
              <a:srgbClr val="C7E1DC"/>
            </a:solidFill>
            <a:prstDash val="solid"/>
          </a:ln>
        </p:spPr>
        <p:txBody>
          <a:bodyPr/>
          <a:lstStyle/>
          <a:p>
            <a:endParaRPr lang="ko-KR" altLang="en-US"/>
          </a:p>
        </p:txBody>
      </p:sp>
      <p:sp>
        <p:nvSpPr>
          <p:cNvPr id="5" name="Shape 3">
            <a:extLst>
              <a:ext uri="{FF2B5EF4-FFF2-40B4-BE49-F238E27FC236}">
                <a16:creationId xmlns:a16="http://schemas.microsoft.com/office/drawing/2014/main" id="{4ACEDC9F-89EC-9B0C-A6BE-0D18025A7FE4}"/>
              </a:ext>
            </a:extLst>
          </p:cNvPr>
          <p:cNvSpPr/>
          <p:nvPr/>
        </p:nvSpPr>
        <p:spPr>
          <a:xfrm>
            <a:off x="621792" y="1417320"/>
            <a:ext cx="329184" cy="329184"/>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a:extLst>
              <a:ext uri="{FF2B5EF4-FFF2-40B4-BE49-F238E27FC236}">
                <a16:creationId xmlns:a16="http://schemas.microsoft.com/office/drawing/2014/main" id="{69A6BCCA-4849-4144-C577-933B5438015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07380" y="1502908"/>
            <a:ext cx="158008" cy="158008"/>
          </a:xfrm>
          <a:prstGeom prst="rect">
            <a:avLst/>
          </a:prstGeom>
        </p:spPr>
      </p:pic>
      <p:sp>
        <p:nvSpPr>
          <p:cNvPr id="7" name="Text 4">
            <a:extLst>
              <a:ext uri="{FF2B5EF4-FFF2-40B4-BE49-F238E27FC236}">
                <a16:creationId xmlns:a16="http://schemas.microsoft.com/office/drawing/2014/main" id="{7510BFF5-802D-6564-F5B3-8034652F90DA}"/>
              </a:ext>
            </a:extLst>
          </p:cNvPr>
          <p:cNvSpPr/>
          <p:nvPr/>
        </p:nvSpPr>
        <p:spPr>
          <a:xfrm>
            <a:off x="1051560" y="1298448"/>
            <a:ext cx="3291840" cy="566928"/>
          </a:xfrm>
          <a:prstGeom prst="rect">
            <a:avLst/>
          </a:prstGeom>
          <a:noFill/>
          <a:ln/>
        </p:spPr>
        <p:txBody>
          <a:bodyPr wrap="square" lIns="0" tIns="0" rIns="0" bIns="0" rtlCol="0" anchor="ctr"/>
          <a:lstStyle/>
          <a:p>
            <a:pPr marL="0" indent="0">
              <a:buNone/>
            </a:pPr>
            <a:r>
              <a:rPr lang="en-US" sz="1200" b="1" dirty="0">
                <a:solidFill>
                  <a:srgbClr val="0F5257"/>
                </a:solidFill>
                <a:latin typeface="맑은 고딕" pitchFamily="34" charset="0"/>
                <a:ea typeface="맑은 고딕" pitchFamily="34" charset="-122"/>
                <a:cs typeface="맑은 고딕" pitchFamily="34" charset="-120"/>
              </a:rPr>
              <a:t>“애월에서 노을 보기 좋은 조용한 카페”</a:t>
            </a:r>
            <a:endParaRPr lang="en-US" sz="1200" dirty="0"/>
          </a:p>
        </p:txBody>
      </p:sp>
      <p:sp>
        <p:nvSpPr>
          <p:cNvPr id="8" name="Text 5">
            <a:extLst>
              <a:ext uri="{FF2B5EF4-FFF2-40B4-BE49-F238E27FC236}">
                <a16:creationId xmlns:a16="http://schemas.microsoft.com/office/drawing/2014/main" id="{46B85E86-2675-D776-61EC-BE3744D56F3B}"/>
              </a:ext>
            </a:extLst>
          </p:cNvPr>
          <p:cNvSpPr/>
          <p:nvPr/>
        </p:nvSpPr>
        <p:spPr>
          <a:xfrm>
            <a:off x="502920" y="2011680"/>
            <a:ext cx="4023360" cy="777240"/>
          </a:xfrm>
          <a:prstGeom prst="rect">
            <a:avLst/>
          </a:prstGeom>
          <a:noFill/>
          <a:ln/>
        </p:spPr>
        <p:txBody>
          <a:bodyPr wrap="square" lIns="0" tIns="0" rIns="0" bIns="0" rtlCol="0" anchor="ctr"/>
          <a:lstStyle/>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실제로 그 조건에 맞는 카페를 고르고, </a:t>
            </a:r>
            <a:r>
              <a:rPr lang="en-US" sz="1250" b="1" dirty="0">
                <a:solidFill>
                  <a:srgbClr val="E8842B"/>
                </a:solidFill>
                <a:latin typeface="맑은 고딕" pitchFamily="34" charset="0"/>
                <a:ea typeface="맑은 고딕" pitchFamily="34" charset="-122"/>
                <a:cs typeface="맑은 고딕" pitchFamily="34" charset="-120"/>
              </a:rPr>
              <a:t>왜 그 카페인지</a:t>
            </a:r>
            <a:r>
              <a:rPr lang="en-US" sz="1250" dirty="0">
                <a:solidFill>
                  <a:srgbClr val="5F7175"/>
                </a:solidFill>
                <a:latin typeface="맑은 고딕" pitchFamily="34" charset="0"/>
                <a:ea typeface="맑은 고딕" pitchFamily="34" charset="-122"/>
                <a:cs typeface="맑은 고딕" pitchFamily="34" charset="-120"/>
              </a:rPr>
              <a:t>를</a:t>
            </a:r>
            <a:endParaRPr lang="en-US" sz="1250" dirty="0"/>
          </a:p>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유튜브 댓글 · 네이버 블로그 · 카카오 리뷰의 </a:t>
            </a:r>
            <a:endParaRPr lang="en-US" sz="1250" dirty="0"/>
          </a:p>
          <a:p>
            <a:pPr marL="0" indent="0">
              <a:lnSpc>
                <a:spcPts val="2200"/>
              </a:lnSpc>
              <a:buNone/>
            </a:pPr>
            <a:r>
              <a:rPr lang="en-US" sz="1250" b="1" dirty="0">
                <a:solidFill>
                  <a:srgbClr val="168A7E"/>
                </a:solidFill>
                <a:latin typeface="맑은 고딕" pitchFamily="34" charset="0"/>
                <a:ea typeface="맑은 고딕" pitchFamily="34" charset="-122"/>
                <a:cs typeface="맑은 고딕" pitchFamily="34" charset="-120"/>
              </a:rPr>
              <a:t>원문 인용</a:t>
            </a:r>
            <a:r>
              <a:rPr lang="en-US" sz="1250" dirty="0">
                <a:solidFill>
                  <a:srgbClr val="5F7175"/>
                </a:solidFill>
                <a:latin typeface="맑은 고딕" pitchFamily="34" charset="0"/>
                <a:ea typeface="맑은 고딕" pitchFamily="34" charset="-122"/>
                <a:cs typeface="맑은 고딕" pitchFamily="34" charset="-120"/>
              </a:rPr>
              <a:t>으로 증명합니다.</a:t>
            </a:r>
            <a:endParaRPr lang="en-US" sz="1250" dirty="0"/>
          </a:p>
        </p:txBody>
      </p:sp>
      <p:pic>
        <p:nvPicPr>
          <p:cNvPr id="9" name="Image 1" descr="preencoded.png">
            <a:extLst>
              <a:ext uri="{FF2B5EF4-FFF2-40B4-BE49-F238E27FC236}">
                <a16:creationId xmlns:a16="http://schemas.microsoft.com/office/drawing/2014/main" id="{77A1B8D0-B43B-4F33-9BC7-9BE0E1039C2E}"/>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019715"/>
            <a:ext cx="105339" cy="105339"/>
          </a:xfrm>
          <a:prstGeom prst="rect">
            <a:avLst/>
          </a:prstGeom>
        </p:spPr>
      </p:pic>
      <p:sp>
        <p:nvSpPr>
          <p:cNvPr id="10" name="Text 6">
            <a:extLst>
              <a:ext uri="{FF2B5EF4-FFF2-40B4-BE49-F238E27FC236}">
                <a16:creationId xmlns:a16="http://schemas.microsoft.com/office/drawing/2014/main" id="{7DBED418-609A-F78A-067A-8EB1DCB8635B}"/>
              </a:ext>
            </a:extLst>
          </p:cNvPr>
          <p:cNvSpPr/>
          <p:nvPr/>
        </p:nvSpPr>
        <p:spPr>
          <a:xfrm>
            <a:off x="841248" y="2926080"/>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좋은 말만 고르지 않는다 — 아쉬운 점을 나란히 표시</a:t>
            </a:r>
            <a:endParaRPr lang="en-US" sz="1100" dirty="0"/>
          </a:p>
        </p:txBody>
      </p:sp>
      <p:pic>
        <p:nvPicPr>
          <p:cNvPr id="11" name="Image 2" descr="preencoded.png">
            <a:extLst>
              <a:ext uri="{FF2B5EF4-FFF2-40B4-BE49-F238E27FC236}">
                <a16:creationId xmlns:a16="http://schemas.microsoft.com/office/drawing/2014/main" id="{7C5B6309-4110-186B-54D4-2154D8E37A6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403763"/>
            <a:ext cx="105339" cy="105339"/>
          </a:xfrm>
          <a:prstGeom prst="rect">
            <a:avLst/>
          </a:prstGeom>
        </p:spPr>
      </p:pic>
      <p:sp>
        <p:nvSpPr>
          <p:cNvPr id="12" name="Text 7">
            <a:extLst>
              <a:ext uri="{FF2B5EF4-FFF2-40B4-BE49-F238E27FC236}">
                <a16:creationId xmlns:a16="http://schemas.microsoft.com/office/drawing/2014/main" id="{F476DCD8-7A87-EF1F-DD86-72309C2287AB}"/>
              </a:ext>
            </a:extLst>
          </p:cNvPr>
          <p:cNvSpPr/>
          <p:nvPr/>
        </p:nvSpPr>
        <p:spPr>
          <a:xfrm>
            <a:off x="841248" y="3310128"/>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지어낸 인용은 구조적으로 불가능 (코드가 원문 대조)</a:t>
            </a:r>
            <a:endParaRPr lang="en-US" sz="1100" dirty="0"/>
          </a:p>
        </p:txBody>
      </p:sp>
      <p:pic>
        <p:nvPicPr>
          <p:cNvPr id="13" name="Image 3" descr="preencoded.png">
            <a:extLst>
              <a:ext uri="{FF2B5EF4-FFF2-40B4-BE49-F238E27FC236}">
                <a16:creationId xmlns:a16="http://schemas.microsoft.com/office/drawing/2014/main" id="{C423698F-461F-3C77-690A-9761399A687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787811"/>
            <a:ext cx="105339" cy="105339"/>
          </a:xfrm>
          <a:prstGeom prst="rect">
            <a:avLst/>
          </a:prstGeom>
        </p:spPr>
      </p:pic>
      <p:sp>
        <p:nvSpPr>
          <p:cNvPr id="14" name="Text 8">
            <a:extLst>
              <a:ext uri="{FF2B5EF4-FFF2-40B4-BE49-F238E27FC236}">
                <a16:creationId xmlns:a16="http://schemas.microsoft.com/office/drawing/2014/main" id="{AB46F672-7D22-2FAB-5BF9-372CD759BE78}"/>
              </a:ext>
            </a:extLst>
          </p:cNvPr>
          <p:cNvSpPr/>
          <p:nvPr/>
        </p:nvSpPr>
        <p:spPr>
          <a:xfrm>
            <a:off x="841248" y="3694176"/>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맞는 카페가 없으면 없다고 말한다 (정직한 실패)</a:t>
            </a:r>
            <a:endParaRPr lang="en-US" sz="1100" dirty="0"/>
          </a:p>
        </p:txBody>
      </p:sp>
      <p:sp>
        <p:nvSpPr>
          <p:cNvPr id="15" name="Shape 9">
            <a:extLst>
              <a:ext uri="{FF2B5EF4-FFF2-40B4-BE49-F238E27FC236}">
                <a16:creationId xmlns:a16="http://schemas.microsoft.com/office/drawing/2014/main" id="{A5AB7521-DB4D-3F1C-F40D-1EF84D6D8C3E}"/>
              </a:ext>
            </a:extLst>
          </p:cNvPr>
          <p:cNvSpPr/>
          <p:nvPr/>
        </p:nvSpPr>
        <p:spPr>
          <a:xfrm>
            <a:off x="4892040" y="1234440"/>
            <a:ext cx="3749040" cy="3310128"/>
          </a:xfrm>
          <a:prstGeom prst="roundRect">
            <a:avLst>
              <a:gd name="adj" fmla="val 3867"/>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0">
            <a:extLst>
              <a:ext uri="{FF2B5EF4-FFF2-40B4-BE49-F238E27FC236}">
                <a16:creationId xmlns:a16="http://schemas.microsoft.com/office/drawing/2014/main" id="{AA6177DD-F4F0-A2AB-F5EA-A1A73AC5BFCA}"/>
              </a:ext>
            </a:extLst>
          </p:cNvPr>
          <p:cNvSpPr/>
          <p:nvPr/>
        </p:nvSpPr>
        <p:spPr>
          <a:xfrm>
            <a:off x="5074920" y="1417320"/>
            <a:ext cx="3383280" cy="822960"/>
          </a:xfrm>
          <a:prstGeom prst="roundRect">
            <a:avLst>
              <a:gd name="adj" fmla="val 11111"/>
            </a:avLst>
          </a:prstGeom>
          <a:solidFill>
            <a:srgbClr val="E7F3F1"/>
          </a:solidFill>
          <a:ln w="12700">
            <a:solidFill>
              <a:srgbClr val="333333"/>
            </a:solidFill>
            <a:prstDash val="solid"/>
          </a:ln>
        </p:spPr>
        <p:txBody>
          <a:bodyPr/>
          <a:lstStyle/>
          <a:p>
            <a:endParaRPr lang="ko-KR" altLang="en-US"/>
          </a:p>
        </p:txBody>
      </p:sp>
      <p:sp>
        <p:nvSpPr>
          <p:cNvPr id="17" name="Text 11">
            <a:extLst>
              <a:ext uri="{FF2B5EF4-FFF2-40B4-BE49-F238E27FC236}">
                <a16:creationId xmlns:a16="http://schemas.microsoft.com/office/drawing/2014/main" id="{44161395-DE57-E3BC-18A9-DEDC6BCF3FBC}"/>
              </a:ext>
            </a:extLst>
          </p:cNvPr>
          <p:cNvSpPr/>
          <p:nvPr/>
        </p:nvSpPr>
        <p:spPr>
          <a:xfrm>
            <a:off x="5212080" y="1463040"/>
            <a:ext cx="2011680" cy="36576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바다다</a:t>
            </a:r>
            <a:endParaRPr lang="en-US" sz="1500" dirty="0"/>
          </a:p>
        </p:txBody>
      </p:sp>
      <p:sp>
        <p:nvSpPr>
          <p:cNvPr id="18" name="Text 12">
            <a:extLst>
              <a:ext uri="{FF2B5EF4-FFF2-40B4-BE49-F238E27FC236}">
                <a16:creationId xmlns:a16="http://schemas.microsoft.com/office/drawing/2014/main" id="{0AD8DD3B-269E-37C9-AEE2-50EADC74559E}"/>
              </a:ext>
            </a:extLst>
          </p:cNvPr>
          <p:cNvSpPr/>
          <p:nvPr/>
        </p:nvSpPr>
        <p:spPr>
          <a:xfrm>
            <a:off x="5212080" y="1810512"/>
            <a:ext cx="2194560" cy="274320"/>
          </a:xfrm>
          <a:prstGeom prst="rect">
            <a:avLst/>
          </a:prstGeom>
          <a:noFill/>
          <a:ln/>
        </p:spPr>
        <p:txBody>
          <a:bodyPr wrap="square" lIns="0" tIns="0" rIns="0" bIns="0" rtlCol="0" anchor="ctr"/>
          <a:lstStyle/>
          <a:p>
            <a:pPr marL="0" indent="0">
              <a:buNone/>
            </a:pPr>
            <a:r>
              <a:rPr lang="en-US" sz="1000" dirty="0">
                <a:solidFill>
                  <a:srgbClr val="5F7175"/>
                </a:solidFill>
                <a:latin typeface="맑은 고딕" pitchFamily="34" charset="0"/>
                <a:ea typeface="맑은 고딕" pitchFamily="34" charset="-122"/>
                <a:cs typeface="맑은 고딕" pitchFamily="34" charset="-120"/>
              </a:rPr>
              <a:t>애월 · 오션뷰 · 노을</a:t>
            </a:r>
            <a:endParaRPr lang="en-US" sz="1000" dirty="0"/>
          </a:p>
        </p:txBody>
      </p:sp>
      <p:pic>
        <p:nvPicPr>
          <p:cNvPr id="19" name="Image 4" descr="preencoded.png">
            <a:extLst>
              <a:ext uri="{FF2B5EF4-FFF2-40B4-BE49-F238E27FC236}">
                <a16:creationId xmlns:a16="http://schemas.microsoft.com/office/drawing/2014/main" id="{31871FDC-EAE4-F6A5-F955-5A554D7C1EC0}"/>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751552" y="1588496"/>
            <a:ext cx="96561" cy="96561"/>
          </a:xfrm>
          <a:prstGeom prst="rect">
            <a:avLst/>
          </a:prstGeom>
        </p:spPr>
      </p:pic>
      <p:sp>
        <p:nvSpPr>
          <p:cNvPr id="20" name="Text 13">
            <a:extLst>
              <a:ext uri="{FF2B5EF4-FFF2-40B4-BE49-F238E27FC236}">
                <a16:creationId xmlns:a16="http://schemas.microsoft.com/office/drawing/2014/main" id="{9739A7F0-8A1C-4989-0EE0-6ACBF34FF20C}"/>
              </a:ext>
            </a:extLst>
          </p:cNvPr>
          <p:cNvSpPr/>
          <p:nvPr/>
        </p:nvSpPr>
        <p:spPr>
          <a:xfrm>
            <a:off x="6720840" y="1828800"/>
            <a:ext cx="1600200" cy="256032"/>
          </a:xfrm>
          <a:prstGeom prst="rect">
            <a:avLst/>
          </a:prstGeom>
          <a:noFill/>
          <a:ln/>
        </p:spPr>
        <p:txBody>
          <a:bodyPr wrap="square" lIns="0" tIns="0" rIns="0" bIns="0" rtlCol="0" anchor="ctr"/>
          <a:lstStyle/>
          <a:p>
            <a:pPr marL="0" indent="0" algn="r">
              <a:buNone/>
            </a:pPr>
            <a:r>
              <a:rPr lang="en-US" sz="900" dirty="0">
                <a:solidFill>
                  <a:srgbClr val="5F7175"/>
                </a:solidFill>
                <a:latin typeface="맑은 고딕" pitchFamily="34" charset="0"/>
                <a:ea typeface="맑은 고딕" pitchFamily="34" charset="-122"/>
                <a:cs typeface="맑은 고딕" pitchFamily="34" charset="-120"/>
              </a:rPr>
              <a:t>4.3  ·  블로거 21명</a:t>
            </a:r>
            <a:endParaRPr lang="en-US" sz="900" dirty="0"/>
          </a:p>
        </p:txBody>
      </p:sp>
      <p:sp>
        <p:nvSpPr>
          <p:cNvPr id="21" name="Text 14">
            <a:extLst>
              <a:ext uri="{FF2B5EF4-FFF2-40B4-BE49-F238E27FC236}">
                <a16:creationId xmlns:a16="http://schemas.microsoft.com/office/drawing/2014/main" id="{992B1DBC-BD10-C369-431E-F2B3343B751C}"/>
              </a:ext>
            </a:extLst>
          </p:cNvPr>
          <p:cNvSpPr/>
          <p:nvPr/>
        </p:nvSpPr>
        <p:spPr>
          <a:xfrm>
            <a:off x="5074920" y="2359152"/>
            <a:ext cx="1828800" cy="237744"/>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좋았던 점</a:t>
            </a:r>
            <a:endParaRPr lang="en-US" sz="1000" dirty="0"/>
          </a:p>
        </p:txBody>
      </p:sp>
      <p:sp>
        <p:nvSpPr>
          <p:cNvPr id="22" name="Shape 15">
            <a:extLst>
              <a:ext uri="{FF2B5EF4-FFF2-40B4-BE49-F238E27FC236}">
                <a16:creationId xmlns:a16="http://schemas.microsoft.com/office/drawing/2014/main" id="{E823A411-B406-1FDC-9772-8EC3EC280056}"/>
              </a:ext>
            </a:extLst>
          </p:cNvPr>
          <p:cNvSpPr/>
          <p:nvPr/>
        </p:nvSpPr>
        <p:spPr>
          <a:xfrm>
            <a:off x="5074920" y="2615184"/>
            <a:ext cx="3383280" cy="566928"/>
          </a:xfrm>
          <a:prstGeom prst="roundRect">
            <a:avLst>
              <a:gd name="adj" fmla="val 12903"/>
            </a:avLst>
          </a:prstGeom>
          <a:solidFill>
            <a:srgbClr val="F4FAF9"/>
          </a:solidFill>
          <a:ln w="9525">
            <a:solidFill>
              <a:srgbClr val="DCE6E3"/>
            </a:solidFill>
            <a:prstDash val="solid"/>
          </a:ln>
        </p:spPr>
        <p:txBody>
          <a:bodyPr/>
          <a:lstStyle/>
          <a:p>
            <a:endParaRPr lang="ko-KR" altLang="en-US"/>
          </a:p>
        </p:txBody>
      </p:sp>
      <p:pic>
        <p:nvPicPr>
          <p:cNvPr id="23" name="Image 5" descr="preencoded.png">
            <a:extLst>
              <a:ext uri="{FF2B5EF4-FFF2-40B4-BE49-F238E27FC236}">
                <a16:creationId xmlns:a16="http://schemas.microsoft.com/office/drawing/2014/main" id="{97B4E0EA-95C8-A497-871F-66BAAFCDA6B8}"/>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5227808" y="2777216"/>
            <a:ext cx="96561" cy="96561"/>
          </a:xfrm>
          <a:prstGeom prst="rect">
            <a:avLst/>
          </a:prstGeom>
        </p:spPr>
      </p:pic>
      <p:sp>
        <p:nvSpPr>
          <p:cNvPr id="24" name="Text 16">
            <a:extLst>
              <a:ext uri="{FF2B5EF4-FFF2-40B4-BE49-F238E27FC236}">
                <a16:creationId xmlns:a16="http://schemas.microsoft.com/office/drawing/2014/main" id="{E77A566A-D436-CDCF-E597-34A0C23F5AD1}"/>
              </a:ext>
            </a:extLst>
          </p:cNvPr>
          <p:cNvSpPr/>
          <p:nvPr/>
        </p:nvSpPr>
        <p:spPr>
          <a:xfrm>
            <a:off x="5440680" y="2651760"/>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“창문 열면 바로 바다예요”</a:t>
            </a:r>
            <a:endParaRPr lang="en-US" sz="1050" dirty="0"/>
          </a:p>
        </p:txBody>
      </p:sp>
      <p:sp>
        <p:nvSpPr>
          <p:cNvPr id="25" name="Text 17">
            <a:extLst>
              <a:ext uri="{FF2B5EF4-FFF2-40B4-BE49-F238E27FC236}">
                <a16:creationId xmlns:a16="http://schemas.microsoft.com/office/drawing/2014/main" id="{3B0F4EA6-392A-841F-1BA6-5F65251165A4}"/>
              </a:ext>
            </a:extLst>
          </p:cNvPr>
          <p:cNvSpPr/>
          <p:nvPr/>
        </p:nvSpPr>
        <p:spPr>
          <a:xfrm>
            <a:off x="5440680" y="2889504"/>
            <a:ext cx="2926080" cy="219456"/>
          </a:xfrm>
          <a:prstGeom prst="rect">
            <a:avLst/>
          </a:prstGeom>
          <a:noFill/>
          <a:ln/>
        </p:spPr>
        <p:txBody>
          <a:bodyPr wrap="square" lIns="0" tIns="0" rIns="0" bIns="0" rtlCol="0" anchor="ctr"/>
          <a:lstStyle/>
          <a:p>
            <a:pPr marL="0" indent="0">
              <a:buNone/>
            </a:pPr>
            <a:r>
              <a:rPr lang="en-US" sz="850" dirty="0">
                <a:solidFill>
                  <a:srgbClr val="9AA9AC"/>
                </a:solidFill>
                <a:latin typeface="맑은 고딕" pitchFamily="34" charset="0"/>
                <a:ea typeface="맑은 고딕" pitchFamily="34" charset="-122"/>
                <a:cs typeface="맑은 고딕" pitchFamily="34" charset="-120"/>
              </a:rPr>
              <a:t>네이버 블로그 원문 인용</a:t>
            </a:r>
            <a:endParaRPr lang="en-US" sz="850" dirty="0"/>
          </a:p>
        </p:txBody>
      </p:sp>
      <p:sp>
        <p:nvSpPr>
          <p:cNvPr id="26" name="Text 18">
            <a:extLst>
              <a:ext uri="{FF2B5EF4-FFF2-40B4-BE49-F238E27FC236}">
                <a16:creationId xmlns:a16="http://schemas.microsoft.com/office/drawing/2014/main" id="{CD1D1907-0F39-A8F9-7365-356F7F289F22}"/>
              </a:ext>
            </a:extLst>
          </p:cNvPr>
          <p:cNvSpPr/>
          <p:nvPr/>
        </p:nvSpPr>
        <p:spPr>
          <a:xfrm>
            <a:off x="5074920" y="3255264"/>
            <a:ext cx="1828800" cy="237744"/>
          </a:xfrm>
          <a:prstGeom prst="rect">
            <a:avLst/>
          </a:prstGeom>
          <a:noFill/>
          <a:ln/>
        </p:spPr>
        <p:txBody>
          <a:bodyPr wrap="square" lIns="0" tIns="0" rIns="0" bIns="0" rtlCol="0" anchor="ctr"/>
          <a:lstStyle/>
          <a:p>
            <a:pPr marL="0" indent="0">
              <a:buNone/>
            </a:pPr>
            <a:r>
              <a:rPr lang="en-US" sz="1000" b="1" dirty="0">
                <a:solidFill>
                  <a:srgbClr val="E8842B"/>
                </a:solidFill>
                <a:latin typeface="맑은 고딕" pitchFamily="34" charset="0"/>
                <a:ea typeface="맑은 고딕" pitchFamily="34" charset="-122"/>
                <a:cs typeface="맑은 고딕" pitchFamily="34" charset="-120"/>
              </a:rPr>
              <a:t>아쉬운 점</a:t>
            </a:r>
            <a:endParaRPr lang="en-US" sz="1000" dirty="0"/>
          </a:p>
        </p:txBody>
      </p:sp>
      <p:sp>
        <p:nvSpPr>
          <p:cNvPr id="27" name="Shape 19">
            <a:extLst>
              <a:ext uri="{FF2B5EF4-FFF2-40B4-BE49-F238E27FC236}">
                <a16:creationId xmlns:a16="http://schemas.microsoft.com/office/drawing/2014/main" id="{477F1BD2-BCA4-81BA-A688-AC6D501E1E50}"/>
              </a:ext>
            </a:extLst>
          </p:cNvPr>
          <p:cNvSpPr/>
          <p:nvPr/>
        </p:nvSpPr>
        <p:spPr>
          <a:xfrm>
            <a:off x="5074920" y="3511296"/>
            <a:ext cx="3383280" cy="566928"/>
          </a:xfrm>
          <a:prstGeom prst="roundRect">
            <a:avLst>
              <a:gd name="adj" fmla="val 12903"/>
            </a:avLst>
          </a:prstGeom>
          <a:solidFill>
            <a:srgbClr val="FBEEE0"/>
          </a:solidFill>
          <a:ln w="9525">
            <a:solidFill>
              <a:srgbClr val="F0D9BF"/>
            </a:solidFill>
            <a:prstDash val="solid"/>
          </a:ln>
        </p:spPr>
        <p:txBody>
          <a:bodyPr/>
          <a:lstStyle/>
          <a:p>
            <a:endParaRPr lang="ko-KR" altLang="en-US"/>
          </a:p>
        </p:txBody>
      </p:sp>
      <p:pic>
        <p:nvPicPr>
          <p:cNvPr id="28" name="Image 6" descr="preencoded.png">
            <a:extLst>
              <a:ext uri="{FF2B5EF4-FFF2-40B4-BE49-F238E27FC236}">
                <a16:creationId xmlns:a16="http://schemas.microsoft.com/office/drawing/2014/main" id="{BE176938-579B-C5F6-5072-22F359F7949D}"/>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5227808" y="3673328"/>
            <a:ext cx="96561" cy="96561"/>
          </a:xfrm>
          <a:prstGeom prst="rect">
            <a:avLst/>
          </a:prstGeom>
        </p:spPr>
      </p:pic>
      <p:sp>
        <p:nvSpPr>
          <p:cNvPr id="29" name="Text 20">
            <a:extLst>
              <a:ext uri="{FF2B5EF4-FFF2-40B4-BE49-F238E27FC236}">
                <a16:creationId xmlns:a16="http://schemas.microsoft.com/office/drawing/2014/main" id="{15FF316D-CE1D-5074-7F4B-7133BECD0B4F}"/>
              </a:ext>
            </a:extLst>
          </p:cNvPr>
          <p:cNvSpPr/>
          <p:nvPr/>
        </p:nvSpPr>
        <p:spPr>
          <a:xfrm>
            <a:off x="5440680" y="3547872"/>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“주차 불편” — 3건 반복 언급</a:t>
            </a:r>
            <a:endParaRPr lang="en-US" sz="1050" dirty="0"/>
          </a:p>
        </p:txBody>
      </p:sp>
      <p:sp>
        <p:nvSpPr>
          <p:cNvPr id="30" name="Text 21">
            <a:extLst>
              <a:ext uri="{FF2B5EF4-FFF2-40B4-BE49-F238E27FC236}">
                <a16:creationId xmlns:a16="http://schemas.microsoft.com/office/drawing/2014/main" id="{EBC6BD95-9E13-417B-3835-E98524411FF1}"/>
              </a:ext>
            </a:extLst>
          </p:cNvPr>
          <p:cNvSpPr/>
          <p:nvPr/>
        </p:nvSpPr>
        <p:spPr>
          <a:xfrm>
            <a:off x="5440680" y="3785616"/>
            <a:ext cx="2926080" cy="219456"/>
          </a:xfrm>
          <a:prstGeom prst="rect">
            <a:avLst/>
          </a:prstGeom>
          <a:noFill/>
          <a:ln/>
        </p:spPr>
        <p:txBody>
          <a:bodyPr wrap="square" lIns="0" tIns="0" rIns="0" bIns="0" rtlCol="0" anchor="ctr"/>
          <a:lstStyle/>
          <a:p>
            <a:pPr marL="0" indent="0">
              <a:buNone/>
            </a:pPr>
            <a:r>
              <a:rPr lang="en-US" sz="850" dirty="0">
                <a:solidFill>
                  <a:srgbClr val="A08A6E"/>
                </a:solidFill>
                <a:latin typeface="맑은 고딕" pitchFamily="34" charset="0"/>
                <a:ea typeface="맑은 고딕" pitchFamily="34" charset="-122"/>
                <a:cs typeface="맑은 고딕" pitchFamily="34" charset="-120"/>
              </a:rPr>
              <a:t>쇼츠 댓글 · 카카오 리뷰 집계</a:t>
            </a:r>
            <a:endParaRPr lang="en-US" sz="850" dirty="0"/>
          </a:p>
        </p:txBody>
      </p:sp>
      <p:sp>
        <p:nvSpPr>
          <p:cNvPr id="31" name="Text 22">
            <a:extLst>
              <a:ext uri="{FF2B5EF4-FFF2-40B4-BE49-F238E27FC236}">
                <a16:creationId xmlns:a16="http://schemas.microsoft.com/office/drawing/2014/main" id="{07F4A9DE-A267-2E22-9171-CCCB338A5415}"/>
              </a:ext>
            </a:extLst>
          </p:cNvPr>
          <p:cNvSpPr/>
          <p:nvPr/>
        </p:nvSpPr>
        <p:spPr>
          <a:xfrm>
            <a:off x="5074920" y="4160520"/>
            <a:ext cx="3383280" cy="256032"/>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검색 깔때기  전체 1,064 → 애월 87 → 노을 12 → 상위 5</a:t>
            </a:r>
            <a:endParaRPr lang="en-US" sz="850" dirty="0"/>
          </a:p>
        </p:txBody>
      </p:sp>
      <p:sp>
        <p:nvSpPr>
          <p:cNvPr id="32" name="Text 23">
            <a:extLst>
              <a:ext uri="{FF2B5EF4-FFF2-40B4-BE49-F238E27FC236}">
                <a16:creationId xmlns:a16="http://schemas.microsoft.com/office/drawing/2014/main" id="{778E59AB-E066-93D4-F4BC-73E596F3E1EC}"/>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4">
            <a:extLst>
              <a:ext uri="{FF2B5EF4-FFF2-40B4-BE49-F238E27FC236}">
                <a16:creationId xmlns:a16="http://schemas.microsoft.com/office/drawing/2014/main" id="{25D83999-7C38-5D4E-585F-4B9A32AF1E7D}"/>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03</a:t>
            </a:r>
            <a:endParaRPr lang="en-US" sz="1100" dirty="0"/>
          </a:p>
        </p:txBody>
      </p:sp>
    </p:spTree>
    <p:extLst>
      <p:ext uri="{BB962C8B-B14F-4D97-AF65-F5344CB8AC3E}">
        <p14:creationId xmlns:p14="http://schemas.microsoft.com/office/powerpoint/2010/main" val="784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SOLUTION</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묻고, 고르고, 원문으로 증명한다</a:t>
            </a:r>
            <a:endParaRPr lang="en-US" sz="2700" dirty="0"/>
          </a:p>
        </p:txBody>
      </p:sp>
      <p:sp>
        <p:nvSpPr>
          <p:cNvPr id="32"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03</a:t>
            </a:r>
            <a:endParaRPr lang="en-US" sz="1100" dirty="0"/>
          </a:p>
        </p:txBody>
      </p:sp>
      <p:pic>
        <p:nvPicPr>
          <p:cNvPr id="35" name="그림 34">
            <a:extLst>
              <a:ext uri="{FF2B5EF4-FFF2-40B4-BE49-F238E27FC236}">
                <a16:creationId xmlns:a16="http://schemas.microsoft.com/office/drawing/2014/main" id="{88F838F7-1B67-5819-002A-44DA544D9215}"/>
              </a:ext>
            </a:extLst>
          </p:cNvPr>
          <p:cNvPicPr>
            <a:picLocks noChangeAspect="1"/>
          </p:cNvPicPr>
          <p:nvPr/>
        </p:nvPicPr>
        <p:blipFill>
          <a:blip r:embed="rId3"/>
          <a:stretch>
            <a:fillRect/>
          </a:stretch>
        </p:blipFill>
        <p:spPr>
          <a:xfrm>
            <a:off x="1046549" y="1290491"/>
            <a:ext cx="6883052" cy="3776756"/>
          </a:xfrm>
          <a:prstGeom prst="rect">
            <a:avLst/>
          </a:prstGeom>
        </p:spPr>
      </p:pic>
      <p:sp>
        <p:nvSpPr>
          <p:cNvPr id="37" name="직사각형 36">
            <a:extLst>
              <a:ext uri="{FF2B5EF4-FFF2-40B4-BE49-F238E27FC236}">
                <a16:creationId xmlns:a16="http://schemas.microsoft.com/office/drawing/2014/main" id="{CDD73A07-324A-80FF-DFA1-0C51A1BB589B}"/>
              </a:ext>
            </a:extLst>
          </p:cNvPr>
          <p:cNvSpPr/>
          <p:nvPr/>
        </p:nvSpPr>
        <p:spPr>
          <a:xfrm>
            <a:off x="4052169" y="198378"/>
            <a:ext cx="4753627" cy="11982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묻고，　고르고，　원문　제시하는</a:t>
            </a:r>
            <a:endParaRPr lang="en-US" altLang="ko-KR" dirty="0"/>
          </a:p>
          <a:p>
            <a:pPr algn="ctr"/>
            <a:r>
              <a:rPr lang="ko-KR" altLang="en-US" dirty="0"/>
              <a:t>모델의　구조를　간단히　</a:t>
            </a:r>
            <a:r>
              <a:rPr lang="ko-KR" altLang="en-US" dirty="0" err="1"/>
              <a:t>보여줄수</a:t>
            </a:r>
            <a:r>
              <a:rPr lang="ko-KR" altLang="en-US" dirty="0"/>
              <a:t>　</a:t>
            </a:r>
            <a:r>
              <a:rPr lang="ko-KR" altLang="en-US" dirty="0" err="1"/>
              <a:t>있을지요</a:t>
            </a:r>
            <a:r>
              <a:rPr lang="ko-KR" altLang="en-US" dirty="0"/>
              <a:t>？</a:t>
            </a:r>
            <a:endParaRPr lang="en-US" altLang="ko-KR" dirty="0"/>
          </a:p>
          <a:p>
            <a:pPr algn="ctr"/>
            <a:r>
              <a:rPr lang="ko-KR" altLang="en-US" dirty="0"/>
              <a:t>（</a:t>
            </a:r>
            <a:r>
              <a:rPr lang="ko-KR" altLang="en-US" dirty="0" err="1"/>
              <a:t>뒷페이지</a:t>
            </a:r>
            <a:r>
              <a:rPr lang="ko-KR" altLang="en-US" dirty="0"/>
              <a:t>　내용과　일부　겹쳐도　</a:t>
            </a:r>
            <a:r>
              <a:rPr lang="ko-KR" altLang="en-US" dirty="0" err="1"/>
              <a:t>Ｏｋ</a:t>
            </a:r>
            <a:r>
              <a:rPr lang="ko-KR" altLang="en-US" dirty="0"/>
              <a:t>）</a:t>
            </a:r>
            <a:endParaRPr lang="en-US" altLang="ko-K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02  DIFFERENTIATION</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일반적인</a:t>
            </a:r>
            <a:r>
              <a:rPr lang="en-US" sz="2700" b="1" dirty="0">
                <a:solidFill>
                  <a:srgbClr val="1F2933"/>
                </a:solidFill>
                <a:latin typeface="맑은 고딕" pitchFamily="34" charset="0"/>
                <a:ea typeface="맑은 고딕" pitchFamily="34" charset="-122"/>
                <a:cs typeface="맑은 고딕" pitchFamily="34" charset="-120"/>
              </a:rPr>
              <a:t> RAG와 무엇이 다른가</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884777428"/>
              </p:ext>
            </p:extLst>
          </p:nvPr>
        </p:nvGraphicFramePr>
        <p:xfrm>
          <a:off x="502920" y="1298448"/>
          <a:ext cx="8138160" cy="3008376"/>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29768">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비교 항목</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ko-KR" altLang="en-US" sz="1200" b="1" dirty="0">
                          <a:solidFill>
                            <a:srgbClr val="FFFFFF"/>
                          </a:solidFill>
                          <a:latin typeface="맑은 고딕" pitchFamily="34" charset="0"/>
                          <a:ea typeface="맑은 고딕" pitchFamily="34" charset="-122"/>
                          <a:cs typeface="맑은 고딕" pitchFamily="34" charset="-120"/>
                        </a:rPr>
                        <a:t>일반</a:t>
                      </a:r>
                      <a:r>
                        <a:rPr lang="en-US" sz="1200" b="1" dirty="0">
                          <a:solidFill>
                            <a:srgbClr val="FFFFFF"/>
                          </a:solidFill>
                          <a:latin typeface="맑은 고딕" pitchFamily="34" charset="0"/>
                          <a:ea typeface="맑은 고딕" pitchFamily="34" charset="-122"/>
                          <a:cs typeface="맑은 고딕" pitchFamily="34" charset="-120"/>
                        </a:rPr>
                        <a:t> RAG</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8FA3A6"/>
                    </a:solidFill>
                  </a:tcPr>
                </a:tc>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카페인제주</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168A7E"/>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임베딩의 역할</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문서 전체를 </a:t>
                      </a:r>
                      <a:r>
                        <a:rPr lang="en-US" sz="1050" dirty="0" err="1">
                          <a:solidFill>
                            <a:srgbClr val="1F2933"/>
                          </a:solidFill>
                          <a:latin typeface="맑은 고딕" pitchFamily="34" charset="0"/>
                          <a:ea typeface="맑은 고딕" pitchFamily="34" charset="-122"/>
                          <a:cs typeface="맑은 고딕" pitchFamily="34" charset="-120"/>
                        </a:rPr>
                        <a:t>임베딩</a:t>
                      </a:r>
                      <a:r>
                        <a:rPr lang="en-US" sz="1050" dirty="0">
                          <a:solidFill>
                            <a:srgbClr val="1F2933"/>
                          </a:solidFill>
                          <a:latin typeface="맑은 고딕" pitchFamily="34" charset="0"/>
                          <a:ea typeface="맑은 고딕" pitchFamily="34" charset="-122"/>
                          <a:cs typeface="맑은 고딕" pitchFamily="34" charset="-120"/>
                        </a:rPr>
                        <a:t> →</a:t>
                      </a:r>
                      <a:r>
                        <a:rPr lang="ko-KR" altLang="en-US" sz="1050" dirty="0">
                          <a:solidFill>
                            <a:srgbClr val="1F2933"/>
                          </a:solidFill>
                          <a:latin typeface="맑은 고딕" pitchFamily="34" charset="0"/>
                          <a:ea typeface="맑은 고딕" pitchFamily="34" charset="-122"/>
                          <a:cs typeface="맑은 고딕" pitchFamily="34" charset="-120"/>
                        </a:rPr>
                        <a:t>　</a:t>
                      </a:r>
                      <a:r>
                        <a:rPr lang="en-US" sz="1050" dirty="0" err="1">
                          <a:solidFill>
                            <a:srgbClr val="1F2933"/>
                          </a:solidFill>
                          <a:latin typeface="맑은 고딕" pitchFamily="34" charset="0"/>
                          <a:ea typeface="맑은 고딕" pitchFamily="34" charset="-122"/>
                          <a:cs typeface="맑은 고딕" pitchFamily="34" charset="-120"/>
                        </a:rPr>
                        <a:t>유사도</a:t>
                      </a:r>
                      <a:r>
                        <a:rPr lang="en-US" sz="1050" dirty="0">
                          <a:solidFill>
                            <a:srgbClr val="1F2933"/>
                          </a:solidFill>
                          <a:latin typeface="맑은 고딕" pitchFamily="34" charset="0"/>
                          <a:ea typeface="맑은 고딕" pitchFamily="34" charset="-122"/>
                          <a:cs typeface="맑은 고딕" pitchFamily="34" charset="-120"/>
                        </a:rPr>
                        <a:t> 순위</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사용자 언어 → 통제 어휘 번역기</a:t>
                      </a:r>
                      <a:endParaRPr lang="en-US" sz="1050" dirty="0">
                        <a:latin typeface="맑은 고딕" charset="0"/>
                        <a:ea typeface="맑은 고딕" charset="0"/>
                        <a:cs typeface="맑은 고딕" charset="0"/>
                      </a:endParaRPr>
                    </a:p>
                    <a:p>
                      <a:pPr marL="0" indent="0">
                        <a:buNone/>
                      </a:pPr>
                      <a:r>
                        <a:rPr lang="en-US" sz="1050" dirty="0">
                          <a:solidFill>
                            <a:srgbClr val="1F2933"/>
                          </a:solidFill>
                          <a:latin typeface="맑은 고딕" pitchFamily="34" charset="0"/>
                          <a:ea typeface="맑은 고딕" pitchFamily="34" charset="-122"/>
                          <a:cs typeface="맑은 고딕" pitchFamily="34" charset="-120"/>
                        </a:rPr>
                        <a:t>(임베딩 공간엔 태그 사전만)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순위의 근거</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점수 0.83 — 왜인지 설명 불가</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태그 충족 + 다수결 — 읽을 수 있음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인기 수치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조회수·언급 총량을 그대로 반영</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LLM 입력에서 차단, 동점 정렬용만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근거 표시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요약·의역 (환각 가능)</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원문 부분문자열 검증 통과분만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조건 불일치 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아무거나 상위 k개 반환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정직한 실패 + 양보 라벨 부착</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조인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카페 이름 문자열</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카카오 place_id (영구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6"/>
                  </a:ext>
                </a:extLst>
              </a:tr>
            </a:tbl>
          </a:graphicData>
        </a:graphic>
      </p:graphicFrame>
      <p:sp>
        <p:nvSpPr>
          <p:cNvPr id="4" name="Text 2"/>
          <p:cNvSpPr/>
          <p:nvPr/>
        </p:nvSpPr>
        <p:spPr>
          <a:xfrm>
            <a:off x="502920" y="4370832"/>
            <a:ext cx="8138160" cy="274320"/>
          </a:xfrm>
          <a:prstGeom prst="rect">
            <a:avLst/>
          </a:prstGeom>
          <a:noFill/>
          <a:ln/>
        </p:spPr>
        <p:txBody>
          <a:bodyPr wrap="square" lIns="0" tIns="0" rIns="0" bIns="0" rtlCol="0" anchor="ctr"/>
          <a:lstStyle/>
          <a:p>
            <a:pPr marL="0" indent="0">
              <a:buNone/>
            </a:pPr>
            <a:r>
              <a:rPr lang="en-US" sz="1100" i="1" dirty="0">
                <a:solidFill>
                  <a:srgbClr val="168A7E"/>
                </a:solidFill>
                <a:latin typeface="맑은 고딕" pitchFamily="34" charset="0"/>
                <a:ea typeface="맑은 고딕" pitchFamily="34" charset="-122"/>
                <a:cs typeface="맑은 고딕" pitchFamily="34" charset="-120"/>
              </a:rPr>
              <a:t>핵심은 임베딩을 “찾는 도구”가 아니라 “번역하는 도구”로 강등시킨 것입니다.</a:t>
            </a:r>
            <a:endParaRPr lang="en-US" sz="1100" dirty="0"/>
          </a:p>
        </p:txBody>
      </p:sp>
      <p:sp>
        <p:nvSpPr>
          <p:cNvPr id="6" name="Text 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7" name="Text 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03  ARCHITECTURE</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배치는 공장, 런타임은 창구</a:t>
            </a:r>
            <a:endParaRPr lang="en-US" sz="2700" dirty="0"/>
          </a:p>
        </p:txBody>
      </p:sp>
      <p:sp>
        <p:nvSpPr>
          <p:cNvPr id="4" name="Text 2"/>
          <p:cNvSpPr/>
          <p:nvPr/>
        </p:nvSpPr>
        <p:spPr>
          <a:xfrm>
            <a:off x="502920" y="1234440"/>
            <a:ext cx="1737360" cy="256032"/>
          </a:xfrm>
          <a:prstGeom prst="rect">
            <a:avLst/>
          </a:prstGeom>
          <a:noFill/>
          <a:ln/>
        </p:spPr>
        <p:txBody>
          <a:bodyPr wrap="square" lIns="0" tIns="0" rIns="0" bIns="0" rtlCol="0" anchor="ctr"/>
          <a:lstStyle/>
          <a:p>
            <a:pPr marL="0" indent="0">
              <a:buNone/>
            </a:pPr>
            <a:r>
              <a:rPr lang="en-US" sz="1150" b="1" dirty="0">
                <a:solidFill>
                  <a:srgbClr val="5F7175"/>
                </a:solidFill>
                <a:latin typeface="맑은 고딕" pitchFamily="34" charset="0"/>
                <a:ea typeface="맑은 고딕" pitchFamily="34" charset="-122"/>
                <a:cs typeface="맑은 고딕" pitchFamily="34" charset="-120"/>
              </a:rPr>
              <a:t>① 원천 데이터</a:t>
            </a:r>
            <a:endParaRPr lang="en-US" sz="1150" dirty="0"/>
          </a:p>
        </p:txBody>
      </p:sp>
      <p:sp>
        <p:nvSpPr>
          <p:cNvPr id="5" name="Text 3"/>
          <p:cNvSpPr/>
          <p:nvPr/>
        </p:nvSpPr>
        <p:spPr>
          <a:xfrm>
            <a:off x="502920" y="1481328"/>
            <a:ext cx="173736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raw · 불변 보관</a:t>
            </a:r>
            <a:endParaRPr lang="en-US" sz="850" dirty="0"/>
          </a:p>
        </p:txBody>
      </p:sp>
      <p:sp>
        <p:nvSpPr>
          <p:cNvPr id="6" name="Text 4"/>
          <p:cNvSpPr/>
          <p:nvPr/>
        </p:nvSpPr>
        <p:spPr>
          <a:xfrm>
            <a:off x="2514600" y="1234440"/>
            <a:ext cx="228600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② 인덱싱 파이프라인 (배치)</a:t>
            </a:r>
            <a:endParaRPr lang="en-US" sz="1150" dirty="0"/>
          </a:p>
        </p:txBody>
      </p:sp>
      <p:sp>
        <p:nvSpPr>
          <p:cNvPr id="7" name="Text 5"/>
          <p:cNvSpPr/>
          <p:nvPr/>
        </p:nvSpPr>
        <p:spPr>
          <a:xfrm>
            <a:off x="2514600" y="1481328"/>
            <a:ext cx="228600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pipeline/*.py · gpt-5-mini</a:t>
            </a:r>
            <a:endParaRPr lang="en-US" sz="850" dirty="0"/>
          </a:p>
        </p:txBody>
      </p:sp>
      <p:sp>
        <p:nvSpPr>
          <p:cNvPr id="8" name="Text 6"/>
          <p:cNvSpPr/>
          <p:nvPr/>
        </p:nvSpPr>
        <p:spPr>
          <a:xfrm>
            <a:off x="5074920" y="1234440"/>
            <a:ext cx="169164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③ 저장소</a:t>
            </a:r>
            <a:endParaRPr lang="en-US" sz="1150" dirty="0"/>
          </a:p>
        </p:txBody>
      </p:sp>
      <p:sp>
        <p:nvSpPr>
          <p:cNvPr id="9" name="Text 7"/>
          <p:cNvSpPr/>
          <p:nvPr/>
        </p:nvSpPr>
        <p:spPr>
          <a:xfrm>
            <a:off x="5074920" y="1481328"/>
            <a:ext cx="169164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층(layer) 분리</a:t>
            </a:r>
            <a:endParaRPr lang="en-US" sz="850" dirty="0"/>
          </a:p>
        </p:txBody>
      </p:sp>
      <p:sp>
        <p:nvSpPr>
          <p:cNvPr id="10" name="Text 8"/>
          <p:cNvSpPr/>
          <p:nvPr/>
        </p:nvSpPr>
        <p:spPr>
          <a:xfrm>
            <a:off x="7086600" y="1234440"/>
            <a:ext cx="1554480" cy="256032"/>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④ 서빙 (런타임)</a:t>
            </a:r>
            <a:endParaRPr lang="en-US" sz="1150" dirty="0"/>
          </a:p>
        </p:txBody>
      </p:sp>
      <p:sp>
        <p:nvSpPr>
          <p:cNvPr id="11" name="Text 9"/>
          <p:cNvSpPr/>
          <p:nvPr/>
        </p:nvSpPr>
        <p:spPr>
          <a:xfrm>
            <a:off x="7086600" y="1481328"/>
            <a:ext cx="155448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FastAPI + web</a:t>
            </a:r>
            <a:endParaRPr lang="en-US" sz="850" dirty="0"/>
          </a:p>
        </p:txBody>
      </p:sp>
      <p:sp>
        <p:nvSpPr>
          <p:cNvPr id="12" name="Shape 10"/>
          <p:cNvSpPr/>
          <p:nvPr/>
        </p:nvSpPr>
        <p:spPr>
          <a:xfrm>
            <a:off x="502920" y="1810512"/>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557784" y="1810512"/>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유튜브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영상 · 쇼츠 · 댓글</a:t>
            </a:r>
            <a:endParaRPr lang="en-US" sz="880" dirty="0"/>
          </a:p>
        </p:txBody>
      </p:sp>
      <p:sp>
        <p:nvSpPr>
          <p:cNvPr id="14" name="Shape 12"/>
          <p:cNvSpPr/>
          <p:nvPr/>
        </p:nvSpPr>
        <p:spPr>
          <a:xfrm>
            <a:off x="502920" y="2468880"/>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57784" y="2468880"/>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네이버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블로그 · 지역검색</a:t>
            </a:r>
            <a:endParaRPr lang="en-US" sz="880" dirty="0"/>
          </a:p>
        </p:txBody>
      </p:sp>
      <p:sp>
        <p:nvSpPr>
          <p:cNvPr id="16" name="Shape 14"/>
          <p:cNvSpPr/>
          <p:nvPr/>
        </p:nvSpPr>
        <p:spPr>
          <a:xfrm>
            <a:off x="502920" y="3127248"/>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557784" y="3127248"/>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카카오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place_id · 좌표 · 리뷰</a:t>
            </a:r>
            <a:endParaRPr lang="en-US" sz="880" dirty="0"/>
          </a:p>
        </p:txBody>
      </p:sp>
      <p:sp>
        <p:nvSpPr>
          <p:cNvPr id="18" name="Shape 16"/>
          <p:cNvSpPr/>
          <p:nvPr/>
        </p:nvSpPr>
        <p:spPr>
          <a:xfrm>
            <a:off x="502920" y="3785616"/>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Text 17"/>
          <p:cNvSpPr/>
          <p:nvPr/>
        </p:nvSpPr>
        <p:spPr>
          <a:xfrm>
            <a:off x="557784" y="3785616"/>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동료 하이브리드 시드</a:t>
            </a:r>
            <a:endParaRPr lang="en-US" sz="880" dirty="0"/>
          </a:p>
        </p:txBody>
      </p:sp>
      <p:sp>
        <p:nvSpPr>
          <p:cNvPr id="20" name="Shape 18"/>
          <p:cNvSpPr/>
          <p:nvPr/>
        </p:nvSpPr>
        <p:spPr>
          <a:xfrm>
            <a:off x="2514600" y="1810512"/>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2569464" y="1810512"/>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collect / extract  ·  Pass1 정제</a:t>
            </a:r>
            <a:endParaRPr lang="en-US" sz="900" dirty="0"/>
          </a:p>
        </p:txBody>
      </p:sp>
      <p:sp>
        <p:nvSpPr>
          <p:cNvPr id="22" name="Shape 20"/>
          <p:cNvSpPr/>
          <p:nvPr/>
        </p:nvSpPr>
        <p:spPr>
          <a:xfrm>
            <a:off x="2514600" y="2468880"/>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2569464" y="2468880"/>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naver_refine  →  summary_blog</a:t>
            </a:r>
            <a:endParaRPr lang="en-US" sz="900" dirty="0"/>
          </a:p>
        </p:txBody>
      </p:sp>
      <p:sp>
        <p:nvSpPr>
          <p:cNvPr id="24" name="Shape 22"/>
          <p:cNvSpPr/>
          <p:nvPr/>
        </p:nvSpPr>
        <p:spPr>
          <a:xfrm>
            <a:off x="2514600" y="3127248"/>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2569464" y="3127248"/>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comments_refine  ·  kakao_place</a:t>
            </a:r>
            <a:endParaRPr lang="en-US" sz="900" dirty="0"/>
          </a:p>
        </p:txBody>
      </p:sp>
      <p:sp>
        <p:nvSpPr>
          <p:cNvPr id="26" name="Shape 24"/>
          <p:cNvSpPr/>
          <p:nvPr/>
        </p:nvSpPr>
        <p:spPr>
          <a:xfrm>
            <a:off x="2514600" y="3785616"/>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7" name="Text 25"/>
          <p:cNvSpPr/>
          <p:nvPr/>
        </p:nvSpPr>
        <p:spPr>
          <a:xfrm>
            <a:off x="2569464" y="3785616"/>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embed  ·  text-embedding-3-large</a:t>
            </a:r>
            <a:endParaRPr lang="en-US" sz="900" dirty="0"/>
          </a:p>
        </p:txBody>
      </p:sp>
      <p:sp>
        <p:nvSpPr>
          <p:cNvPr id="28" name="Shape 26"/>
          <p:cNvSpPr/>
          <p:nvPr/>
        </p:nvSpPr>
        <p:spPr>
          <a:xfrm>
            <a:off x="5074920" y="1810512"/>
            <a:ext cx="169164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9" name="Text 27"/>
          <p:cNvSpPr/>
          <p:nvPr/>
        </p:nvSpPr>
        <p:spPr>
          <a:xfrm>
            <a:off x="5129784" y="1810512"/>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Chroma  'smoke'</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검색 벡터</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(블로그 요약 + 시드)</a:t>
            </a:r>
            <a:endParaRPr lang="en-US" sz="900" dirty="0"/>
          </a:p>
        </p:txBody>
      </p:sp>
      <p:sp>
        <p:nvSpPr>
          <p:cNvPr id="30" name="Shape 28"/>
          <p:cNvSpPr/>
          <p:nvPr/>
        </p:nvSpPr>
        <p:spPr>
          <a:xfrm>
            <a:off x="5074920" y="3127248"/>
            <a:ext cx="1691640" cy="1207008"/>
          </a:xfrm>
          <a:prstGeom prst="roundRect">
            <a:avLst>
              <a:gd name="adj" fmla="val 6061"/>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1" name="Text 29"/>
          <p:cNvSpPr/>
          <p:nvPr/>
        </p:nvSpPr>
        <p:spPr>
          <a:xfrm>
            <a:off x="5129784" y="3127248"/>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data/processed</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표시 · 반응 · 근거 · 라벨</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(임베딩 금지 층)</a:t>
            </a:r>
            <a:endParaRPr lang="en-US" sz="900" dirty="0"/>
          </a:p>
        </p:txBody>
      </p:sp>
      <p:sp>
        <p:nvSpPr>
          <p:cNvPr id="32" name="Shape 30"/>
          <p:cNvSpPr/>
          <p:nvPr/>
        </p:nvSpPr>
        <p:spPr>
          <a:xfrm>
            <a:off x="7086600" y="1810512"/>
            <a:ext cx="1554480" cy="1207008"/>
          </a:xfrm>
          <a:prstGeom prst="roundRect">
            <a:avLst>
              <a:gd name="adj" fmla="val 6061"/>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3" name="Text 31"/>
          <p:cNvSpPr/>
          <p:nvPr/>
        </p:nvSpPr>
        <p:spPr>
          <a:xfrm>
            <a:off x="7141464" y="1810512"/>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server.py</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/search  /evidence</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/photos  /health</a:t>
            </a:r>
            <a:endParaRPr lang="en-US" sz="900" dirty="0"/>
          </a:p>
        </p:txBody>
      </p:sp>
      <p:sp>
        <p:nvSpPr>
          <p:cNvPr id="34" name="Shape 32"/>
          <p:cNvSpPr/>
          <p:nvPr/>
        </p:nvSpPr>
        <p:spPr>
          <a:xfrm>
            <a:off x="7086600" y="3127248"/>
            <a:ext cx="155448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5" name="Text 33"/>
          <p:cNvSpPr/>
          <p:nvPr/>
        </p:nvSpPr>
        <p:spPr>
          <a:xfrm>
            <a:off x="7141464" y="3127248"/>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web/index.html</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카카오맵 + 검색 UI</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mock 폴백 내장</a:t>
            </a:r>
            <a:endParaRPr lang="en-US" sz="900" dirty="0"/>
          </a:p>
        </p:txBody>
      </p:sp>
      <p:sp>
        <p:nvSpPr>
          <p:cNvPr id="36" name="Shape 34"/>
          <p:cNvSpPr/>
          <p:nvPr/>
        </p:nvSpPr>
        <p:spPr>
          <a:xfrm>
            <a:off x="2286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7" name="Shape 35"/>
          <p:cNvSpPr/>
          <p:nvPr/>
        </p:nvSpPr>
        <p:spPr>
          <a:xfrm>
            <a:off x="484632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8" name="Shape 36"/>
          <p:cNvSpPr/>
          <p:nvPr/>
        </p:nvSpPr>
        <p:spPr>
          <a:xfrm>
            <a:off x="6858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9" name="Shape 37"/>
          <p:cNvSpPr/>
          <p:nvPr/>
        </p:nvSpPr>
        <p:spPr>
          <a:xfrm>
            <a:off x="502920" y="4443984"/>
            <a:ext cx="8138160" cy="420624"/>
          </a:xfrm>
          <a:prstGeom prst="roundRect">
            <a:avLst>
              <a:gd name="adj" fmla="val 21739"/>
            </a:avLst>
          </a:prstGeom>
          <a:solidFill>
            <a:srgbClr val="0F5257"/>
          </a:solidFill>
          <a:ln w="12700">
            <a:solidFill>
              <a:srgbClr val="333333"/>
            </a:solidFill>
            <a:prstDash val="solid"/>
          </a:ln>
        </p:spPr>
        <p:txBody>
          <a:bodyPr/>
          <a:lstStyle/>
          <a:p>
            <a:endParaRPr lang="ko-KR" altLang="en-US"/>
          </a:p>
        </p:txBody>
      </p:sp>
      <p:sp>
        <p:nvSpPr>
          <p:cNvPr id="40" name="Text 38"/>
          <p:cNvSpPr/>
          <p:nvPr/>
        </p:nvSpPr>
        <p:spPr>
          <a:xfrm>
            <a:off x="502920" y="4443984"/>
            <a:ext cx="8138160" cy="420624"/>
          </a:xfrm>
          <a:prstGeom prst="rect">
            <a:avLst/>
          </a:prstGeom>
          <a:noFill/>
          <a:ln/>
        </p:spPr>
        <p:txBody>
          <a:bodyPr wrap="square" lIns="0" tIns="0" rIns="0" bIns="0" rtlCol="0" anchor="ctr"/>
          <a:lstStyle/>
          <a:p>
            <a:pPr marL="0" indent="0" algn="ctr">
              <a:buNone/>
            </a:pPr>
            <a:r>
              <a:rPr lang="en-US" sz="1000" b="1" dirty="0">
                <a:solidFill>
                  <a:srgbClr val="CDE8E3"/>
                </a:solidFill>
                <a:latin typeface="맑은 고딕" pitchFamily="34" charset="0"/>
                <a:ea typeface="맑은 고딕" pitchFamily="34" charset="-122"/>
                <a:cs typeface="맑은 고딕" pitchFamily="34" charset="-120"/>
              </a:rPr>
              <a:t>설계 원칙  ·  키는 서버에만  ·  식별자는 코드가 운반  ·  반응·라벨은 임베딩 금지  ·  place_id = 영구 키</a:t>
            </a:r>
            <a:endParaRPr lang="en-US" sz="1000" dirty="0"/>
          </a:p>
        </p:txBody>
      </p:sp>
      <p:sp>
        <p:nvSpPr>
          <p:cNvPr id="41" name="Text 3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2" name="Text 4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05</a:t>
            </a:r>
            <a:endParaRPr lang="en-US" sz="1100" dirty="0"/>
          </a:p>
        </p:txBody>
      </p:sp>
      <p:pic>
        <p:nvPicPr>
          <p:cNvPr id="46" name="Picture 2" descr="카카오톡 로고(.ai) 일러스트 다운로드 | 로고, 앱, 아이콘">
            <a:extLst>
              <a:ext uri="{FF2B5EF4-FFF2-40B4-BE49-F238E27FC236}">
                <a16:creationId xmlns:a16="http://schemas.microsoft.com/office/drawing/2014/main" id="{D9039550-C238-F521-5386-452B9D83B4A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5217" y="3240200"/>
            <a:ext cx="335104" cy="335104"/>
          </a:xfrm>
          <a:prstGeom prst="rect">
            <a:avLst/>
          </a:prstGeom>
          <a:noFill/>
          <a:extLst>
            <a:ext uri="{909E8E84-426E-40DD-AFC4-6F175D3DCCD1}">
              <a14:hiddenFill xmlns:a14="http://schemas.microsoft.com/office/drawing/2010/main">
                <a:solidFill>
                  <a:srgbClr val="FFFFFF"/>
                </a:solidFill>
              </a14:hiddenFill>
            </a:ext>
          </a:extLst>
        </p:spPr>
      </p:pic>
      <p:pic>
        <p:nvPicPr>
          <p:cNvPr id="48" name="그림 47">
            <a:extLst>
              <a:ext uri="{FF2B5EF4-FFF2-40B4-BE49-F238E27FC236}">
                <a16:creationId xmlns:a16="http://schemas.microsoft.com/office/drawing/2014/main" id="{F8349340-711A-6DD0-D617-58EE60CEF89D}"/>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a:fillRect/>
          </a:stretch>
        </p:blipFill>
        <p:spPr>
          <a:xfrm>
            <a:off x="386428" y="1907307"/>
            <a:ext cx="451174" cy="310897"/>
          </a:xfrm>
          <a:prstGeom prst="rect">
            <a:avLst/>
          </a:prstGeom>
        </p:spPr>
      </p:pic>
      <p:pic>
        <p:nvPicPr>
          <p:cNvPr id="50" name="그림 49">
            <a:extLst>
              <a:ext uri="{FF2B5EF4-FFF2-40B4-BE49-F238E27FC236}">
                <a16:creationId xmlns:a16="http://schemas.microsoft.com/office/drawing/2014/main" id="{453BF36E-D383-587D-6141-4717B3C1F335}"/>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99957" y="2572902"/>
            <a:ext cx="359153" cy="351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그물 던지기 — 수집에서 카페 명단까지</a:t>
            </a:r>
            <a:endParaRPr lang="en-US" sz="2700" dirty="0"/>
          </a:p>
        </p:txBody>
      </p:sp>
      <p:sp>
        <p:nvSpPr>
          <p:cNvPr id="4" name="Shape 2"/>
          <p:cNvSpPr/>
          <p:nvPr/>
        </p:nvSpPr>
        <p:spPr>
          <a:xfrm>
            <a:off x="50292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4008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41 + 18</a:t>
            </a:r>
            <a:endParaRPr lang="en-US" sz="2600" dirty="0"/>
          </a:p>
        </p:txBody>
      </p:sp>
      <p:sp>
        <p:nvSpPr>
          <p:cNvPr id="6" name="Text 4"/>
          <p:cNvSpPr/>
          <p:nvPr/>
        </p:nvSpPr>
        <p:spPr>
          <a:xfrm>
            <a:off x="64008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키워드 격자</a:t>
            </a:r>
            <a:endParaRPr lang="en-US" sz="1100" dirty="0"/>
          </a:p>
        </p:txBody>
      </p:sp>
      <p:sp>
        <p:nvSpPr>
          <p:cNvPr id="7" name="Text 5"/>
          <p:cNvSpPr/>
          <p:nvPr/>
        </p:nvSpPr>
        <p:spPr>
          <a:xfrm>
            <a:off x="64008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지역 × 주제 조합</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카페 · 애월 감성카페)</a:t>
            </a:r>
            <a:endParaRPr lang="en-US" sz="900" dirty="0"/>
          </a:p>
        </p:txBody>
      </p:sp>
      <p:sp>
        <p:nvSpPr>
          <p:cNvPr id="8" name="Shape 6"/>
          <p:cNvSpPr/>
          <p:nvPr/>
        </p:nvSpPr>
        <p:spPr>
          <a:xfrm>
            <a:off x="241401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9" name="Shape 7"/>
          <p:cNvSpPr/>
          <p:nvPr/>
        </p:nvSpPr>
        <p:spPr>
          <a:xfrm>
            <a:off x="260604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0" name="Text 8"/>
          <p:cNvSpPr/>
          <p:nvPr/>
        </p:nvSpPr>
        <p:spPr>
          <a:xfrm>
            <a:off x="274320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1,359</a:t>
            </a:r>
            <a:endParaRPr lang="en-US" sz="2600" dirty="0"/>
          </a:p>
        </p:txBody>
      </p:sp>
      <p:sp>
        <p:nvSpPr>
          <p:cNvPr id="11" name="Text 9"/>
          <p:cNvSpPr/>
          <p:nvPr/>
        </p:nvSpPr>
        <p:spPr>
          <a:xfrm>
            <a:off x="274320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유튜브 raw</a:t>
            </a:r>
            <a:endParaRPr lang="en-US" sz="1100" dirty="0"/>
          </a:p>
        </p:txBody>
      </p:sp>
      <p:sp>
        <p:nvSpPr>
          <p:cNvPr id="12" name="Text 10"/>
          <p:cNvSpPr/>
          <p:nvPr/>
        </p:nvSpPr>
        <p:spPr>
          <a:xfrm>
            <a:off x="274320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무손실 저장</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설명란 0자 영상도 보관</a:t>
            </a:r>
            <a:endParaRPr lang="en-US" sz="900" dirty="0"/>
          </a:p>
        </p:txBody>
      </p:sp>
      <p:sp>
        <p:nvSpPr>
          <p:cNvPr id="13" name="Shape 11"/>
          <p:cNvSpPr/>
          <p:nvPr/>
        </p:nvSpPr>
        <p:spPr>
          <a:xfrm>
            <a:off x="451713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4" name="Shape 12"/>
          <p:cNvSpPr/>
          <p:nvPr/>
        </p:nvSpPr>
        <p:spPr>
          <a:xfrm>
            <a:off x="470916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484632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1,504</a:t>
            </a:r>
            <a:endParaRPr lang="en-US" sz="2600" dirty="0"/>
          </a:p>
        </p:txBody>
      </p:sp>
      <p:sp>
        <p:nvSpPr>
          <p:cNvPr id="16" name="Text 14"/>
          <p:cNvSpPr/>
          <p:nvPr/>
        </p:nvSpPr>
        <p:spPr>
          <a:xfrm>
            <a:off x="484632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카페 언급 (Pass 1)</a:t>
            </a:r>
            <a:endParaRPr lang="en-US" sz="1100" dirty="0"/>
          </a:p>
        </p:txBody>
      </p:sp>
      <p:sp>
        <p:nvSpPr>
          <p:cNvPr id="17" name="Text 15"/>
          <p:cNvSpPr/>
          <p:nvPr/>
        </p:nvSpPr>
        <p:spPr>
          <a:xfrm>
            <a:off x="484632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gpt-5-mini가 영상마다</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A/B 트랙으로 추출</a:t>
            </a:r>
            <a:endParaRPr lang="en-US" sz="900" dirty="0"/>
          </a:p>
        </p:txBody>
      </p:sp>
      <p:sp>
        <p:nvSpPr>
          <p:cNvPr id="18" name="Shape 16"/>
          <p:cNvSpPr/>
          <p:nvPr/>
        </p:nvSpPr>
        <p:spPr>
          <a:xfrm>
            <a:off x="662025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17"/>
          <p:cNvSpPr/>
          <p:nvPr/>
        </p:nvSpPr>
        <p:spPr>
          <a:xfrm>
            <a:off x="6812280" y="1371600"/>
            <a:ext cx="1874520" cy="1965960"/>
          </a:xfrm>
          <a:prstGeom prst="roundRect">
            <a:avLst>
              <a:gd name="adj" fmla="val 58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0" name="Text 18"/>
          <p:cNvSpPr/>
          <p:nvPr/>
        </p:nvSpPr>
        <p:spPr>
          <a:xfrm>
            <a:off x="6949440" y="1536192"/>
            <a:ext cx="1600200" cy="502920"/>
          </a:xfrm>
          <a:prstGeom prst="rect">
            <a:avLst/>
          </a:prstGeom>
          <a:noFill/>
          <a:ln/>
        </p:spPr>
        <p:txBody>
          <a:bodyPr wrap="square" lIns="0" tIns="0" rIns="0" bIns="0" rtlCol="0" anchor="ctr"/>
          <a:lstStyle/>
          <a:p>
            <a:pPr marL="0" indent="0">
              <a:buNone/>
            </a:pPr>
            <a:r>
              <a:rPr lang="en-US" sz="2600" b="1" dirty="0">
                <a:solidFill>
                  <a:srgbClr val="0F5257"/>
                </a:solidFill>
                <a:latin typeface="맑은 고딕" pitchFamily="34" charset="0"/>
                <a:ea typeface="맑은 고딕" pitchFamily="34" charset="-122"/>
                <a:cs typeface="맑은 고딕" pitchFamily="34" charset="-120"/>
              </a:rPr>
              <a:t>1,064</a:t>
            </a:r>
            <a:endParaRPr lang="en-US" sz="2600" dirty="0"/>
          </a:p>
        </p:txBody>
      </p:sp>
      <p:sp>
        <p:nvSpPr>
          <p:cNvPr id="21" name="Text 19"/>
          <p:cNvSpPr/>
          <p:nvPr/>
        </p:nvSpPr>
        <p:spPr>
          <a:xfrm>
            <a:off x="694944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고유 카페 명단</a:t>
            </a:r>
            <a:endParaRPr lang="en-US" sz="1100" dirty="0"/>
          </a:p>
        </p:txBody>
      </p:sp>
      <p:sp>
        <p:nvSpPr>
          <p:cNvPr id="22" name="Text 20"/>
          <p:cNvSpPr/>
          <p:nvPr/>
        </p:nvSpPr>
        <p:spPr>
          <a:xfrm>
            <a:off x="694944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중복 제거 후</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파이프라인의 모집단</a:t>
            </a:r>
            <a:endParaRPr lang="en-US" sz="900" dirty="0"/>
          </a:p>
        </p:txBody>
      </p:sp>
      <p:sp>
        <p:nvSpPr>
          <p:cNvPr id="23" name="Shape 21"/>
          <p:cNvSpPr/>
          <p:nvPr/>
        </p:nvSpPr>
        <p:spPr>
          <a:xfrm>
            <a:off x="50292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24"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52368" y="3797320"/>
            <a:ext cx="122895" cy="122895"/>
          </a:xfrm>
          <a:prstGeom prst="rect">
            <a:avLst/>
          </a:prstGeom>
        </p:spPr>
      </p:pic>
      <p:sp>
        <p:nvSpPr>
          <p:cNvPr id="25" name="Text 22"/>
          <p:cNvSpPr/>
          <p:nvPr/>
        </p:nvSpPr>
        <p:spPr>
          <a:xfrm>
            <a:off x="102412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실측으로 배운 함정</a:t>
            </a:r>
            <a:endParaRPr lang="en-US" sz="1100" dirty="0"/>
          </a:p>
        </p:txBody>
      </p:sp>
      <p:sp>
        <p:nvSpPr>
          <p:cNvPr id="26" name="Text 23"/>
          <p:cNvSpPr/>
          <p:nvPr/>
        </p:nvSpPr>
        <p:spPr>
          <a:xfrm>
            <a:off x="68580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gpt-5-mini는 출력 토큰 한도가 좁으면 빈 응답을 돌려준다 (4000 + 추론 최소 설정 필수)</a:t>
            </a:r>
            <a:endParaRPr lang="en-US" sz="950" dirty="0"/>
          </a:p>
        </p:txBody>
      </p:sp>
      <p:sp>
        <p:nvSpPr>
          <p:cNvPr id="27" name="Shape 24"/>
          <p:cNvSpPr/>
          <p:nvPr/>
        </p:nvSpPr>
        <p:spPr>
          <a:xfrm>
            <a:off x="466344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8" name="Shape 25"/>
          <p:cNvSpPr/>
          <p:nvPr/>
        </p:nvSpPr>
        <p:spPr>
          <a:xfrm>
            <a:off x="4846320" y="3730752"/>
            <a:ext cx="256032" cy="256032"/>
          </a:xfrm>
          <a:prstGeom prst="ellipse">
            <a:avLst/>
          </a:prstGeom>
          <a:solidFill>
            <a:srgbClr val="168A7E"/>
          </a:solidFill>
          <a:ln w="12700">
            <a:solidFill>
              <a:srgbClr val="168A7E"/>
            </a:solidFill>
            <a:prstDash val="solid"/>
          </a:ln>
        </p:spPr>
        <p:txBody>
          <a:bodyPr/>
          <a:lstStyle/>
          <a:p>
            <a:endParaRPr lang="ko-KR" altLang="en-US"/>
          </a:p>
        </p:txBody>
      </p:sp>
      <p:pic>
        <p:nvPicPr>
          <p:cNvPr id="29"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12888" y="3797320"/>
            <a:ext cx="122895" cy="122895"/>
          </a:xfrm>
          <a:prstGeom prst="rect">
            <a:avLst/>
          </a:prstGeom>
        </p:spPr>
      </p:pic>
      <p:sp>
        <p:nvSpPr>
          <p:cNvPr id="30" name="Text 26"/>
          <p:cNvSpPr/>
          <p:nvPr/>
        </p:nvSpPr>
        <p:spPr>
          <a:xfrm>
            <a:off x="518464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설계 판단</a:t>
            </a:r>
            <a:endParaRPr lang="en-US" sz="1100" dirty="0"/>
          </a:p>
        </p:txBody>
      </p:sp>
      <p:sp>
        <p:nvSpPr>
          <p:cNvPr id="31" name="Text 27"/>
          <p:cNvSpPr/>
          <p:nvPr/>
        </p:nvSpPr>
        <p:spPr>
          <a:xfrm>
            <a:off x="484632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정보 없는 데이터도 투표권은 있다 — 설명란이 비어도 “언급됐다”는 사실은 인기 신호로 남는다</a:t>
            </a:r>
            <a:endParaRPr lang="en-US" sz="950" dirty="0"/>
          </a:p>
        </p:txBody>
      </p:sp>
      <p:sp>
        <p:nvSpPr>
          <p:cNvPr id="32"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정보는 블로그에서, 감정은 댓글에서</a:t>
            </a:r>
            <a:endParaRPr lang="en-US" sz="2700" dirty="0"/>
          </a:p>
        </p:txBody>
      </p:sp>
      <p:sp>
        <p:nvSpPr>
          <p:cNvPr id="4" name="Shape 2"/>
          <p:cNvSpPr/>
          <p:nvPr/>
        </p:nvSpPr>
        <p:spPr>
          <a:xfrm>
            <a:off x="502920" y="1325880"/>
            <a:ext cx="402336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81328"/>
            <a:ext cx="3566160" cy="29260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네이버 보강 — 정보 풍부도 반전</a:t>
            </a:r>
            <a:endParaRPr lang="en-US" sz="1300" dirty="0"/>
          </a:p>
        </p:txBody>
      </p:sp>
      <p:sp>
        <p:nvSpPr>
          <p:cNvPr id="6" name="Text 4"/>
          <p:cNvSpPr/>
          <p:nvPr/>
        </p:nvSpPr>
        <p:spPr>
          <a:xfrm>
            <a:off x="731520" y="1783080"/>
            <a:ext cx="361188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1,064곳 전량에 블로그 후기 100건 + 지역검색 5건 크롤 (검색 실패 85곳 중 48곳은 이름 정규화로 구제)</a:t>
            </a:r>
            <a:endParaRPr lang="en-US" sz="950" dirty="0"/>
          </a:p>
        </p:txBody>
      </p:sp>
      <p:graphicFrame>
        <p:nvGraphicFramePr>
          <p:cNvPr id="7" name="Chart 0"/>
          <p:cNvGraphicFramePr/>
          <p:nvPr/>
        </p:nvGraphicFramePr>
        <p:xfrm>
          <a:off x="640080" y="2286000"/>
          <a:ext cx="374904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4663440" y="1325880"/>
            <a:ext cx="39776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Shape 6"/>
          <p:cNvSpPr/>
          <p:nvPr/>
        </p:nvSpPr>
        <p:spPr>
          <a:xfrm>
            <a:off x="4864608" y="1490472"/>
            <a:ext cx="384048" cy="384048"/>
          </a:xfrm>
          <a:prstGeom prst="ellipse">
            <a:avLst/>
          </a:prstGeom>
          <a:solidFill>
            <a:srgbClr val="E8842B"/>
          </a:solidFill>
          <a:ln w="12700">
            <a:solidFill>
              <a:srgbClr val="E8842B"/>
            </a:solidFill>
            <a:prstDash val="solid"/>
          </a:ln>
        </p:spPr>
        <p:txBody>
          <a:bodyPr/>
          <a:lstStyle/>
          <a:p>
            <a:endParaRPr lang="ko-KR" altLang="en-US"/>
          </a:p>
        </p:txBody>
      </p:sp>
      <p:pic>
        <p:nvPicPr>
          <p:cNvPr id="10" name="Image 0"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64460" y="1590324"/>
            <a:ext cx="184343" cy="184343"/>
          </a:xfrm>
          <a:prstGeom prst="rect">
            <a:avLst/>
          </a:prstGeom>
        </p:spPr>
      </p:pic>
      <p:sp>
        <p:nvSpPr>
          <p:cNvPr id="11" name="Text 7"/>
          <p:cNvSpPr/>
          <p:nvPr/>
        </p:nvSpPr>
        <p:spPr>
          <a:xfrm>
            <a:off x="5349240" y="1490472"/>
            <a:ext cx="3108960" cy="38404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댓글이라는 별도의 광맥</a:t>
            </a:r>
            <a:endParaRPr lang="en-US" sz="1300" dirty="0"/>
          </a:p>
        </p:txBody>
      </p:sp>
      <p:sp>
        <p:nvSpPr>
          <p:cNvPr id="12" name="Text 8"/>
          <p:cNvSpPr/>
          <p:nvPr/>
        </p:nvSpPr>
        <p:spPr>
          <a:xfrm>
            <a:off x="4864608" y="1938528"/>
            <a:ext cx="356616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쇼츠 댓글 1,467개 영상분. 블로그는 “이 카페가 무엇인가”를, 댓글은 “사람들이 어떻게 느끼는가”를 말한다.</a:t>
            </a:r>
            <a:endParaRPr lang="en-US" sz="950" dirty="0"/>
          </a:p>
        </p:txBody>
      </p:sp>
      <p:sp>
        <p:nvSpPr>
          <p:cNvPr id="13" name="Shape 9"/>
          <p:cNvSpPr/>
          <p:nvPr/>
        </p:nvSpPr>
        <p:spPr>
          <a:xfrm>
            <a:off x="4864608"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4" name="Text 10"/>
          <p:cNvSpPr/>
          <p:nvPr/>
        </p:nvSpPr>
        <p:spPr>
          <a:xfrm>
            <a:off x="4864608"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“2층 무더움”</a:t>
            </a:r>
            <a:endParaRPr lang="en-US" sz="850" dirty="0"/>
          </a:p>
        </p:txBody>
      </p:sp>
      <p:sp>
        <p:nvSpPr>
          <p:cNvPr id="15" name="Shape 11"/>
          <p:cNvSpPr/>
          <p:nvPr/>
        </p:nvSpPr>
        <p:spPr>
          <a:xfrm>
            <a:off x="6071616"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6" name="Text 12"/>
          <p:cNvSpPr/>
          <p:nvPr/>
        </p:nvSpPr>
        <p:spPr>
          <a:xfrm>
            <a:off x="6071616"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“에어컨 고장”</a:t>
            </a:r>
            <a:endParaRPr lang="en-US" sz="850" dirty="0"/>
          </a:p>
        </p:txBody>
      </p:sp>
      <p:sp>
        <p:nvSpPr>
          <p:cNvPr id="17" name="Shape 13"/>
          <p:cNvSpPr/>
          <p:nvPr/>
        </p:nvSpPr>
        <p:spPr>
          <a:xfrm>
            <a:off x="7278624"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8" name="Text 14"/>
          <p:cNvSpPr/>
          <p:nvPr/>
        </p:nvSpPr>
        <p:spPr>
          <a:xfrm>
            <a:off x="7278624"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“자리 차지 심함”</a:t>
            </a:r>
            <a:endParaRPr lang="en-US" sz="850" dirty="0"/>
          </a:p>
        </p:txBody>
      </p:sp>
      <p:sp>
        <p:nvSpPr>
          <p:cNvPr id="19" name="Text 15"/>
          <p:cNvSpPr/>
          <p:nvPr/>
        </p:nvSpPr>
        <p:spPr>
          <a:xfrm>
            <a:off x="4864608" y="2862072"/>
            <a:ext cx="3566160" cy="237744"/>
          </a:xfrm>
          <a:prstGeom prst="rect">
            <a:avLst/>
          </a:prstGeom>
          <a:noFill/>
          <a:ln/>
        </p:spPr>
        <p:txBody>
          <a:bodyPr wrap="square" lIns="0" tIns="0" rIns="0" bIns="0" rtlCol="0" anchor="ctr"/>
          <a:lstStyle/>
          <a:p>
            <a:pPr marL="0" indent="0">
              <a:buNone/>
            </a:pPr>
            <a:r>
              <a:rPr lang="en-US" sz="850" i="1" dirty="0">
                <a:solidFill>
                  <a:srgbClr val="9AA9AC"/>
                </a:solidFill>
                <a:latin typeface="맑은 고딕" pitchFamily="34" charset="0"/>
                <a:ea typeface="맑은 고딕" pitchFamily="34" charset="-122"/>
                <a:cs typeface="맑은 고딕" pitchFamily="34" charset="-120"/>
              </a:rPr>
              <a:t>블로그에는 절대 나오지 않는 문장들</a:t>
            </a:r>
            <a:endParaRPr lang="en-US" sz="850" dirty="0"/>
          </a:p>
        </p:txBody>
      </p:sp>
      <p:sp>
        <p:nvSpPr>
          <p:cNvPr id="20" name="Shape 16"/>
          <p:cNvSpPr/>
          <p:nvPr/>
        </p:nvSpPr>
        <p:spPr>
          <a:xfrm>
            <a:off x="4864608" y="3200400"/>
            <a:ext cx="3566160" cy="1133856"/>
          </a:xfrm>
          <a:prstGeom prst="roundRect">
            <a:avLst>
              <a:gd name="adj" fmla="val 8065"/>
            </a:avLst>
          </a:prstGeom>
          <a:solidFill>
            <a:srgbClr val="E7F3F1"/>
          </a:solidFill>
          <a:ln w="12700">
            <a:solidFill>
              <a:srgbClr val="333333"/>
            </a:solidFill>
            <a:prstDash val="solid"/>
          </a:ln>
        </p:spPr>
        <p:txBody>
          <a:bodyPr/>
          <a:lstStyle/>
          <a:p>
            <a:endParaRPr lang="ko-KR" altLang="en-US"/>
          </a:p>
        </p:txBody>
      </p:sp>
      <p:sp>
        <p:nvSpPr>
          <p:cNvPr id="21" name="Text 17"/>
          <p:cNvSpPr/>
          <p:nvPr/>
        </p:nvSpPr>
        <p:spPr>
          <a:xfrm>
            <a:off x="5010912" y="3291840"/>
            <a:ext cx="329184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단, 반응은 임베딩에 넣지 않는다</a:t>
            </a:r>
            <a:endParaRPr lang="en-US" sz="1050" dirty="0"/>
          </a:p>
        </p:txBody>
      </p:sp>
      <p:sp>
        <p:nvSpPr>
          <p:cNvPr id="22" name="Text 18"/>
          <p:cNvSpPr/>
          <p:nvPr/>
        </p:nvSpPr>
        <p:spPr>
          <a:xfrm>
            <a:off x="5010912" y="3566160"/>
            <a:ext cx="3291840" cy="685800"/>
          </a:xfrm>
          <a:prstGeom prst="rect">
            <a:avLst/>
          </a:prstGeom>
          <a:noFill/>
          <a:ln/>
        </p:spPr>
        <p:txBody>
          <a:bodyPr wrap="square" lIns="0" tIns="0" rIns="0" bIns="0" rtlCol="0" anchor="ctr"/>
          <a:lstStyle/>
          <a:p>
            <a:pPr marL="0" indent="0">
              <a:lnSpc>
                <a:spcPts val="1400"/>
              </a:lnSpc>
              <a:buNone/>
            </a:pPr>
            <a:r>
              <a:rPr lang="en-US" sz="900" dirty="0">
                <a:solidFill>
                  <a:srgbClr val="3F5C5E"/>
                </a:solidFill>
                <a:latin typeface="맑은 고딕" pitchFamily="34" charset="0"/>
                <a:ea typeface="맑은 고딕" pitchFamily="34" charset="-122"/>
                <a:cs typeface="맑은 고딕" pitchFamily="34" charset="-120"/>
              </a:rPr>
              <a:t>감정 표현은 아무 검색어에나 걸리는 “만능 자석”이 된다. 귀속도 보수적으로 — 한 카페만 나온 영상이거나 본문에 카페명이 있을 때만 인정, 애매하면 버린다.</a:t>
            </a:r>
            <a:endParaRPr lang="en-US" sz="900" dirty="0"/>
          </a:p>
        </p:txBody>
      </p:sp>
      <p:sp>
        <p:nvSpPr>
          <p:cNvPr id="23" name="Text 1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4" name="Text 2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③</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살아있는 카페만 남기는 3중 방어</a:t>
            </a:r>
            <a:endParaRPr lang="en-US" sz="2700" dirty="0"/>
          </a:p>
        </p:txBody>
      </p:sp>
      <p:sp>
        <p:nvSpPr>
          <p:cNvPr id="4" name="Shape 2"/>
          <p:cNvSpPr/>
          <p:nvPr/>
        </p:nvSpPr>
        <p:spPr>
          <a:xfrm>
            <a:off x="50292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5" name="Text 3"/>
          <p:cNvSpPr/>
          <p:nvPr/>
        </p:nvSpPr>
        <p:spPr>
          <a:xfrm>
            <a:off x="57607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상호 확인</a:t>
            </a:r>
            <a:endParaRPr lang="en-US" sz="1050" dirty="0"/>
          </a:p>
        </p:txBody>
      </p:sp>
      <p:sp>
        <p:nvSpPr>
          <p:cNvPr id="6" name="Text 4"/>
          <p:cNvSpPr/>
          <p:nvPr/>
        </p:nvSpPr>
        <p:spPr>
          <a:xfrm>
            <a:off x="57607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이름이 실제로 조회되는가</a:t>
            </a:r>
            <a:endParaRPr lang="en-US" sz="820" dirty="0"/>
          </a:p>
        </p:txBody>
      </p:sp>
      <p:sp>
        <p:nvSpPr>
          <p:cNvPr id="7" name="Shape 5"/>
          <p:cNvSpPr/>
          <p:nvPr/>
        </p:nvSpPr>
        <p:spPr>
          <a:xfrm>
            <a:off x="192024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199339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유효 후기</a:t>
            </a:r>
            <a:endParaRPr lang="en-US" sz="1050" dirty="0"/>
          </a:p>
        </p:txBody>
      </p:sp>
      <p:sp>
        <p:nvSpPr>
          <p:cNvPr id="9" name="Text 7"/>
          <p:cNvSpPr/>
          <p:nvPr/>
        </p:nvSpPr>
        <p:spPr>
          <a:xfrm>
            <a:off x="199339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2024년 이후 실방문 글이 있는가</a:t>
            </a:r>
            <a:endParaRPr lang="en-US" sz="820" dirty="0"/>
          </a:p>
        </p:txBody>
      </p:sp>
      <p:sp>
        <p:nvSpPr>
          <p:cNvPr id="10" name="Shape 8"/>
          <p:cNvSpPr/>
          <p:nvPr/>
        </p:nvSpPr>
        <p:spPr>
          <a:xfrm>
            <a:off x="333756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11" name="Text 9"/>
          <p:cNvSpPr/>
          <p:nvPr/>
        </p:nvSpPr>
        <p:spPr>
          <a:xfrm>
            <a:off x="341071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공공 명부</a:t>
            </a:r>
            <a:endParaRPr lang="en-US" sz="1050" dirty="0"/>
          </a:p>
        </p:txBody>
      </p:sp>
      <p:sp>
        <p:nvSpPr>
          <p:cNvPr id="12" name="Text 10"/>
          <p:cNvSpPr/>
          <p:nvPr/>
        </p:nvSpPr>
        <p:spPr>
          <a:xfrm>
            <a:off x="341071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카페 registry에 등재돼 있는가</a:t>
            </a:r>
            <a:endParaRPr lang="en-US" sz="820" dirty="0"/>
          </a:p>
        </p:txBody>
      </p:sp>
      <p:sp>
        <p:nvSpPr>
          <p:cNvPr id="13" name="Text 11"/>
          <p:cNvSpPr/>
          <p:nvPr/>
        </p:nvSpPr>
        <p:spPr>
          <a:xfrm>
            <a:off x="502920" y="2395728"/>
            <a:ext cx="4114800" cy="274320"/>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3신호 교차 판정</a:t>
            </a:r>
            <a:endParaRPr lang="en-US" sz="1000" dirty="0"/>
          </a:p>
        </p:txBody>
      </p:sp>
      <p:sp>
        <p:nvSpPr>
          <p:cNvPr id="14" name="Shape 12"/>
          <p:cNvSpPr/>
          <p:nvPr/>
        </p:nvSpPr>
        <p:spPr>
          <a:xfrm>
            <a:off x="502920" y="2724912"/>
            <a:ext cx="1280160" cy="914400"/>
          </a:xfrm>
          <a:prstGeom prst="roundRect">
            <a:avLst>
              <a:gd name="adj" fmla="val 12000"/>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76072" y="2816352"/>
            <a:ext cx="1133856" cy="457200"/>
          </a:xfrm>
          <a:prstGeom prst="rect">
            <a:avLst/>
          </a:prstGeom>
          <a:noFill/>
          <a:ln/>
        </p:spPr>
        <p:txBody>
          <a:bodyPr wrap="square" lIns="0" tIns="0" rIns="0" bIns="0" rtlCol="0" anchor="ctr"/>
          <a:lstStyle/>
          <a:p>
            <a:pPr marL="0" indent="0" algn="ctr">
              <a:buNone/>
            </a:pPr>
            <a:r>
              <a:rPr lang="en-US" sz="2200" b="1" dirty="0">
                <a:solidFill>
                  <a:srgbClr val="168A7E"/>
                </a:solidFill>
                <a:latin typeface="맑은 고딕" pitchFamily="34" charset="0"/>
                <a:ea typeface="맑은 고딕" pitchFamily="34" charset="-122"/>
                <a:cs typeface="맑은 고딕" pitchFamily="34" charset="-120"/>
              </a:rPr>
              <a:t>876</a:t>
            </a:r>
            <a:endParaRPr lang="en-US" sz="2200" dirty="0"/>
          </a:p>
        </p:txBody>
      </p:sp>
      <p:sp>
        <p:nvSpPr>
          <p:cNvPr id="16" name="Text 14"/>
          <p:cNvSpPr/>
          <p:nvPr/>
        </p:nvSpPr>
        <p:spPr>
          <a:xfrm>
            <a:off x="57607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유지</a:t>
            </a:r>
            <a:endParaRPr lang="en-US" sz="1000" dirty="0"/>
          </a:p>
        </p:txBody>
      </p:sp>
      <p:sp>
        <p:nvSpPr>
          <p:cNvPr id="17" name="Shape 15"/>
          <p:cNvSpPr/>
          <p:nvPr/>
        </p:nvSpPr>
        <p:spPr>
          <a:xfrm>
            <a:off x="1920240" y="2724912"/>
            <a:ext cx="1280160" cy="914400"/>
          </a:xfrm>
          <a:prstGeom prst="roundRect">
            <a:avLst>
              <a:gd name="adj" fmla="val 12000"/>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8" name="Text 16"/>
          <p:cNvSpPr/>
          <p:nvPr/>
        </p:nvSpPr>
        <p:spPr>
          <a:xfrm>
            <a:off x="1993392" y="2816352"/>
            <a:ext cx="1133856" cy="457200"/>
          </a:xfrm>
          <a:prstGeom prst="rect">
            <a:avLst/>
          </a:prstGeom>
          <a:noFill/>
          <a:ln/>
        </p:spPr>
        <p:txBody>
          <a:bodyPr wrap="square" lIns="0" tIns="0" rIns="0" bIns="0" rtlCol="0" anchor="ctr"/>
          <a:lstStyle/>
          <a:p>
            <a:pPr marL="0" indent="0" algn="ctr">
              <a:buNone/>
            </a:pPr>
            <a:r>
              <a:rPr lang="en-US" sz="2200" b="1" dirty="0">
                <a:solidFill>
                  <a:srgbClr val="8A4E14"/>
                </a:solidFill>
                <a:latin typeface="맑은 고딕" pitchFamily="34" charset="0"/>
                <a:ea typeface="맑은 고딕" pitchFamily="34" charset="-122"/>
                <a:cs typeface="맑은 고딕" pitchFamily="34" charset="-120"/>
              </a:rPr>
              <a:t>134</a:t>
            </a:r>
            <a:endParaRPr lang="en-US" sz="2200" dirty="0"/>
          </a:p>
        </p:txBody>
      </p:sp>
      <p:sp>
        <p:nvSpPr>
          <p:cNvPr id="19" name="Text 17"/>
          <p:cNvSpPr/>
          <p:nvPr/>
        </p:nvSpPr>
        <p:spPr>
          <a:xfrm>
            <a:off x="199339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보류</a:t>
            </a:r>
            <a:endParaRPr lang="en-US" sz="1000" dirty="0"/>
          </a:p>
        </p:txBody>
      </p:sp>
      <p:sp>
        <p:nvSpPr>
          <p:cNvPr id="20" name="Shape 18"/>
          <p:cNvSpPr/>
          <p:nvPr/>
        </p:nvSpPr>
        <p:spPr>
          <a:xfrm>
            <a:off x="3337560" y="2724912"/>
            <a:ext cx="1280160" cy="914400"/>
          </a:xfrm>
          <a:prstGeom prst="roundRect">
            <a:avLst>
              <a:gd name="adj" fmla="val 12000"/>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3410712" y="2816352"/>
            <a:ext cx="1133856" cy="457200"/>
          </a:xfrm>
          <a:prstGeom prst="rect">
            <a:avLst/>
          </a:prstGeom>
          <a:noFill/>
          <a:ln/>
        </p:spPr>
        <p:txBody>
          <a:bodyPr wrap="square" lIns="0" tIns="0" rIns="0" bIns="0" rtlCol="0" anchor="ctr"/>
          <a:lstStyle/>
          <a:p>
            <a:pPr marL="0" indent="0" algn="ctr">
              <a:buNone/>
            </a:pPr>
            <a:r>
              <a:rPr lang="en-US" sz="2200" b="1" dirty="0">
                <a:solidFill>
                  <a:srgbClr val="6B7B7E"/>
                </a:solidFill>
                <a:latin typeface="맑은 고딕" pitchFamily="34" charset="0"/>
                <a:ea typeface="맑은 고딕" pitchFamily="34" charset="-122"/>
                <a:cs typeface="맑은 고딕" pitchFamily="34" charset="-120"/>
              </a:rPr>
              <a:t>49</a:t>
            </a:r>
            <a:endParaRPr lang="en-US" sz="2200" dirty="0"/>
          </a:p>
        </p:txBody>
      </p:sp>
      <p:sp>
        <p:nvSpPr>
          <p:cNvPr id="22" name="Text 20"/>
          <p:cNvSpPr/>
          <p:nvPr/>
        </p:nvSpPr>
        <p:spPr>
          <a:xfrm>
            <a:off x="341071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제외</a:t>
            </a:r>
            <a:endParaRPr lang="en-US" sz="1000" dirty="0"/>
          </a:p>
        </p:txBody>
      </p:sp>
      <p:sp>
        <p:nvSpPr>
          <p:cNvPr id="23" name="Text 21"/>
          <p:cNvSpPr/>
          <p:nvPr/>
        </p:nvSpPr>
        <p:spPr>
          <a:xfrm>
            <a:off x="502920" y="3794760"/>
            <a:ext cx="411480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보류 134곳 · 눈 검수 57곳 · 폐업 제보 42건은 자동 판정하지 않고 사람 검수 큐로 보낸다.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애매한 것을 애매하다고 표시하는 편이, 틀린 확신보다 낫다.</a:t>
            </a:r>
            <a:endParaRPr lang="en-US" sz="950" dirty="0"/>
          </a:p>
        </p:txBody>
      </p:sp>
      <p:sp>
        <p:nvSpPr>
          <p:cNvPr id="24" name="Shape 22"/>
          <p:cNvSpPr/>
          <p:nvPr/>
        </p:nvSpPr>
        <p:spPr>
          <a:xfrm>
            <a:off x="4892040" y="1325880"/>
            <a:ext cx="37490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5074920" y="1463040"/>
            <a:ext cx="3383280" cy="292608"/>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자동 폐업 검출 — 파이프라인의 자가 발견</a:t>
            </a:r>
            <a:endParaRPr lang="en-US" sz="1200" dirty="0"/>
          </a:p>
        </p:txBody>
      </p:sp>
      <p:sp>
        <p:nvSpPr>
          <p:cNvPr id="26" name="Text 24"/>
          <p:cNvSpPr/>
          <p:nvPr/>
        </p:nvSpPr>
        <p:spPr>
          <a:xfrm>
            <a:off x="5074920" y="1764792"/>
            <a:ext cx="3383280" cy="237744"/>
          </a:xfrm>
          <a:prstGeom prst="rect">
            <a:avLst/>
          </a:prstGeom>
          <a:noFill/>
          <a:ln/>
        </p:spPr>
        <p:txBody>
          <a:bodyPr wrap="square" lIns="0" tIns="0" rIns="0" bIns="0" rtlCol="0" anchor="ctr"/>
          <a:lstStyle/>
          <a:p>
            <a:pPr marL="0" indent="0">
              <a:buNone/>
            </a:pPr>
            <a:r>
              <a:rPr lang="en-US" sz="950" dirty="0">
                <a:solidFill>
                  <a:srgbClr val="5F7175"/>
                </a:solidFill>
                <a:latin typeface="맑은 고딕" pitchFamily="34" charset="0"/>
                <a:ea typeface="맑은 고딕" pitchFamily="34" charset="-122"/>
                <a:cs typeface="맑은 고딕" pitchFamily="34" charset="-120"/>
              </a:rPr>
              <a:t>블로그 정제 단계에서 폐업 단서 11곳 자동 검출</a:t>
            </a:r>
            <a:endParaRPr lang="en-US" sz="950" dirty="0"/>
          </a:p>
        </p:txBody>
      </p:sp>
      <p:sp>
        <p:nvSpPr>
          <p:cNvPr id="27" name="Shape 25"/>
          <p:cNvSpPr/>
          <p:nvPr/>
        </p:nvSpPr>
        <p:spPr>
          <a:xfrm>
            <a:off x="5074920" y="2084832"/>
            <a:ext cx="3383280" cy="1481328"/>
          </a:xfrm>
          <a:prstGeom prst="roundRect">
            <a:avLst>
              <a:gd name="adj" fmla="val 6173"/>
            </a:avLst>
          </a:prstGeom>
          <a:solidFill>
            <a:srgbClr val="F4FAF9"/>
          </a:solidFill>
          <a:ln w="9525">
            <a:solidFill>
              <a:srgbClr val="DCE6E3"/>
            </a:solidFill>
            <a:prstDash val="solid"/>
          </a:ln>
        </p:spPr>
        <p:txBody>
          <a:bodyPr/>
          <a:lstStyle/>
          <a:p>
            <a:endParaRPr lang="ko-KR" altLang="en-US"/>
          </a:p>
        </p:txBody>
      </p:sp>
      <p:sp>
        <p:nvSpPr>
          <p:cNvPr id="28" name="Text 26"/>
          <p:cNvSpPr/>
          <p:nvPr/>
        </p:nvSpPr>
        <p:spPr>
          <a:xfrm>
            <a:off x="5230368" y="2194560"/>
            <a:ext cx="310896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사례 — 카페 “오아시스80”</a:t>
            </a:r>
            <a:endParaRPr lang="en-US" sz="1050" dirty="0"/>
          </a:p>
        </p:txBody>
      </p:sp>
      <p:sp>
        <p:nvSpPr>
          <p:cNvPr id="29" name="Text 27"/>
          <p:cNvSpPr/>
          <p:nvPr/>
        </p:nvSpPr>
        <p:spPr>
          <a:xfrm>
            <a:off x="5230368" y="2487168"/>
            <a:ext cx="3108960" cy="960120"/>
          </a:xfrm>
          <a:prstGeom prst="rect">
            <a:avLst/>
          </a:prstGeom>
          <a:noFill/>
          <a:ln/>
        </p:spPr>
        <p:txBody>
          <a:bodyPr wrap="square" lIns="0" tIns="0" rIns="0" bIns="0" rtlCol="0" anchor="ctr"/>
          <a:lstStyle/>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감성 태그가 붙어 있는데 댓글에는</a:t>
            </a:r>
            <a:endParaRPr lang="en-US" sz="950" dirty="0"/>
          </a:p>
          <a:p>
            <a:pPr marL="0" indent="0">
              <a:lnSpc>
                <a:spcPts val="1600"/>
              </a:lnSpc>
              <a:buNone/>
            </a:pPr>
            <a:r>
              <a:rPr lang="en-US" sz="950" b="1" dirty="0">
                <a:solidFill>
                  <a:srgbClr val="E8842B"/>
                </a:solidFill>
                <a:latin typeface="맑은 고딕" pitchFamily="34" charset="0"/>
                <a:ea typeface="맑은 고딕" pitchFamily="34" charset="-122"/>
                <a:cs typeface="맑은 고딕" pitchFamily="34" charset="-120"/>
              </a:rPr>
              <a:t>“폐건물인 줄”,  “짓다 만 듯”</a:t>
            </a:r>
            <a:endParaRPr lang="en-US" sz="950" dirty="0"/>
          </a:p>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 우리가 수동으로 찾아낸 문제를 파이프라인이 독립적으로 재발견했다.</a:t>
            </a:r>
            <a:endParaRPr lang="en-US" sz="950" dirty="0"/>
          </a:p>
        </p:txBody>
      </p:sp>
      <p:sp>
        <p:nvSpPr>
          <p:cNvPr id="30" name="Text 28"/>
          <p:cNvSpPr/>
          <p:nvPr/>
        </p:nvSpPr>
        <p:spPr>
          <a:xfrm>
            <a:off x="5074920" y="3703320"/>
            <a:ext cx="3429000" cy="640080"/>
          </a:xfrm>
          <a:prstGeom prst="rect">
            <a:avLst/>
          </a:prstGeom>
          <a:noFill/>
          <a:ln/>
        </p:spPr>
        <p:txBody>
          <a:bodyPr wrap="square" lIns="0" tIns="0" rIns="0" bIns="0" rtlCol="0" anchor="ctr"/>
          <a:lstStyle/>
          <a:p>
            <a:pPr marL="0" indent="0">
              <a:lnSpc>
                <a:spcPts val="1500"/>
              </a:lnSpc>
              <a:buNone/>
            </a:pPr>
            <a:r>
              <a:rPr lang="en-US" sz="950" i="1" dirty="0">
                <a:solidFill>
                  <a:srgbClr val="168A7E"/>
                </a:solidFill>
                <a:latin typeface="맑은 고딕" pitchFamily="34" charset="0"/>
                <a:ea typeface="맑은 고딕" pitchFamily="34" charset="-122"/>
                <a:cs typeface="맑은 고딕" pitchFamily="34" charset="-120"/>
              </a:rPr>
              <a:t>근거 극성 분리가 태그 품질 검사까지 겸한다 — “태그와 모순되는 증거” 목록이 부산물로 나온다.</a:t>
            </a:r>
            <a:endParaRPr lang="en-US" sz="950" dirty="0"/>
          </a:p>
        </p:txBody>
      </p:sp>
      <p:sp>
        <p:nvSpPr>
          <p:cNvPr id="31" name="Text 2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2" name="Text 3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논쟁 대신 실측 — 검색 품질을 정한 실험들</a:t>
            </a:r>
            <a:endParaRPr lang="en-US" sz="2700" dirty="0"/>
          </a:p>
        </p:txBody>
      </p:sp>
      <p:sp>
        <p:nvSpPr>
          <p:cNvPr id="4" name="Shape 2"/>
          <p:cNvSpPr/>
          <p:nvPr/>
        </p:nvSpPr>
        <p:spPr>
          <a:xfrm>
            <a:off x="502920" y="1298448"/>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685800" y="1490472"/>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28446" y="1633118"/>
            <a:ext cx="263347" cy="263347"/>
          </a:xfrm>
          <a:prstGeom prst="rect">
            <a:avLst/>
          </a:prstGeom>
        </p:spPr>
      </p:pic>
      <p:sp>
        <p:nvSpPr>
          <p:cNvPr id="7" name="Text 4"/>
          <p:cNvSpPr/>
          <p:nvPr/>
        </p:nvSpPr>
        <p:spPr>
          <a:xfrm>
            <a:off x="1371600" y="1408176"/>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임베딩 텍스트 3~4자 비교</a:t>
            </a:r>
            <a:endParaRPr lang="en-US" sz="1250" dirty="0"/>
          </a:p>
        </p:txBody>
      </p:sp>
      <p:sp>
        <p:nvSpPr>
          <p:cNvPr id="8" name="Text 5"/>
          <p:cNvSpPr/>
          <p:nvPr/>
        </p:nvSpPr>
        <p:spPr>
          <a:xfrm>
            <a:off x="1371600" y="1700784"/>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구조화 프로필 vs 자연어 요약을 같은 8문항으로 붙였다. 자연어 요약(blog)이 5승 → 서빙 코퍼스 hybrid 385 + blog 851 확정.</a:t>
            </a:r>
            <a:endParaRPr lang="en-US" sz="950" dirty="0"/>
          </a:p>
        </p:txBody>
      </p:sp>
      <p:sp>
        <p:nvSpPr>
          <p:cNvPr id="9" name="Shape 6"/>
          <p:cNvSpPr/>
          <p:nvPr/>
        </p:nvSpPr>
        <p:spPr>
          <a:xfrm>
            <a:off x="6400800" y="1527048"/>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6400800" y="1527048"/>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자연어 요약 5승</a:t>
            </a:r>
            <a:endParaRPr lang="en-US" sz="1200" dirty="0"/>
          </a:p>
        </p:txBody>
      </p:sp>
      <p:sp>
        <p:nvSpPr>
          <p:cNvPr id="11" name="Shape 8"/>
          <p:cNvSpPr/>
          <p:nvPr/>
        </p:nvSpPr>
        <p:spPr>
          <a:xfrm>
            <a:off x="502920" y="2359152"/>
            <a:ext cx="8138160" cy="932688"/>
          </a:xfrm>
          <a:prstGeom prst="roundRect">
            <a:avLst>
              <a:gd name="adj" fmla="val 1176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2" name="Shape 9"/>
          <p:cNvSpPr/>
          <p:nvPr/>
        </p:nvSpPr>
        <p:spPr>
          <a:xfrm>
            <a:off x="685800" y="2551176"/>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13"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28446" y="2693822"/>
            <a:ext cx="263347" cy="263347"/>
          </a:xfrm>
          <a:prstGeom prst="rect">
            <a:avLst/>
          </a:prstGeom>
        </p:spPr>
      </p:pic>
      <p:sp>
        <p:nvSpPr>
          <p:cNvPr id="14" name="Text 10"/>
          <p:cNvSpPr/>
          <p:nvPr/>
        </p:nvSpPr>
        <p:spPr>
          <a:xfrm>
            <a:off x="1371600" y="2468880"/>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동료 시드 평가 (지역 정합)</a:t>
            </a:r>
            <a:endParaRPr lang="en-US" sz="1250" dirty="0"/>
          </a:p>
        </p:txBody>
      </p:sp>
      <p:sp>
        <p:nvSpPr>
          <p:cNvPr id="15" name="Text 11"/>
          <p:cNvSpPr/>
          <p:nvPr/>
        </p:nvSpPr>
        <p:spPr>
          <a:xfrm>
            <a:off x="1371600" y="2761488"/>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키워드 스팸이 섞인 데이터셋은 임베딩에서 배제하고 라벨층으로만 이식. “층을 옮기면 독이 약이 된다.”</a:t>
            </a:r>
            <a:endParaRPr lang="en-US" sz="950" dirty="0"/>
          </a:p>
        </p:txBody>
      </p:sp>
      <p:sp>
        <p:nvSpPr>
          <p:cNvPr id="16" name="Shape 12"/>
          <p:cNvSpPr/>
          <p:nvPr/>
        </p:nvSpPr>
        <p:spPr>
          <a:xfrm>
            <a:off x="6400800" y="2587752"/>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7" name="Text 13"/>
          <p:cNvSpPr/>
          <p:nvPr/>
        </p:nvSpPr>
        <p:spPr>
          <a:xfrm>
            <a:off x="6400800" y="2587752"/>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18/20  vs  11/20</a:t>
            </a:r>
            <a:endParaRPr lang="en-US" sz="1200" dirty="0"/>
          </a:p>
        </p:txBody>
      </p:sp>
      <p:sp>
        <p:nvSpPr>
          <p:cNvPr id="18" name="Shape 14"/>
          <p:cNvSpPr/>
          <p:nvPr/>
        </p:nvSpPr>
        <p:spPr>
          <a:xfrm>
            <a:off x="502920" y="3419856"/>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Shape 15"/>
          <p:cNvSpPr/>
          <p:nvPr/>
        </p:nvSpPr>
        <p:spPr>
          <a:xfrm>
            <a:off x="685800" y="3611880"/>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20"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8446" y="3754526"/>
            <a:ext cx="263347" cy="263347"/>
          </a:xfrm>
          <a:prstGeom prst="rect">
            <a:avLst/>
          </a:prstGeom>
        </p:spPr>
      </p:pic>
      <p:sp>
        <p:nvSpPr>
          <p:cNvPr id="21" name="Text 16"/>
          <p:cNvSpPr/>
          <p:nvPr/>
        </p:nvSpPr>
        <p:spPr>
          <a:xfrm>
            <a:off x="1371600" y="3529584"/>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태그 사전 프롬프트 구속 실험</a:t>
            </a:r>
            <a:endParaRPr lang="en-US" sz="1250" dirty="0"/>
          </a:p>
        </p:txBody>
      </p:sp>
      <p:sp>
        <p:nvSpPr>
          <p:cNvPr id="22" name="Text 17"/>
          <p:cNvSpPr/>
          <p:nvPr/>
        </p:nvSpPr>
        <p:spPr>
          <a:xfrm>
            <a:off x="1371600" y="3822192"/>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“사전 20개만 쓰라”고 지시해도 LLM은 이탈한다. 강제는 코드가 하고, 이탈 태그는 버리지 않고 사전 승격 후보로 축적.</a:t>
            </a:r>
            <a:endParaRPr lang="en-US" sz="950" dirty="0"/>
          </a:p>
        </p:txBody>
      </p:sp>
      <p:sp>
        <p:nvSpPr>
          <p:cNvPr id="23" name="Shape 18"/>
          <p:cNvSpPr/>
          <p:nvPr/>
        </p:nvSpPr>
        <p:spPr>
          <a:xfrm>
            <a:off x="6400800" y="3648456"/>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24" name="Text 19"/>
          <p:cNvSpPr/>
          <p:nvPr/>
        </p:nvSpPr>
        <p:spPr>
          <a:xfrm>
            <a:off x="6400800" y="3648456"/>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프롬프트만으론 샌다</a:t>
            </a:r>
            <a:endParaRPr lang="en-US" sz="1200" dirty="0"/>
          </a:p>
        </p:txBody>
      </p:sp>
      <p:sp>
        <p:nvSpPr>
          <p:cNvPr id="25" name="Text 20"/>
          <p:cNvSpPr/>
          <p:nvPr/>
        </p:nvSpPr>
        <p:spPr>
          <a:xfrm>
            <a:off x="502920" y="4407408"/>
            <a:ext cx="8138160" cy="274320"/>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모든 LLM 배치는 파일럿 → 육안 검증 → 전량 순서. 근거 극성 파일럿에서 가십·반어 밈 등 오염 4유형을 실측해 프롬프트에 반영했다.</a:t>
            </a:r>
            <a:endParaRPr lang="en-US" sz="950" dirty="0"/>
          </a:p>
        </p:txBody>
      </p:sp>
      <p:sp>
        <p:nvSpPr>
          <p:cNvPr id="26" name="Text 21"/>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7" name="Text 22"/>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“해지개” 사건 — 이름으로 잇는 방식의 은퇴</a:t>
            </a:r>
            <a:endParaRPr lang="en-US" sz="2700" dirty="0"/>
          </a:p>
        </p:txBody>
      </p:sp>
      <p:sp>
        <p:nvSpPr>
          <p:cNvPr id="4" name="Shape 2"/>
          <p:cNvSpPr/>
          <p:nvPr/>
        </p:nvSpPr>
        <p:spPr>
          <a:xfrm>
            <a:off x="502920" y="1298448"/>
            <a:ext cx="3977640" cy="1783080"/>
          </a:xfrm>
          <a:prstGeom prst="roundRect">
            <a:avLst>
              <a:gd name="adj" fmla="val 61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13232" y="1481328"/>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2104" y="1600200"/>
            <a:ext cx="219456" cy="219456"/>
          </a:xfrm>
          <a:prstGeom prst="rect">
            <a:avLst/>
          </a:prstGeom>
        </p:spPr>
      </p:pic>
      <p:sp>
        <p:nvSpPr>
          <p:cNvPr id="7" name="Text 4"/>
          <p:cNvSpPr/>
          <p:nvPr/>
        </p:nvSpPr>
        <p:spPr>
          <a:xfrm>
            <a:off x="1298448" y="1481328"/>
            <a:ext cx="306324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이름은 흔들리고, 식별자는 흔들리지 않는다</a:t>
            </a:r>
            <a:endParaRPr lang="en-US" sz="1200" dirty="0"/>
          </a:p>
        </p:txBody>
      </p:sp>
      <p:sp>
        <p:nvSpPr>
          <p:cNvPr id="8" name="Text 5"/>
          <p:cNvSpPr/>
          <p:nvPr/>
        </p:nvSpPr>
        <p:spPr>
          <a:xfrm>
            <a:off x="713232" y="2011680"/>
            <a:ext cx="3611880" cy="54864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“해지개” 하나가 이름 표기 차이로 검색을 계속 헛돌게 했다. 이름 문자열 조인을 은퇴시키고 카카오 place_id를 정본 키로 세웠다.</a:t>
            </a:r>
            <a:endParaRPr lang="en-US" sz="950" dirty="0"/>
          </a:p>
        </p:txBody>
      </p:sp>
      <p:sp>
        <p:nvSpPr>
          <p:cNvPr id="9" name="Text 6"/>
          <p:cNvSpPr/>
          <p:nvPr/>
        </p:nvSpPr>
        <p:spPr>
          <a:xfrm>
            <a:off x="713232"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787곳</a:t>
            </a:r>
            <a:endParaRPr lang="en-US" sz="1400" dirty="0"/>
          </a:p>
        </p:txBody>
      </p:sp>
      <p:sp>
        <p:nvSpPr>
          <p:cNvPr id="10" name="Text 7"/>
          <p:cNvSpPr/>
          <p:nvPr/>
        </p:nvSpPr>
        <p:spPr>
          <a:xfrm>
            <a:off x="713232"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place_id 확보 (78%)</a:t>
            </a:r>
            <a:endParaRPr lang="en-US" sz="800" dirty="0"/>
          </a:p>
        </p:txBody>
      </p:sp>
      <p:sp>
        <p:nvSpPr>
          <p:cNvPr id="11" name="Text 8"/>
          <p:cNvSpPr/>
          <p:nvPr/>
        </p:nvSpPr>
        <p:spPr>
          <a:xfrm>
            <a:off x="1938528"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122그룹</a:t>
            </a:r>
            <a:endParaRPr lang="en-US" sz="1400" dirty="0"/>
          </a:p>
        </p:txBody>
      </p:sp>
      <p:sp>
        <p:nvSpPr>
          <p:cNvPr id="12" name="Text 9"/>
          <p:cNvSpPr/>
          <p:nvPr/>
        </p:nvSpPr>
        <p:spPr>
          <a:xfrm>
            <a:off x="1938528"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중복 자동 검출</a:t>
            </a:r>
            <a:endParaRPr lang="en-US" sz="800" dirty="0"/>
          </a:p>
        </p:txBody>
      </p:sp>
      <p:sp>
        <p:nvSpPr>
          <p:cNvPr id="13" name="Text 10"/>
          <p:cNvSpPr/>
          <p:nvPr/>
        </p:nvSpPr>
        <p:spPr>
          <a:xfrm>
            <a:off x="3163824"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57곳</a:t>
            </a:r>
            <a:endParaRPr lang="en-US" sz="1400" dirty="0"/>
          </a:p>
        </p:txBody>
      </p:sp>
      <p:sp>
        <p:nvSpPr>
          <p:cNvPr id="14" name="Text 11"/>
          <p:cNvSpPr/>
          <p:nvPr/>
        </p:nvSpPr>
        <p:spPr>
          <a:xfrm>
            <a:off x="3163824"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눈 검수 큐</a:t>
            </a:r>
            <a:endParaRPr lang="en-US" sz="800" dirty="0"/>
          </a:p>
        </p:txBody>
      </p:sp>
      <p:sp>
        <p:nvSpPr>
          <p:cNvPr id="15" name="Shape 12"/>
          <p:cNvSpPr/>
          <p:nvPr/>
        </p:nvSpPr>
        <p:spPr>
          <a:xfrm>
            <a:off x="502920" y="3200400"/>
            <a:ext cx="3977640" cy="1325880"/>
          </a:xfrm>
          <a:prstGeom prst="roundRect">
            <a:avLst>
              <a:gd name="adj" fmla="val 8276"/>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3"/>
          <p:cNvSpPr/>
          <p:nvPr/>
        </p:nvSpPr>
        <p:spPr>
          <a:xfrm>
            <a:off x="713232" y="3364992"/>
            <a:ext cx="402336" cy="402336"/>
          </a:xfrm>
          <a:prstGeom prst="ellipse">
            <a:avLst/>
          </a:prstGeom>
          <a:solidFill>
            <a:srgbClr val="168A7E"/>
          </a:solidFill>
          <a:ln w="12700">
            <a:solidFill>
              <a:srgbClr val="168A7E"/>
            </a:solidFill>
            <a:prstDash val="solid"/>
          </a:ln>
        </p:spPr>
        <p:txBody>
          <a:bodyPr/>
          <a:lstStyle/>
          <a:p>
            <a:endParaRPr lang="ko-KR" altLang="en-US"/>
          </a:p>
        </p:txBody>
      </p:sp>
      <p:pic>
        <p:nvPicPr>
          <p:cNvPr id="17"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17839" y="3469599"/>
            <a:ext cx="193121" cy="193121"/>
          </a:xfrm>
          <a:prstGeom prst="rect">
            <a:avLst/>
          </a:prstGeom>
        </p:spPr>
      </p:pic>
      <p:sp>
        <p:nvSpPr>
          <p:cNvPr id="18" name="Text 14"/>
          <p:cNvSpPr/>
          <p:nvPr/>
        </p:nvSpPr>
        <p:spPr>
          <a:xfrm>
            <a:off x="1225296" y="3364992"/>
            <a:ext cx="3108960" cy="402336"/>
          </a:xfrm>
          <a:prstGeom prst="rect">
            <a:avLst/>
          </a:prstGeom>
          <a:noFill/>
          <a:ln/>
        </p:spPr>
        <p:txBody>
          <a:bodyPr wrap="square" lIns="0" tIns="0" rIns="0" bIns="0" rtlCol="0" anchor="ctr"/>
          <a:lstStyle/>
          <a:p>
            <a:pPr marL="0" indent="0">
              <a:buNone/>
            </a:pPr>
            <a:r>
              <a:rPr lang="en-US" sz="1150" b="1" dirty="0">
                <a:solidFill>
                  <a:srgbClr val="1F2933"/>
                </a:solidFill>
                <a:latin typeface="맑은 고딕" pitchFamily="34" charset="0"/>
                <a:ea typeface="맑은 고딕" pitchFamily="34" charset="-122"/>
                <a:cs typeface="맑은 고딕" pitchFamily="34" charset="-120"/>
              </a:rPr>
              <a:t>지역 정본화 — 추측을 주소로 교체</a:t>
            </a:r>
            <a:endParaRPr lang="en-US" sz="1150" dirty="0"/>
          </a:p>
        </p:txBody>
      </p:sp>
      <p:sp>
        <p:nvSpPr>
          <p:cNvPr id="19" name="Text 15"/>
          <p:cNvSpPr/>
          <p:nvPr/>
        </p:nvSpPr>
        <p:spPr>
          <a:xfrm>
            <a:off x="713232" y="3840480"/>
            <a:ext cx="3611880" cy="56692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LLM이 추측한 지역 라벨의 오염율 24.6% (넷에 하나가 오답). 전부 폐기하고 주소에서 코드로 유도하는 2단 체계(권역/세부)로 교체 — 880곳 교정.</a:t>
            </a:r>
            <a:endParaRPr lang="en-US" sz="950" dirty="0"/>
          </a:p>
        </p:txBody>
      </p:sp>
      <p:sp>
        <p:nvSpPr>
          <p:cNvPr id="20" name="Shape 16"/>
          <p:cNvSpPr/>
          <p:nvPr/>
        </p:nvSpPr>
        <p:spPr>
          <a:xfrm>
            <a:off x="4663440" y="1298448"/>
            <a:ext cx="3977640" cy="3227832"/>
          </a:xfrm>
          <a:prstGeom prst="roundRect">
            <a:avLst>
              <a:gd name="adj" fmla="val 339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4864608" y="1481328"/>
            <a:ext cx="457200" cy="457200"/>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4983480" y="1600200"/>
            <a:ext cx="219456" cy="219456"/>
          </a:xfrm>
          <a:prstGeom prst="rect">
            <a:avLst/>
          </a:prstGeom>
        </p:spPr>
      </p:pic>
      <p:sp>
        <p:nvSpPr>
          <p:cNvPr id="23" name="Text 18"/>
          <p:cNvSpPr/>
          <p:nvPr/>
        </p:nvSpPr>
        <p:spPr>
          <a:xfrm>
            <a:off x="5449824" y="1481328"/>
            <a:ext cx="301752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/evidence — 지어낸 인용이 불가능한 이유</a:t>
            </a:r>
            <a:endParaRPr lang="en-US" sz="1200" dirty="0"/>
          </a:p>
        </p:txBody>
      </p:sp>
      <p:sp>
        <p:nvSpPr>
          <p:cNvPr id="24" name="Shape 19"/>
          <p:cNvSpPr/>
          <p:nvPr/>
        </p:nvSpPr>
        <p:spPr>
          <a:xfrm>
            <a:off x="4892040" y="2103120"/>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5" name="Text 20"/>
          <p:cNvSpPr/>
          <p:nvPr/>
        </p:nvSpPr>
        <p:spPr>
          <a:xfrm>
            <a:off x="4892040" y="2103120"/>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1</a:t>
            </a:r>
            <a:endParaRPr lang="en-US" sz="1000" dirty="0"/>
          </a:p>
        </p:txBody>
      </p:sp>
      <p:sp>
        <p:nvSpPr>
          <p:cNvPr id="26" name="Text 21"/>
          <p:cNvSpPr/>
          <p:nvPr/>
        </p:nvSpPr>
        <p:spPr>
          <a:xfrm>
            <a:off x="5285232" y="2066544"/>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LLM이 원문에서 “좋았던 점 / 아쉬운 점”을 구간으로 잘라낸다</a:t>
            </a:r>
            <a:endParaRPr lang="en-US" sz="950" dirty="0"/>
          </a:p>
        </p:txBody>
      </p:sp>
      <p:sp>
        <p:nvSpPr>
          <p:cNvPr id="27" name="Shape 22"/>
          <p:cNvSpPr/>
          <p:nvPr/>
        </p:nvSpPr>
        <p:spPr>
          <a:xfrm>
            <a:off x="4892040" y="2587752"/>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8" name="Text 23"/>
          <p:cNvSpPr/>
          <p:nvPr/>
        </p:nvSpPr>
        <p:spPr>
          <a:xfrm>
            <a:off x="4892040" y="2587752"/>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2</a:t>
            </a:r>
            <a:endParaRPr lang="en-US" sz="1000" dirty="0"/>
          </a:p>
        </p:txBody>
      </p:sp>
      <p:sp>
        <p:nvSpPr>
          <p:cNvPr id="29" name="Text 24"/>
          <p:cNvSpPr/>
          <p:nvPr/>
        </p:nvSpPr>
        <p:spPr>
          <a:xfrm>
            <a:off x="5285232" y="2551176"/>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코드가 잘린 문장을 원문과 부분문자열 대조한다</a:t>
            </a:r>
            <a:endParaRPr lang="en-US" sz="950" dirty="0"/>
          </a:p>
        </p:txBody>
      </p:sp>
      <p:sp>
        <p:nvSpPr>
          <p:cNvPr id="30" name="Shape 25"/>
          <p:cNvSpPr/>
          <p:nvPr/>
        </p:nvSpPr>
        <p:spPr>
          <a:xfrm>
            <a:off x="4892040" y="3072384"/>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1" name="Text 26"/>
          <p:cNvSpPr/>
          <p:nvPr/>
        </p:nvSpPr>
        <p:spPr>
          <a:xfrm>
            <a:off x="4892040" y="3072384"/>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3</a:t>
            </a:r>
            <a:endParaRPr lang="en-US" sz="1000" dirty="0"/>
          </a:p>
        </p:txBody>
      </p:sp>
      <p:sp>
        <p:nvSpPr>
          <p:cNvPr id="32" name="Text 27"/>
          <p:cNvSpPr/>
          <p:nvPr/>
        </p:nvSpPr>
        <p:spPr>
          <a:xfrm>
            <a:off x="5285232" y="3035808"/>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한 글자라도 다르면 폐기. 의역·요약은 통과 못 한다</a:t>
            </a:r>
            <a:endParaRPr lang="en-US" sz="950" dirty="0"/>
          </a:p>
        </p:txBody>
      </p:sp>
      <p:sp>
        <p:nvSpPr>
          <p:cNvPr id="33" name="Shape 28"/>
          <p:cNvSpPr/>
          <p:nvPr/>
        </p:nvSpPr>
        <p:spPr>
          <a:xfrm>
            <a:off x="4892040" y="3557016"/>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4" name="Text 29"/>
          <p:cNvSpPr/>
          <p:nvPr/>
        </p:nvSpPr>
        <p:spPr>
          <a:xfrm>
            <a:off x="4892040" y="3557016"/>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4</a:t>
            </a:r>
            <a:endParaRPr lang="en-US" sz="1000" dirty="0"/>
          </a:p>
        </p:txBody>
      </p:sp>
      <p:sp>
        <p:nvSpPr>
          <p:cNvPr id="35" name="Text 30"/>
          <p:cNvSpPr/>
          <p:nvPr/>
        </p:nvSpPr>
        <p:spPr>
          <a:xfrm>
            <a:off x="5285232" y="3520440"/>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카카오 별점이 LLM 극성 판정과 충돌하면 별점이 이긴다</a:t>
            </a:r>
            <a:endParaRPr lang="en-US" sz="950" dirty="0"/>
          </a:p>
        </p:txBody>
      </p:sp>
      <p:sp>
        <p:nvSpPr>
          <p:cNvPr id="36" name="Shape 31"/>
          <p:cNvSpPr/>
          <p:nvPr/>
        </p:nvSpPr>
        <p:spPr>
          <a:xfrm>
            <a:off x="4864608" y="4041648"/>
            <a:ext cx="3566160" cy="365760"/>
          </a:xfrm>
          <a:prstGeom prst="roundRect">
            <a:avLst>
              <a:gd name="adj" fmla="val 25000"/>
            </a:avLst>
          </a:prstGeom>
          <a:solidFill>
            <a:srgbClr val="E7F3F1"/>
          </a:solidFill>
          <a:ln w="12700">
            <a:solidFill>
              <a:srgbClr val="333333"/>
            </a:solidFill>
            <a:prstDash val="solid"/>
          </a:ln>
        </p:spPr>
        <p:txBody>
          <a:bodyPr/>
          <a:lstStyle/>
          <a:p>
            <a:endParaRPr lang="ko-KR" altLang="en-US"/>
          </a:p>
        </p:txBody>
      </p:sp>
      <p:sp>
        <p:nvSpPr>
          <p:cNvPr id="37" name="Text 32"/>
          <p:cNvSpPr/>
          <p:nvPr/>
        </p:nvSpPr>
        <p:spPr>
          <a:xfrm>
            <a:off x="4864608" y="4041648"/>
            <a:ext cx="3566160" cy="36576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파일럿 인용 75건  ·  원문 검증 실패 0건</a:t>
            </a:r>
            <a:endParaRPr lang="en-US" sz="1050" dirty="0"/>
          </a:p>
        </p:txBody>
      </p:sp>
      <p:sp>
        <p:nvSpPr>
          <p:cNvPr id="38" name="Text 3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9" name="Text 3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10</a:t>
            </a:r>
            <a:endParaRPr lang="en-US" sz="1100" dirty="0"/>
          </a:p>
        </p:txBody>
      </p:sp>
      <p:sp>
        <p:nvSpPr>
          <p:cNvPr id="40" name="직사각형 39">
            <a:extLst>
              <a:ext uri="{FF2B5EF4-FFF2-40B4-BE49-F238E27FC236}">
                <a16:creationId xmlns:a16="http://schemas.microsoft.com/office/drawing/2014/main" id="{78E6E098-F95C-66F0-B373-B41A8FD17BB2}"/>
              </a:ext>
            </a:extLst>
          </p:cNvPr>
          <p:cNvSpPr/>
          <p:nvPr/>
        </p:nvSpPr>
        <p:spPr>
          <a:xfrm>
            <a:off x="3594969" y="206679"/>
            <a:ext cx="4753627" cy="97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err="1"/>
              <a:t>해지개</a:t>
            </a:r>
            <a:r>
              <a:rPr lang="ko-KR" altLang="en-US" dirty="0"/>
              <a:t>　사건의　무엇인지　이해　안됨</a:t>
            </a:r>
            <a:endParaRPr lang="en-US" altLang="ko-KR" dirty="0"/>
          </a:p>
          <a:p>
            <a:pPr algn="ctr"/>
            <a:r>
              <a:rPr lang="ko-KR" altLang="en-US" dirty="0"/>
              <a:t>이　슬라이드　내용　쉽게　수정　요망．．</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3단 평가 체계 — 무엇을 어떻게 쟀는가</a:t>
            </a:r>
            <a:endParaRPr lang="en-US" sz="2700" dirty="0"/>
          </a:p>
        </p:txBody>
      </p:sp>
      <p:sp>
        <p:nvSpPr>
          <p:cNvPr id="4" name="Shape 2"/>
          <p:cNvSpPr/>
          <p:nvPr/>
        </p:nvSpPr>
        <p:spPr>
          <a:xfrm>
            <a:off x="502920" y="1325880"/>
            <a:ext cx="2560320" cy="1783080"/>
          </a:xfrm>
          <a:prstGeom prst="roundRect">
            <a:avLst>
              <a:gd name="adj" fmla="val 6154"/>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63040"/>
            <a:ext cx="1280160" cy="365760"/>
          </a:xfrm>
          <a:prstGeom prst="rect">
            <a:avLst/>
          </a:prstGeom>
          <a:noFill/>
          <a:ln/>
        </p:spPr>
        <p:txBody>
          <a:bodyPr wrap="square" lIns="0" tIns="0" rIns="0" bIns="0" rtlCol="0" anchor="ctr"/>
          <a:lstStyle/>
          <a:p>
            <a:pPr marL="0" indent="0">
              <a:buNone/>
            </a:pPr>
            <a:r>
              <a:rPr lang="en-US" sz="1600" b="1" dirty="0">
                <a:solidFill>
                  <a:srgbClr val="8A4E14"/>
                </a:solidFill>
                <a:latin typeface="맑은 고딕" pitchFamily="34" charset="0"/>
                <a:ea typeface="맑은 고딕" pitchFamily="34" charset="-122"/>
                <a:cs typeface="맑은 고딕" pitchFamily="34" charset="-120"/>
              </a:rPr>
              <a:t>Gold</a:t>
            </a:r>
            <a:endParaRPr lang="en-US" sz="1600" dirty="0"/>
          </a:p>
        </p:txBody>
      </p:sp>
      <p:sp>
        <p:nvSpPr>
          <p:cNvPr id="6" name="Text 4"/>
          <p:cNvSpPr/>
          <p:nvPr/>
        </p:nvSpPr>
        <p:spPr>
          <a:xfrm>
            <a:off x="1783080" y="1463040"/>
            <a:ext cx="1097280" cy="365760"/>
          </a:xfrm>
          <a:prstGeom prst="rect">
            <a:avLst/>
          </a:prstGeom>
          <a:noFill/>
          <a:ln/>
        </p:spPr>
        <p:txBody>
          <a:bodyPr wrap="square" lIns="0" tIns="0" rIns="0" bIns="0" rtlCol="0" anchor="ctr"/>
          <a:lstStyle/>
          <a:p>
            <a:pPr marL="0" indent="0" algn="r">
              <a:buNone/>
            </a:pPr>
            <a:r>
              <a:rPr lang="en-US" sz="1600" b="1" dirty="0">
                <a:solidFill>
                  <a:srgbClr val="E8842B"/>
                </a:solidFill>
                <a:latin typeface="맑은 고딕" pitchFamily="34" charset="0"/>
                <a:ea typeface="맑은 고딕" pitchFamily="34" charset="-122"/>
                <a:cs typeface="맑은 고딕" pitchFamily="34" charset="-120"/>
              </a:rPr>
              <a:t>50</a:t>
            </a:r>
            <a:endParaRPr lang="en-US" sz="1600" dirty="0"/>
          </a:p>
        </p:txBody>
      </p:sp>
      <p:sp>
        <p:nvSpPr>
          <p:cNvPr id="7" name="Text 5"/>
          <p:cNvSpPr/>
          <p:nvPr/>
        </p:nvSpPr>
        <p:spPr>
          <a:xfrm>
            <a:off x="73152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사람이 만든 실제 질문.</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대표 카페를 찾았는가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질문 의도를 만족했는가</a:t>
            </a:r>
            <a:endParaRPr lang="en-US" sz="1000" dirty="0"/>
          </a:p>
        </p:txBody>
      </p:sp>
      <p:sp>
        <p:nvSpPr>
          <p:cNvPr id="8" name="Shape 6"/>
          <p:cNvSpPr/>
          <p:nvPr/>
        </p:nvSpPr>
        <p:spPr>
          <a:xfrm>
            <a:off x="3291840" y="1325880"/>
            <a:ext cx="2560320" cy="1783080"/>
          </a:xfrm>
          <a:prstGeom prst="roundRect">
            <a:avLst>
              <a:gd name="adj" fmla="val 61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Text 7"/>
          <p:cNvSpPr/>
          <p:nvPr/>
        </p:nvSpPr>
        <p:spPr>
          <a:xfrm>
            <a:off x="3520440" y="1463040"/>
            <a:ext cx="1280160" cy="365760"/>
          </a:xfrm>
          <a:prstGeom prst="rect">
            <a:avLst/>
          </a:prstGeom>
          <a:noFill/>
          <a:ln/>
        </p:spPr>
        <p:txBody>
          <a:bodyPr wrap="square" lIns="0" tIns="0" rIns="0" bIns="0" rtlCol="0" anchor="ctr"/>
          <a:lstStyle/>
          <a:p>
            <a:pPr marL="0" indent="0">
              <a:buNone/>
            </a:pPr>
            <a:r>
              <a:rPr lang="en-US" sz="1600" b="1" dirty="0">
                <a:solidFill>
                  <a:srgbClr val="0F5257"/>
                </a:solidFill>
                <a:latin typeface="맑은 고딕" pitchFamily="34" charset="0"/>
                <a:ea typeface="맑은 고딕" pitchFamily="34" charset="-122"/>
                <a:cs typeface="맑은 고딕" pitchFamily="34" charset="-120"/>
              </a:rPr>
              <a:t>Silver</a:t>
            </a:r>
            <a:endParaRPr lang="en-US" sz="1600" dirty="0"/>
          </a:p>
        </p:txBody>
      </p:sp>
      <p:sp>
        <p:nvSpPr>
          <p:cNvPr id="10" name="Text 8"/>
          <p:cNvSpPr/>
          <p:nvPr/>
        </p:nvSpPr>
        <p:spPr>
          <a:xfrm>
            <a:off x="4572000" y="1463040"/>
            <a:ext cx="1097280" cy="365760"/>
          </a:xfrm>
          <a:prstGeom prst="rect">
            <a:avLst/>
          </a:prstGeom>
          <a:noFill/>
          <a:ln/>
        </p:spPr>
        <p:txBody>
          <a:bodyPr wrap="square" lIns="0" tIns="0" rIns="0" bIns="0" rtlCol="0" anchor="ctr"/>
          <a:lstStyle/>
          <a:p>
            <a:pPr marL="0" indent="0" algn="r">
              <a:buNone/>
            </a:pPr>
            <a:r>
              <a:rPr lang="en-US" sz="1600" b="1" dirty="0">
                <a:solidFill>
                  <a:srgbClr val="168A7E"/>
                </a:solidFill>
                <a:latin typeface="맑은 고딕" pitchFamily="34" charset="0"/>
                <a:ea typeface="맑은 고딕" pitchFamily="34" charset="-122"/>
                <a:cs typeface="맑은 고딕" pitchFamily="34" charset="-120"/>
              </a:rPr>
              <a:t>168</a:t>
            </a:r>
            <a:endParaRPr lang="en-US" sz="1600" dirty="0"/>
          </a:p>
        </p:txBody>
      </p:sp>
      <p:sp>
        <p:nvSpPr>
          <p:cNvPr id="11" name="Text 9"/>
          <p:cNvSpPr/>
          <p:nvPr/>
        </p:nvSpPr>
        <p:spPr>
          <a:xfrm>
            <a:off x="352044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대규모 자동 평가.</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카페명 · 지역 · 태그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지역+태그 4유형</a:t>
            </a:r>
            <a:endParaRPr lang="en-US" sz="1000" dirty="0"/>
          </a:p>
        </p:txBody>
      </p:sp>
      <p:sp>
        <p:nvSpPr>
          <p:cNvPr id="12" name="Shape 10"/>
          <p:cNvSpPr/>
          <p:nvPr/>
        </p:nvSpPr>
        <p:spPr>
          <a:xfrm>
            <a:off x="6080760" y="1325880"/>
            <a:ext cx="2560320" cy="1783080"/>
          </a:xfrm>
          <a:prstGeom prst="roundRect">
            <a:avLst>
              <a:gd name="adj" fmla="val 6154"/>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6309360" y="1463040"/>
            <a:ext cx="1280160" cy="365760"/>
          </a:xfrm>
          <a:prstGeom prst="rect">
            <a:avLst/>
          </a:prstGeom>
          <a:noFill/>
          <a:ln/>
        </p:spPr>
        <p:txBody>
          <a:bodyPr wrap="square" lIns="0" tIns="0" rIns="0" bIns="0" rtlCol="0" anchor="ctr"/>
          <a:lstStyle/>
          <a:p>
            <a:pPr marL="0" indent="0">
              <a:buNone/>
            </a:pPr>
            <a:r>
              <a:rPr lang="en-US" sz="1600" b="1" dirty="0">
                <a:solidFill>
                  <a:srgbClr val="44686B"/>
                </a:solidFill>
                <a:latin typeface="맑은 고딕" pitchFamily="34" charset="0"/>
                <a:ea typeface="맑은 고딕" pitchFamily="34" charset="-122"/>
                <a:cs typeface="맑은 고딕" pitchFamily="34" charset="-120"/>
              </a:rPr>
              <a:t>Bronze</a:t>
            </a:r>
            <a:endParaRPr lang="en-US" sz="1600" dirty="0"/>
          </a:p>
        </p:txBody>
      </p:sp>
      <p:sp>
        <p:nvSpPr>
          <p:cNvPr id="14" name="Text 12"/>
          <p:cNvSpPr/>
          <p:nvPr/>
        </p:nvSpPr>
        <p:spPr>
          <a:xfrm>
            <a:off x="7360920" y="1463040"/>
            <a:ext cx="1097280" cy="365760"/>
          </a:xfrm>
          <a:prstGeom prst="rect">
            <a:avLst/>
          </a:prstGeom>
          <a:noFill/>
          <a:ln/>
        </p:spPr>
        <p:txBody>
          <a:bodyPr wrap="square" lIns="0" tIns="0" rIns="0" bIns="0" rtlCol="0" anchor="ctr"/>
          <a:lstStyle/>
          <a:p>
            <a:pPr marL="0" indent="0" algn="r">
              <a:buNone/>
            </a:pPr>
            <a:r>
              <a:rPr lang="en-US" sz="1600" b="1" dirty="0">
                <a:solidFill>
                  <a:srgbClr val="6B7B7E"/>
                </a:solidFill>
                <a:latin typeface="맑은 고딕" pitchFamily="34" charset="0"/>
                <a:ea typeface="맑은 고딕" pitchFamily="34" charset="-122"/>
                <a:cs typeface="맑은 고딕" pitchFamily="34" charset="-120"/>
              </a:rPr>
              <a:t>시스템</a:t>
            </a:r>
            <a:endParaRPr lang="en-US" sz="1600" dirty="0"/>
          </a:p>
        </p:txBody>
      </p:sp>
      <p:sp>
        <p:nvSpPr>
          <p:cNvPr id="15" name="Text 13"/>
          <p:cNvSpPr/>
          <p:nvPr/>
        </p:nvSpPr>
        <p:spPr>
          <a:xfrm>
            <a:off x="630936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건강검진.</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중복률 · 빈 결과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거절률 · 결정성 · 안정성</a:t>
            </a:r>
            <a:endParaRPr lang="en-US" sz="1000" dirty="0"/>
          </a:p>
        </p:txBody>
      </p:sp>
      <p:sp>
        <p:nvSpPr>
          <p:cNvPr id="16" name="Text 14"/>
          <p:cNvSpPr/>
          <p:nvPr/>
        </p:nvSpPr>
        <p:spPr>
          <a:xfrm>
            <a:off x="502920" y="3246120"/>
            <a:ext cx="813816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Gold 지표 정의 — 대표 카페를 찾았는지와, 의도를 만족했는지를 분리해서 본다</a:t>
            </a:r>
            <a:endParaRPr lang="en-US" sz="1100" dirty="0"/>
          </a:p>
        </p:txBody>
      </p:sp>
      <p:sp>
        <p:nvSpPr>
          <p:cNvPr id="17" name="Shape 15"/>
          <p:cNvSpPr/>
          <p:nvPr/>
        </p:nvSpPr>
        <p:spPr>
          <a:xfrm>
            <a:off x="50292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18" name="Text 16"/>
          <p:cNvSpPr/>
          <p:nvPr/>
        </p:nvSpPr>
        <p:spPr>
          <a:xfrm>
            <a:off x="62179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Must Hit</a:t>
            </a:r>
            <a:endParaRPr lang="en-US" sz="1050" dirty="0"/>
          </a:p>
        </p:txBody>
      </p:sp>
      <p:sp>
        <p:nvSpPr>
          <p:cNvPr id="19" name="Text 17"/>
          <p:cNvSpPr/>
          <p:nvPr/>
        </p:nvSpPr>
        <p:spPr>
          <a:xfrm>
            <a:off x="62179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알고 있는 대표 카페가 결과에 포함됐는가</a:t>
            </a:r>
            <a:endParaRPr lang="en-US" sz="850" dirty="0"/>
          </a:p>
        </p:txBody>
      </p:sp>
      <p:sp>
        <p:nvSpPr>
          <p:cNvPr id="20" name="Shape 18"/>
          <p:cNvSpPr/>
          <p:nvPr/>
        </p:nvSpPr>
        <p:spPr>
          <a:xfrm>
            <a:off x="260604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1" name="Text 19"/>
          <p:cNvSpPr/>
          <p:nvPr/>
        </p:nvSpPr>
        <p:spPr>
          <a:xfrm>
            <a:off x="272491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Tag Match</a:t>
            </a:r>
            <a:endParaRPr lang="en-US" sz="1050" dirty="0"/>
          </a:p>
        </p:txBody>
      </p:sp>
      <p:sp>
        <p:nvSpPr>
          <p:cNvPr id="22" name="Text 20"/>
          <p:cNvSpPr/>
          <p:nvPr/>
        </p:nvSpPr>
        <p:spPr>
          <a:xfrm>
            <a:off x="272491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Top-5가 필수 태그를 얼마나 만족하는가</a:t>
            </a:r>
            <a:endParaRPr lang="en-US" sz="850" dirty="0"/>
          </a:p>
        </p:txBody>
      </p:sp>
      <p:sp>
        <p:nvSpPr>
          <p:cNvPr id="23" name="Shape 21"/>
          <p:cNvSpPr/>
          <p:nvPr/>
        </p:nvSpPr>
        <p:spPr>
          <a:xfrm>
            <a:off x="470916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4" name="Text 22"/>
          <p:cNvSpPr/>
          <p:nvPr/>
        </p:nvSpPr>
        <p:spPr>
          <a:xfrm>
            <a:off x="482803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Region Match</a:t>
            </a:r>
            <a:endParaRPr lang="en-US" sz="1050" dirty="0"/>
          </a:p>
        </p:txBody>
      </p:sp>
      <p:sp>
        <p:nvSpPr>
          <p:cNvPr id="25" name="Text 23"/>
          <p:cNvSpPr/>
          <p:nvPr/>
        </p:nvSpPr>
        <p:spPr>
          <a:xfrm>
            <a:off x="482803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요청한 지역을 얼마나 지켰는가</a:t>
            </a:r>
            <a:endParaRPr lang="en-US" sz="850" dirty="0"/>
          </a:p>
        </p:txBody>
      </p:sp>
      <p:sp>
        <p:nvSpPr>
          <p:cNvPr id="26" name="Shape 24"/>
          <p:cNvSpPr/>
          <p:nvPr/>
        </p:nvSpPr>
        <p:spPr>
          <a:xfrm>
            <a:off x="681228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7" name="Text 25"/>
          <p:cNvSpPr/>
          <p:nvPr/>
        </p:nvSpPr>
        <p:spPr>
          <a:xfrm>
            <a:off x="693115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Final Intent</a:t>
            </a:r>
            <a:endParaRPr lang="en-US" sz="1050" dirty="0"/>
          </a:p>
        </p:txBody>
      </p:sp>
      <p:sp>
        <p:nvSpPr>
          <p:cNvPr id="28" name="Text 26"/>
          <p:cNvSpPr/>
          <p:nvPr/>
        </p:nvSpPr>
        <p:spPr>
          <a:xfrm>
            <a:off x="693115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필수 태그·지역 + optional 보너스 − forbidden 감점</a:t>
            </a:r>
            <a:endParaRPr lang="en-US" sz="850" dirty="0"/>
          </a:p>
        </p:txBody>
      </p:sp>
      <p:sp>
        <p:nvSpPr>
          <p:cNvPr id="29" name="Text 27"/>
          <p:cNvSpPr/>
          <p:nvPr/>
        </p:nvSpPr>
        <p:spPr>
          <a:xfrm>
            <a:off x="502920" y="4526280"/>
            <a:ext cx="813816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검색 문서 1,245개  ·  서빙 카페 907곳  ·  Top-10 기준</a:t>
            </a:r>
            <a:endParaRPr lang="en-US" sz="900" dirty="0"/>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Gold 결과 — 병목은 데이터가 아니라 재정렬</a:t>
            </a:r>
            <a:endParaRPr lang="en-US" sz="2700" dirty="0"/>
          </a:p>
        </p:txBody>
      </p:sp>
      <p:sp>
        <p:nvSpPr>
          <p:cNvPr id="4" name="Shape 2"/>
          <p:cNvSpPr/>
          <p:nvPr/>
        </p:nvSpPr>
        <p:spPr>
          <a:xfrm>
            <a:off x="502920" y="1298448"/>
            <a:ext cx="4206240" cy="2148840"/>
          </a:xfrm>
          <a:prstGeom prst="roundRect">
            <a:avLst>
              <a:gd name="adj" fmla="val 510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85800" y="1417320"/>
            <a:ext cx="3840480" cy="274320"/>
          </a:xfrm>
          <a:prstGeom prst="rect">
            <a:avLst/>
          </a:prstGeom>
          <a:noFill/>
          <a:ln/>
        </p:spPr>
        <p:txBody>
          <a:bodyPr wrap="square" lIns="0" tIns="0" rIns="0" bIns="0" rtlCol="0" anchor="ctr"/>
          <a:lstStyle/>
          <a:p>
            <a:pPr marL="0" indent="0">
              <a:buNone/>
            </a:pPr>
            <a:r>
              <a:rPr lang="en-US" sz="1050" b="1" dirty="0">
                <a:solidFill>
                  <a:srgbClr val="1F2933"/>
                </a:solidFill>
                <a:latin typeface="맑은 고딕" pitchFamily="34" charset="0"/>
                <a:ea typeface="맑은 고딕" pitchFamily="34" charset="-122"/>
                <a:cs typeface="맑은 고딕" pitchFamily="34" charset="-120"/>
              </a:rPr>
              <a:t>Must Hit — 정답은 Top-10엔 있는데 Top-5로 못 올라온다</a:t>
            </a:r>
            <a:endParaRPr lang="en-US" sz="1050" dirty="0"/>
          </a:p>
        </p:txBody>
      </p:sp>
      <p:graphicFrame>
        <p:nvGraphicFramePr>
          <p:cNvPr id="6" name="Chart 0"/>
          <p:cNvGraphicFramePr/>
          <p:nvPr/>
        </p:nvGraphicFramePr>
        <p:xfrm>
          <a:off x="594360" y="1691640"/>
          <a:ext cx="4023360"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937760" y="1298448"/>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8" name="Text 5"/>
          <p:cNvSpPr/>
          <p:nvPr/>
        </p:nvSpPr>
        <p:spPr>
          <a:xfrm>
            <a:off x="5047488" y="1344168"/>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59.3%</a:t>
            </a:r>
            <a:endParaRPr lang="en-US" sz="1500" dirty="0"/>
          </a:p>
        </p:txBody>
      </p:sp>
      <p:sp>
        <p:nvSpPr>
          <p:cNvPr id="9" name="Text 6"/>
          <p:cNvSpPr/>
          <p:nvPr/>
        </p:nvSpPr>
        <p:spPr>
          <a:xfrm>
            <a:off x="5047488" y="1645920"/>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Required Tag Match@5</a:t>
            </a:r>
            <a:endParaRPr lang="en-US" sz="800" dirty="0"/>
          </a:p>
        </p:txBody>
      </p:sp>
      <p:sp>
        <p:nvSpPr>
          <p:cNvPr id="10" name="Shape 7"/>
          <p:cNvSpPr/>
          <p:nvPr/>
        </p:nvSpPr>
        <p:spPr>
          <a:xfrm>
            <a:off x="6812280" y="1298448"/>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1" name="Text 8"/>
          <p:cNvSpPr/>
          <p:nvPr/>
        </p:nvSpPr>
        <p:spPr>
          <a:xfrm>
            <a:off x="6922008" y="1344168"/>
            <a:ext cx="1554480" cy="310896"/>
          </a:xfrm>
          <a:prstGeom prst="rect">
            <a:avLst/>
          </a:prstGeom>
          <a:noFill/>
          <a:ln/>
        </p:spPr>
        <p:txBody>
          <a:bodyPr wrap="square" lIns="0" tIns="0" rIns="0" bIns="0" rtlCol="0" anchor="ctr"/>
          <a:lstStyle/>
          <a:p>
            <a:pPr marL="0" indent="0">
              <a:buNone/>
            </a:pPr>
            <a:r>
              <a:rPr lang="en-US" sz="1500" b="1" dirty="0">
                <a:solidFill>
                  <a:srgbClr val="6B7B7E"/>
                </a:solidFill>
                <a:latin typeface="맑은 고딕" pitchFamily="34" charset="0"/>
                <a:ea typeface="맑은 고딕" pitchFamily="34" charset="-122"/>
                <a:cs typeface="맑은 고딕" pitchFamily="34" charset="-120"/>
              </a:rPr>
              <a:t>85.7%</a:t>
            </a:r>
            <a:endParaRPr lang="en-US" sz="1500" dirty="0"/>
          </a:p>
        </p:txBody>
      </p:sp>
      <p:sp>
        <p:nvSpPr>
          <p:cNvPr id="12" name="Text 9"/>
          <p:cNvSpPr/>
          <p:nvPr/>
        </p:nvSpPr>
        <p:spPr>
          <a:xfrm>
            <a:off x="6922008" y="1645920"/>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Required Tag Coverage@5</a:t>
            </a:r>
            <a:endParaRPr lang="en-US" sz="800" dirty="0"/>
          </a:p>
        </p:txBody>
      </p:sp>
      <p:sp>
        <p:nvSpPr>
          <p:cNvPr id="13" name="Shape 10"/>
          <p:cNvSpPr/>
          <p:nvPr/>
        </p:nvSpPr>
        <p:spPr>
          <a:xfrm>
            <a:off x="4937760" y="2020824"/>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4" name="Text 11"/>
          <p:cNvSpPr/>
          <p:nvPr/>
        </p:nvSpPr>
        <p:spPr>
          <a:xfrm>
            <a:off x="5047488" y="2066544"/>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73.8%</a:t>
            </a:r>
            <a:endParaRPr lang="en-US" sz="1500" dirty="0"/>
          </a:p>
        </p:txBody>
      </p:sp>
      <p:sp>
        <p:nvSpPr>
          <p:cNvPr id="15" name="Text 12"/>
          <p:cNvSpPr/>
          <p:nvPr/>
        </p:nvSpPr>
        <p:spPr>
          <a:xfrm>
            <a:off x="5047488" y="2368296"/>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Region Match@5</a:t>
            </a:r>
            <a:endParaRPr lang="en-US" sz="800" dirty="0"/>
          </a:p>
        </p:txBody>
      </p:sp>
      <p:sp>
        <p:nvSpPr>
          <p:cNvPr id="16" name="Shape 13"/>
          <p:cNvSpPr/>
          <p:nvPr/>
        </p:nvSpPr>
        <p:spPr>
          <a:xfrm>
            <a:off x="6812280" y="2020824"/>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7" name="Text 14"/>
          <p:cNvSpPr/>
          <p:nvPr/>
        </p:nvSpPr>
        <p:spPr>
          <a:xfrm>
            <a:off x="6922008" y="2066544"/>
            <a:ext cx="1554480" cy="310896"/>
          </a:xfrm>
          <a:prstGeom prst="rect">
            <a:avLst/>
          </a:prstGeom>
          <a:noFill/>
          <a:ln/>
        </p:spPr>
        <p:txBody>
          <a:bodyPr wrap="square" lIns="0" tIns="0" rIns="0" bIns="0" rtlCol="0" anchor="ctr"/>
          <a:lstStyle/>
          <a:p>
            <a:pPr marL="0" indent="0">
              <a:buNone/>
            </a:pPr>
            <a:r>
              <a:rPr lang="en-US" sz="1500" b="1" dirty="0">
                <a:solidFill>
                  <a:srgbClr val="E8842B"/>
                </a:solidFill>
                <a:latin typeface="맑은 고딕" pitchFamily="34" charset="0"/>
                <a:ea typeface="맑은 고딕" pitchFamily="34" charset="-122"/>
                <a:cs typeface="맑은 고딕" pitchFamily="34" charset="-120"/>
              </a:rPr>
              <a:t>65.1%</a:t>
            </a:r>
            <a:endParaRPr lang="en-US" sz="1500" dirty="0"/>
          </a:p>
        </p:txBody>
      </p:sp>
      <p:sp>
        <p:nvSpPr>
          <p:cNvPr id="18" name="Text 15"/>
          <p:cNvSpPr/>
          <p:nvPr/>
        </p:nvSpPr>
        <p:spPr>
          <a:xfrm>
            <a:off x="6922008" y="2368296"/>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Final Intent Score@5</a:t>
            </a:r>
            <a:endParaRPr lang="en-US" sz="800" dirty="0"/>
          </a:p>
        </p:txBody>
      </p:sp>
      <p:sp>
        <p:nvSpPr>
          <p:cNvPr id="19" name="Shape 16"/>
          <p:cNvSpPr/>
          <p:nvPr/>
        </p:nvSpPr>
        <p:spPr>
          <a:xfrm>
            <a:off x="4937760" y="2743200"/>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20" name="Text 17"/>
          <p:cNvSpPr/>
          <p:nvPr/>
        </p:nvSpPr>
        <p:spPr>
          <a:xfrm>
            <a:off x="5047488" y="2788920"/>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58.0%</a:t>
            </a:r>
            <a:endParaRPr lang="en-US" sz="1500" dirty="0"/>
          </a:p>
        </p:txBody>
      </p:sp>
      <p:sp>
        <p:nvSpPr>
          <p:cNvPr id="21" name="Text 18"/>
          <p:cNvSpPr/>
          <p:nvPr/>
        </p:nvSpPr>
        <p:spPr>
          <a:xfrm>
            <a:off x="5047488" y="3090672"/>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Intent High Rate@5</a:t>
            </a:r>
            <a:endParaRPr lang="en-US" sz="800" dirty="0"/>
          </a:p>
        </p:txBody>
      </p:sp>
      <p:sp>
        <p:nvSpPr>
          <p:cNvPr id="22" name="Shape 19"/>
          <p:cNvSpPr/>
          <p:nvPr/>
        </p:nvSpPr>
        <p:spPr>
          <a:xfrm>
            <a:off x="6812280" y="2743200"/>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23" name="Text 20"/>
          <p:cNvSpPr/>
          <p:nvPr/>
        </p:nvSpPr>
        <p:spPr>
          <a:xfrm>
            <a:off x="6922008" y="2788920"/>
            <a:ext cx="1554480" cy="310896"/>
          </a:xfrm>
          <a:prstGeom prst="rect">
            <a:avLst/>
          </a:prstGeom>
          <a:noFill/>
          <a:ln/>
        </p:spPr>
        <p:txBody>
          <a:bodyPr wrap="square" lIns="0" tIns="0" rIns="0" bIns="0" rtlCol="0" anchor="ctr"/>
          <a:lstStyle/>
          <a:p>
            <a:pPr marL="0" indent="0">
              <a:buNone/>
            </a:pPr>
            <a:r>
              <a:rPr lang="en-US" sz="1500" b="1" dirty="0">
                <a:solidFill>
                  <a:srgbClr val="0F5257"/>
                </a:solidFill>
                <a:latin typeface="맑은 고딕" pitchFamily="34" charset="0"/>
                <a:ea typeface="맑은 고딕" pitchFamily="34" charset="-122"/>
                <a:cs typeface="맑은 고딕" pitchFamily="34" charset="-120"/>
              </a:rPr>
              <a:t>99.6%</a:t>
            </a:r>
            <a:endParaRPr lang="en-US" sz="1500" dirty="0"/>
          </a:p>
        </p:txBody>
      </p:sp>
      <p:sp>
        <p:nvSpPr>
          <p:cNvPr id="24" name="Text 21"/>
          <p:cNvSpPr/>
          <p:nvPr/>
        </p:nvSpPr>
        <p:spPr>
          <a:xfrm>
            <a:off x="6922008" y="3090672"/>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대표 카페 DB 수록률</a:t>
            </a:r>
            <a:endParaRPr lang="en-US" sz="800" dirty="0"/>
          </a:p>
        </p:txBody>
      </p:sp>
      <p:sp>
        <p:nvSpPr>
          <p:cNvPr id="25" name="Shape 22"/>
          <p:cNvSpPr/>
          <p:nvPr/>
        </p:nvSpPr>
        <p:spPr>
          <a:xfrm>
            <a:off x="502920" y="3584448"/>
            <a:ext cx="4206240" cy="960120"/>
          </a:xfrm>
          <a:prstGeom prst="roundRect">
            <a:avLst>
              <a:gd name="adj" fmla="val 11429"/>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6" name="Text 23"/>
          <p:cNvSpPr/>
          <p:nvPr/>
        </p:nvSpPr>
        <p:spPr>
          <a:xfrm>
            <a:off x="685800" y="3657600"/>
            <a:ext cx="3840480" cy="274320"/>
          </a:xfrm>
          <a:prstGeom prst="rect">
            <a:avLst/>
          </a:prstGeom>
          <a:noFill/>
          <a:ln/>
        </p:spPr>
        <p:txBody>
          <a:bodyPr wrap="square" lIns="0" tIns="0" rIns="0" bIns="0" rtlCol="0" anchor="ctr"/>
          <a:lstStyle/>
          <a:p>
            <a:pPr marL="0" indent="0">
              <a:buNone/>
            </a:pPr>
            <a:r>
              <a:rPr lang="en-US" sz="1100" b="1" dirty="0">
                <a:solidFill>
                  <a:srgbClr val="0F5257"/>
                </a:solidFill>
                <a:latin typeface="맑은 고딕" pitchFamily="34" charset="0"/>
                <a:ea typeface="맑은 고딕" pitchFamily="34" charset="-122"/>
                <a:cs typeface="맑은 고딕" pitchFamily="34" charset="-120"/>
              </a:rPr>
              <a:t>Coverage 85.7% vs Match 59.3%</a:t>
            </a:r>
            <a:endParaRPr lang="en-US" sz="1100" dirty="0"/>
          </a:p>
        </p:txBody>
      </p:sp>
      <p:sp>
        <p:nvSpPr>
          <p:cNvPr id="27" name="Text 24"/>
          <p:cNvSpPr/>
          <p:nvPr/>
        </p:nvSpPr>
        <p:spPr>
          <a:xfrm>
            <a:off x="685800" y="3931920"/>
            <a:ext cx="3886200" cy="502920"/>
          </a:xfrm>
          <a:prstGeom prst="rect">
            <a:avLst/>
          </a:prstGeom>
          <a:noFill/>
          <a:ln/>
        </p:spPr>
        <p:txBody>
          <a:bodyPr wrap="square" lIns="0" tIns="0" rIns="0" bIns="0" rtlCol="0" anchor="ctr"/>
          <a:lstStyle/>
          <a:p>
            <a:pPr marL="0" indent="0">
              <a:lnSpc>
                <a:spcPts val="1300"/>
              </a:lnSpc>
              <a:buNone/>
            </a:pPr>
            <a:r>
              <a:rPr lang="en-US" sz="900" dirty="0">
                <a:solidFill>
                  <a:srgbClr val="3F5C5E"/>
                </a:solidFill>
                <a:latin typeface="맑은 고딕" pitchFamily="34" charset="0"/>
                <a:ea typeface="맑은 고딕" pitchFamily="34" charset="-122"/>
                <a:cs typeface="맑은 고딕" pitchFamily="34" charset="-120"/>
              </a:rPr>
              <a:t>핵심 태그가 결과 “어딘가”에는 있지만, Top-5 전체가 일관되게 의도를 만족하진 못한다. 수록률이 99.6%이므로 데이터 부족이 아니다.</a:t>
            </a:r>
            <a:endParaRPr lang="en-US" sz="900" dirty="0"/>
          </a:p>
        </p:txBody>
      </p:sp>
      <p:sp>
        <p:nvSpPr>
          <p:cNvPr id="28" name="Text 25"/>
          <p:cNvSpPr/>
          <p:nvPr/>
        </p:nvSpPr>
        <p:spPr>
          <a:xfrm>
            <a:off x="4937760" y="3584448"/>
            <a:ext cx="3703320" cy="237744"/>
          </a:xfrm>
          <a:prstGeom prst="rect">
            <a:avLst/>
          </a:prstGeom>
          <a:noFill/>
          <a:ln/>
        </p:spPr>
        <p:txBody>
          <a:bodyPr wrap="square" lIns="0" tIns="0" rIns="0" bIns="0" rtlCol="0" anchor="ctr"/>
          <a:lstStyle/>
          <a:p>
            <a:pPr marL="0" indent="0">
              <a:buNone/>
            </a:pPr>
            <a:r>
              <a:rPr lang="en-US" sz="1050" b="1" dirty="0">
                <a:solidFill>
                  <a:srgbClr val="1F2933"/>
                </a:solidFill>
                <a:latin typeface="맑은 고딕" pitchFamily="34" charset="0"/>
                <a:ea typeface="맑은 고딕" pitchFamily="34" charset="-122"/>
                <a:cs typeface="맑은 고딕" pitchFamily="34" charset="-120"/>
              </a:rPr>
              <a:t>Gold 결과 유형 분해 (50문항)</a:t>
            </a:r>
            <a:endParaRPr lang="en-US" sz="1050" dirty="0"/>
          </a:p>
        </p:txBody>
      </p:sp>
      <p:sp>
        <p:nvSpPr>
          <p:cNvPr id="29" name="Shape 26"/>
          <p:cNvSpPr/>
          <p:nvPr/>
        </p:nvSpPr>
        <p:spPr>
          <a:xfrm>
            <a:off x="4937760" y="3877056"/>
            <a:ext cx="1389888" cy="274320"/>
          </a:xfrm>
          <a:prstGeom prst="rect">
            <a:avLst/>
          </a:prstGeom>
          <a:solidFill>
            <a:srgbClr val="168A7E"/>
          </a:solidFill>
          <a:ln w="12700">
            <a:solidFill>
              <a:srgbClr val="333333"/>
            </a:solidFill>
            <a:prstDash val="solid"/>
          </a:ln>
        </p:spPr>
        <p:txBody>
          <a:bodyPr/>
          <a:lstStyle/>
          <a:p>
            <a:endParaRPr lang="ko-KR" altLang="en-US"/>
          </a:p>
        </p:txBody>
      </p:sp>
      <p:sp>
        <p:nvSpPr>
          <p:cNvPr id="30" name="Text 27"/>
          <p:cNvSpPr/>
          <p:nvPr/>
        </p:nvSpPr>
        <p:spPr>
          <a:xfrm>
            <a:off x="4937760" y="3877056"/>
            <a:ext cx="138988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38%</a:t>
            </a:r>
            <a:endParaRPr lang="en-US" sz="900" dirty="0"/>
          </a:p>
        </p:txBody>
      </p:sp>
      <p:sp>
        <p:nvSpPr>
          <p:cNvPr id="31" name="Shape 28"/>
          <p:cNvSpPr/>
          <p:nvPr/>
        </p:nvSpPr>
        <p:spPr>
          <a:xfrm>
            <a:off x="6327648" y="3877056"/>
            <a:ext cx="877824" cy="274320"/>
          </a:xfrm>
          <a:prstGeom prst="rect">
            <a:avLst/>
          </a:prstGeom>
          <a:solidFill>
            <a:srgbClr val="8FBDB6"/>
          </a:solidFill>
          <a:ln w="12700">
            <a:solidFill>
              <a:srgbClr val="333333"/>
            </a:solidFill>
            <a:prstDash val="solid"/>
          </a:ln>
        </p:spPr>
        <p:txBody>
          <a:bodyPr/>
          <a:lstStyle/>
          <a:p>
            <a:endParaRPr lang="ko-KR" altLang="en-US"/>
          </a:p>
        </p:txBody>
      </p:sp>
      <p:sp>
        <p:nvSpPr>
          <p:cNvPr id="32" name="Text 29"/>
          <p:cNvSpPr/>
          <p:nvPr/>
        </p:nvSpPr>
        <p:spPr>
          <a:xfrm>
            <a:off x="6327648" y="3877056"/>
            <a:ext cx="8778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24%</a:t>
            </a:r>
            <a:endParaRPr lang="en-US" sz="900" dirty="0"/>
          </a:p>
        </p:txBody>
      </p:sp>
      <p:sp>
        <p:nvSpPr>
          <p:cNvPr id="33" name="Shape 30"/>
          <p:cNvSpPr/>
          <p:nvPr/>
        </p:nvSpPr>
        <p:spPr>
          <a:xfrm>
            <a:off x="7205472" y="3877056"/>
            <a:ext cx="731520" cy="274320"/>
          </a:xfrm>
          <a:prstGeom prst="rect">
            <a:avLst/>
          </a:prstGeom>
          <a:solidFill>
            <a:srgbClr val="E8842B"/>
          </a:solidFill>
          <a:ln w="12700">
            <a:solidFill>
              <a:srgbClr val="333333"/>
            </a:solidFill>
            <a:prstDash val="solid"/>
          </a:ln>
        </p:spPr>
        <p:txBody>
          <a:bodyPr/>
          <a:lstStyle/>
          <a:p>
            <a:endParaRPr lang="ko-KR" altLang="en-US"/>
          </a:p>
        </p:txBody>
      </p:sp>
      <p:sp>
        <p:nvSpPr>
          <p:cNvPr id="34" name="Text 31"/>
          <p:cNvSpPr/>
          <p:nvPr/>
        </p:nvSpPr>
        <p:spPr>
          <a:xfrm>
            <a:off x="7205472" y="3877056"/>
            <a:ext cx="7315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20%</a:t>
            </a:r>
            <a:endParaRPr lang="en-US" sz="900" dirty="0"/>
          </a:p>
        </p:txBody>
      </p:sp>
      <p:sp>
        <p:nvSpPr>
          <p:cNvPr id="35" name="Shape 32"/>
          <p:cNvSpPr/>
          <p:nvPr/>
        </p:nvSpPr>
        <p:spPr>
          <a:xfrm>
            <a:off x="7936992" y="3877056"/>
            <a:ext cx="658368" cy="274320"/>
          </a:xfrm>
          <a:prstGeom prst="rect">
            <a:avLst/>
          </a:prstGeom>
          <a:solidFill>
            <a:srgbClr val="C3CDCF"/>
          </a:solidFill>
          <a:ln w="12700">
            <a:solidFill>
              <a:srgbClr val="333333"/>
            </a:solidFill>
            <a:prstDash val="solid"/>
          </a:ln>
        </p:spPr>
        <p:txBody>
          <a:bodyPr/>
          <a:lstStyle/>
          <a:p>
            <a:endParaRPr lang="ko-KR" altLang="en-US"/>
          </a:p>
        </p:txBody>
      </p:sp>
      <p:sp>
        <p:nvSpPr>
          <p:cNvPr id="36" name="Text 33"/>
          <p:cNvSpPr/>
          <p:nvPr/>
        </p:nvSpPr>
        <p:spPr>
          <a:xfrm>
            <a:off x="7936992" y="3877056"/>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18%</a:t>
            </a:r>
            <a:endParaRPr lang="en-US" sz="900" dirty="0"/>
          </a:p>
        </p:txBody>
      </p:sp>
      <p:sp>
        <p:nvSpPr>
          <p:cNvPr id="37" name="Text 34"/>
          <p:cNvSpPr/>
          <p:nvPr/>
        </p:nvSpPr>
        <p:spPr>
          <a:xfrm>
            <a:off x="4937760" y="4206240"/>
            <a:ext cx="3703320" cy="502920"/>
          </a:xfrm>
          <a:prstGeom prst="rect">
            <a:avLst/>
          </a:prstGeom>
          <a:noFill/>
          <a:ln/>
        </p:spPr>
        <p:txBody>
          <a:bodyPr wrap="square" lIns="0" tIns="0" rIns="0" bIns="0" rtlCol="0" anchor="ctr"/>
          <a:lstStyle/>
          <a:p>
            <a:pPr marL="0" indent="0">
              <a:lnSpc>
                <a:spcPts val="1300"/>
              </a:lnSpc>
              <a:buNone/>
            </a:pPr>
            <a:r>
              <a:rPr lang="en-US" sz="900" dirty="0">
                <a:solidFill>
                  <a:srgbClr val="5F7175"/>
                </a:solidFill>
                <a:latin typeface="맑은 고딕" pitchFamily="34" charset="0"/>
                <a:ea typeface="맑은 고딕" pitchFamily="34" charset="-122"/>
                <a:cs typeface="맑은 고딕" pitchFamily="34" charset="-120"/>
              </a:rPr>
              <a:t>Must Hit 실패 = 검색 실패가 아니다. 10문항은 expected 목록 밖의 새로운 적합 후보를 찾았다. 완전 실패는 18%로 보는 것이 현실적.</a:t>
            </a:r>
            <a:endParaRPr lang="en-US" sz="900" dirty="0"/>
          </a:p>
        </p:txBody>
      </p:sp>
      <p:sp>
        <p:nvSpPr>
          <p:cNvPr id="38" name="Text 35"/>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9" name="Text 36"/>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③</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약점 진단과 개선 우선순위</a:t>
            </a:r>
            <a:endParaRPr lang="en-US" sz="2700" dirty="0"/>
          </a:p>
        </p:txBody>
      </p:sp>
      <p:sp>
        <p:nvSpPr>
          <p:cNvPr id="4" name="Text 2"/>
          <p:cNvSpPr/>
          <p:nvPr/>
        </p:nvSpPr>
        <p:spPr>
          <a:xfrm>
            <a:off x="502920" y="1280160"/>
            <a:ext cx="4206240" cy="256032"/>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Silver — 태그가 붙으면 정확도가 무너진다</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4206240" cy="155448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0896">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질의 유형</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Hit@5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Hit@10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Precision@5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extLst>
                  <a:ext uri="{0D108BD9-81ED-4DB2-BD59-A6C34878D82A}">
                    <a16:rowId xmlns:a16="http://schemas.microsoft.com/office/drawing/2014/main" val="10000"/>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카페명 조회 (100)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96.0%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96.0%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19.2%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지역 검색 (13)</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100.0%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100.0%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89.2%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태그 검색 (25)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84.0%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88.0%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55.2%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지역 + 태그 (30)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76.7%</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80.0%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4530E"/>
                          </a:solidFill>
                          <a:latin typeface="맑은 고딕" pitchFamily="34" charset="0"/>
                          <a:ea typeface="맑은 고딕" pitchFamily="34" charset="-122"/>
                          <a:cs typeface="맑은 고딕" pitchFamily="34" charset="-120"/>
                        </a:rPr>
                        <a:t>40.0%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502920" y="3310128"/>
            <a:ext cx="4206240" cy="274320"/>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장소를 찾는 능력보다 복합 추천 의도를 정렬하는 능력이 부족하다.</a:t>
            </a:r>
            <a:endParaRPr lang="en-US" sz="950" dirty="0"/>
          </a:p>
        </p:txBody>
      </p:sp>
      <p:sp>
        <p:nvSpPr>
          <p:cNvPr id="7" name="Text 4"/>
          <p:cNvSpPr/>
          <p:nvPr/>
        </p:nvSpPr>
        <p:spPr>
          <a:xfrm>
            <a:off x="4937760" y="1280160"/>
            <a:ext cx="3703320" cy="256032"/>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Bronze — 시스템 건강검진</a:t>
            </a:r>
            <a:endParaRPr lang="en-US" sz="1100" dirty="0"/>
          </a:p>
        </p:txBody>
      </p:sp>
      <p:sp>
        <p:nvSpPr>
          <p:cNvPr id="8" name="Shape 5"/>
          <p:cNvSpPr/>
          <p:nvPr/>
        </p:nvSpPr>
        <p:spPr>
          <a:xfrm>
            <a:off x="4937760" y="1572768"/>
            <a:ext cx="3703320" cy="841248"/>
          </a:xfrm>
          <a:prstGeom prst="roundRect">
            <a:avLst>
              <a:gd name="adj" fmla="val 8696"/>
            </a:avLst>
          </a:prstGeom>
          <a:solidFill>
            <a:srgbClr val="E7F3F1"/>
          </a:solidFill>
          <a:ln w="12700">
            <a:solidFill>
              <a:srgbClr val="333333"/>
            </a:solidFill>
            <a:prstDash val="solid"/>
          </a:ln>
        </p:spPr>
        <p:txBody>
          <a:bodyPr/>
          <a:lstStyle/>
          <a:p>
            <a:endParaRPr lang="ko-KR" altLang="en-US"/>
          </a:p>
        </p:txBody>
      </p:sp>
      <p:pic>
        <p:nvPicPr>
          <p:cNvPr id="9"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1716146"/>
            <a:ext cx="79004" cy="79004"/>
          </a:xfrm>
          <a:prstGeom prst="rect">
            <a:avLst/>
          </a:prstGeom>
        </p:spPr>
      </p:pic>
      <p:sp>
        <p:nvSpPr>
          <p:cNvPr id="10" name="Text 6"/>
          <p:cNvSpPr/>
          <p:nvPr/>
        </p:nvSpPr>
        <p:spPr>
          <a:xfrm>
            <a:off x="5303520" y="1645920"/>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Top-10 고유 카페 92.9%</a:t>
            </a:r>
            <a:endParaRPr lang="en-US" sz="900" dirty="0"/>
          </a:p>
        </p:txBody>
      </p:sp>
      <p:pic>
        <p:nvPicPr>
          <p:cNvPr id="11" name="Image 1"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1972178"/>
            <a:ext cx="79004" cy="79004"/>
          </a:xfrm>
          <a:prstGeom prst="rect">
            <a:avLst/>
          </a:prstGeom>
        </p:spPr>
      </p:pic>
      <p:sp>
        <p:nvSpPr>
          <p:cNvPr id="12" name="Text 7"/>
          <p:cNvSpPr/>
          <p:nvPr/>
        </p:nvSpPr>
        <p:spPr>
          <a:xfrm>
            <a:off x="5303520" y="1901952"/>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정상 질문 빈 결과 0.0%</a:t>
            </a:r>
            <a:endParaRPr lang="en-US" sz="900" dirty="0"/>
          </a:p>
        </p:txBody>
      </p:sp>
      <p:pic>
        <p:nvPicPr>
          <p:cNvPr id="13" name="Image 2"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2228210"/>
            <a:ext cx="79004" cy="79004"/>
          </a:xfrm>
          <a:prstGeom prst="rect">
            <a:avLst/>
          </a:prstGeom>
        </p:spPr>
      </p:pic>
      <p:sp>
        <p:nvSpPr>
          <p:cNvPr id="5" name="Text 8"/>
          <p:cNvSpPr/>
          <p:nvPr/>
        </p:nvSpPr>
        <p:spPr>
          <a:xfrm>
            <a:off x="5303520" y="2157984"/>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지역 메타데이터 100%</a:t>
            </a:r>
            <a:endParaRPr lang="en-US" sz="900" dirty="0"/>
          </a:p>
        </p:txBody>
      </p:sp>
      <p:sp>
        <p:nvSpPr>
          <p:cNvPr id="15" name="Shape 9"/>
          <p:cNvSpPr/>
          <p:nvPr/>
        </p:nvSpPr>
        <p:spPr>
          <a:xfrm>
            <a:off x="4937760" y="2505456"/>
            <a:ext cx="3703320" cy="1078992"/>
          </a:xfrm>
          <a:prstGeom prst="roundRect">
            <a:avLst>
              <a:gd name="adj" fmla="val 6780"/>
            </a:avLst>
          </a:prstGeom>
          <a:solidFill>
            <a:srgbClr val="FBEEE0"/>
          </a:solidFill>
          <a:ln w="12700">
            <a:solidFill>
              <a:srgbClr val="333333"/>
            </a:solidFill>
            <a:prstDash val="solid"/>
          </a:ln>
        </p:spPr>
        <p:txBody>
          <a:bodyPr/>
          <a:lstStyle/>
          <a:p>
            <a:endParaRPr lang="ko-KR" altLang="en-US"/>
          </a:p>
        </p:txBody>
      </p:sp>
      <p:pic>
        <p:nvPicPr>
          <p:cNvPr id="16" name="Image 3"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2648834"/>
            <a:ext cx="79004" cy="79004"/>
          </a:xfrm>
          <a:prstGeom prst="rect">
            <a:avLst/>
          </a:prstGeom>
        </p:spPr>
      </p:pic>
      <p:sp>
        <p:nvSpPr>
          <p:cNvPr id="17" name="Text 10"/>
          <p:cNvSpPr/>
          <p:nvPr/>
        </p:nvSpPr>
        <p:spPr>
          <a:xfrm>
            <a:off x="5303520" y="2578608"/>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서비스 밖 질문 거절률</a:t>
            </a:r>
            <a:endParaRPr lang="en-US" sz="900" dirty="0"/>
          </a:p>
        </p:txBody>
      </p:sp>
      <p:sp>
        <p:nvSpPr>
          <p:cNvPr id="18" name="Text 11"/>
          <p:cNvSpPr/>
          <p:nvPr/>
        </p:nvSpPr>
        <p:spPr>
          <a:xfrm>
            <a:off x="7680960" y="2578608"/>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0.0%</a:t>
            </a:r>
            <a:endParaRPr lang="en-US" sz="900" dirty="0"/>
          </a:p>
        </p:txBody>
      </p:sp>
      <p:pic>
        <p:nvPicPr>
          <p:cNvPr id="19" name="Image 4"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2904866"/>
            <a:ext cx="79004" cy="79004"/>
          </a:xfrm>
          <a:prstGeom prst="rect">
            <a:avLst/>
          </a:prstGeom>
        </p:spPr>
      </p:pic>
      <p:sp>
        <p:nvSpPr>
          <p:cNvPr id="20" name="Text 12"/>
          <p:cNvSpPr/>
          <p:nvPr/>
        </p:nvSpPr>
        <p:spPr>
          <a:xfrm>
            <a:off x="5303520" y="2834640"/>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표현 변형 안정성@10</a:t>
            </a:r>
            <a:endParaRPr lang="en-US" sz="900" dirty="0"/>
          </a:p>
        </p:txBody>
      </p:sp>
      <p:sp>
        <p:nvSpPr>
          <p:cNvPr id="21" name="Text 13"/>
          <p:cNvSpPr/>
          <p:nvPr/>
        </p:nvSpPr>
        <p:spPr>
          <a:xfrm>
            <a:off x="7680960" y="2834640"/>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22.8%</a:t>
            </a:r>
            <a:endParaRPr lang="en-US" sz="900" dirty="0"/>
          </a:p>
        </p:txBody>
      </p:sp>
      <p:pic>
        <p:nvPicPr>
          <p:cNvPr id="22" name="Image 5"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3160898"/>
            <a:ext cx="79004" cy="79004"/>
          </a:xfrm>
          <a:prstGeom prst="rect">
            <a:avLst/>
          </a:prstGeom>
        </p:spPr>
      </p:pic>
      <p:sp>
        <p:nvSpPr>
          <p:cNvPr id="23" name="Text 14"/>
          <p:cNvSpPr/>
          <p:nvPr/>
        </p:nvSpPr>
        <p:spPr>
          <a:xfrm>
            <a:off x="5303520" y="3090672"/>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제외 카페 노출</a:t>
            </a:r>
            <a:endParaRPr lang="en-US" sz="900" dirty="0"/>
          </a:p>
        </p:txBody>
      </p:sp>
      <p:sp>
        <p:nvSpPr>
          <p:cNvPr id="24" name="Text 15"/>
          <p:cNvSpPr/>
          <p:nvPr/>
        </p:nvSpPr>
        <p:spPr>
          <a:xfrm>
            <a:off x="7680960" y="3090672"/>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6.2%</a:t>
            </a:r>
            <a:endParaRPr lang="en-US" sz="900" dirty="0"/>
          </a:p>
        </p:txBody>
      </p:sp>
      <p:pic>
        <p:nvPicPr>
          <p:cNvPr id="25" name="Image 6"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3416930"/>
            <a:ext cx="79004" cy="79004"/>
          </a:xfrm>
          <a:prstGeom prst="rect">
            <a:avLst/>
          </a:prstGeom>
        </p:spPr>
      </p:pic>
      <p:sp>
        <p:nvSpPr>
          <p:cNvPr id="26" name="Text 16"/>
          <p:cNvSpPr/>
          <p:nvPr/>
        </p:nvSpPr>
        <p:spPr>
          <a:xfrm>
            <a:off x="5303520" y="3346704"/>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서빙 식별자 고유성</a:t>
            </a:r>
            <a:endParaRPr lang="en-US" sz="900" dirty="0"/>
          </a:p>
        </p:txBody>
      </p:sp>
      <p:sp>
        <p:nvSpPr>
          <p:cNvPr id="27" name="Text 17"/>
          <p:cNvSpPr/>
          <p:nvPr/>
        </p:nvSpPr>
        <p:spPr>
          <a:xfrm>
            <a:off x="7680960" y="3346704"/>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76.3%</a:t>
            </a:r>
            <a:endParaRPr lang="en-US" sz="900" dirty="0"/>
          </a:p>
        </p:txBody>
      </p:sp>
      <p:sp>
        <p:nvSpPr>
          <p:cNvPr id="28" name="Shape 18"/>
          <p:cNvSpPr/>
          <p:nvPr/>
        </p:nvSpPr>
        <p:spPr>
          <a:xfrm>
            <a:off x="502920" y="3675888"/>
            <a:ext cx="2560320" cy="868680"/>
          </a:xfrm>
          <a:prstGeom prst="roundRect">
            <a:avLst>
              <a:gd name="adj" fmla="val 10526"/>
            </a:avLst>
          </a:prstGeom>
          <a:solidFill>
            <a:srgbClr val="FBEEE0"/>
          </a:solidFill>
          <a:ln w="12700">
            <a:solidFill>
              <a:srgbClr val="333333"/>
            </a:solidFill>
            <a:prstDash val="solid"/>
          </a:ln>
        </p:spPr>
        <p:txBody>
          <a:bodyPr/>
          <a:lstStyle/>
          <a:p>
            <a:endParaRPr lang="ko-KR" altLang="en-US"/>
          </a:p>
        </p:txBody>
      </p:sp>
      <p:sp>
        <p:nvSpPr>
          <p:cNvPr id="29" name="Text 19"/>
          <p:cNvSpPr/>
          <p:nvPr/>
        </p:nvSpPr>
        <p:spPr>
          <a:xfrm>
            <a:off x="630936" y="3749040"/>
            <a:ext cx="384048" cy="256032"/>
          </a:xfrm>
          <a:prstGeom prst="rect">
            <a:avLst/>
          </a:prstGeom>
          <a:solidFill>
            <a:srgbClr val="B4530E"/>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P0</a:t>
            </a:r>
            <a:endParaRPr lang="en-US" sz="1000" dirty="0"/>
          </a:p>
        </p:txBody>
      </p:sp>
      <p:sp>
        <p:nvSpPr>
          <p:cNvPr id="30" name="Text 20"/>
          <p:cNvSpPr/>
          <p:nvPr/>
        </p:nvSpPr>
        <p:spPr>
          <a:xfrm>
            <a:off x="1069848" y="3749040"/>
            <a:ext cx="1874520" cy="256032"/>
          </a:xfrm>
          <a:prstGeom prst="rect">
            <a:avLst/>
          </a:prstGeom>
          <a:noFill/>
          <a:ln/>
        </p:spPr>
        <p:txBody>
          <a:bodyPr wrap="square" lIns="0" tIns="0" rIns="0" bIns="0" rtlCol="0" anchor="ctr"/>
          <a:lstStyle/>
          <a:p>
            <a:pPr marL="0" indent="0">
              <a:buNone/>
            </a:pPr>
            <a:r>
              <a:rPr lang="en-US" sz="1000" b="1" dirty="0">
                <a:solidFill>
                  <a:srgbClr val="B4530E"/>
                </a:solidFill>
                <a:latin typeface="맑은 고딕" pitchFamily="34" charset="0"/>
                <a:ea typeface="맑은 고딕" pitchFamily="34" charset="-122"/>
                <a:cs typeface="맑은 고딕" pitchFamily="34" charset="-120"/>
              </a:rPr>
              <a:t>잘못된 추천 차단</a:t>
            </a:r>
            <a:endParaRPr lang="en-US" sz="1000" dirty="0"/>
          </a:p>
        </p:txBody>
      </p:sp>
      <p:sp>
        <p:nvSpPr>
          <p:cNvPr id="31" name="Text 21"/>
          <p:cNvSpPr/>
          <p:nvPr/>
        </p:nvSpPr>
        <p:spPr>
          <a:xfrm>
            <a:off x="63093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서비스 밖 질문 거절 · HOLD/폐업 카페 후보 단계 차단 · forbidden 태그는 감점으로</a:t>
            </a:r>
            <a:endParaRPr lang="en-US" sz="800" dirty="0"/>
          </a:p>
        </p:txBody>
      </p:sp>
      <p:sp>
        <p:nvSpPr>
          <p:cNvPr id="32" name="Shape 22"/>
          <p:cNvSpPr/>
          <p:nvPr/>
        </p:nvSpPr>
        <p:spPr>
          <a:xfrm>
            <a:off x="3291840" y="3675888"/>
            <a:ext cx="2560320" cy="868680"/>
          </a:xfrm>
          <a:prstGeom prst="roundRect">
            <a:avLst>
              <a:gd name="adj" fmla="val 10526"/>
            </a:avLst>
          </a:prstGeom>
          <a:solidFill>
            <a:srgbClr val="E7F3F1"/>
          </a:solidFill>
          <a:ln w="12700">
            <a:solidFill>
              <a:srgbClr val="333333"/>
            </a:solidFill>
            <a:prstDash val="solid"/>
          </a:ln>
        </p:spPr>
        <p:txBody>
          <a:bodyPr/>
          <a:lstStyle/>
          <a:p>
            <a:endParaRPr lang="ko-KR" altLang="en-US"/>
          </a:p>
        </p:txBody>
      </p:sp>
      <p:sp>
        <p:nvSpPr>
          <p:cNvPr id="33" name="Text 23"/>
          <p:cNvSpPr/>
          <p:nvPr/>
        </p:nvSpPr>
        <p:spPr>
          <a:xfrm>
            <a:off x="3419856" y="3749040"/>
            <a:ext cx="384048" cy="256032"/>
          </a:xfrm>
          <a:prstGeom prst="rect">
            <a:avLst/>
          </a:prstGeom>
          <a:solidFill>
            <a:srgbClr val="0F5257"/>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P1</a:t>
            </a:r>
            <a:endParaRPr lang="en-US" sz="1000" dirty="0"/>
          </a:p>
        </p:txBody>
      </p:sp>
      <p:sp>
        <p:nvSpPr>
          <p:cNvPr id="34" name="Text 24"/>
          <p:cNvSpPr/>
          <p:nvPr/>
        </p:nvSpPr>
        <p:spPr>
          <a:xfrm>
            <a:off x="3858768" y="3749040"/>
            <a:ext cx="1874520" cy="256032"/>
          </a:xfrm>
          <a:prstGeom prst="rect">
            <a:avLst/>
          </a:prstGeom>
          <a:noFill/>
          <a:ln/>
        </p:spPr>
        <p:txBody>
          <a:bodyPr wrap="square" lIns="0" tIns="0" rIns="0" bIns="0" rtlCol="0" anchor="ctr"/>
          <a:lstStyle/>
          <a:p>
            <a:pPr marL="0" indent="0">
              <a:buNone/>
            </a:pPr>
            <a:r>
              <a:rPr lang="en-US" sz="1000" b="1" dirty="0">
                <a:solidFill>
                  <a:srgbClr val="0F5257"/>
                </a:solidFill>
                <a:latin typeface="맑은 고딕" pitchFamily="34" charset="0"/>
                <a:ea typeface="맑은 고딕" pitchFamily="34" charset="-122"/>
                <a:cs typeface="맑은 고딕" pitchFamily="34" charset="-120"/>
              </a:rPr>
              <a:t>place_id 정규화 + 태그 재정렬</a:t>
            </a:r>
            <a:endParaRPr lang="en-US" sz="1000" dirty="0"/>
          </a:p>
        </p:txBody>
      </p:sp>
      <p:sp>
        <p:nvSpPr>
          <p:cNvPr id="35" name="Text 25"/>
          <p:cNvSpPr/>
          <p:nvPr/>
        </p:nvSpPr>
        <p:spPr>
          <a:xfrm>
            <a:off x="341985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벡터 검색은 후보 생성용, required 지역·태그로 Top-20 재정렬</a:t>
            </a:r>
            <a:endParaRPr lang="en-US" sz="800" dirty="0"/>
          </a:p>
        </p:txBody>
      </p:sp>
      <p:sp>
        <p:nvSpPr>
          <p:cNvPr id="36" name="Shape 26"/>
          <p:cNvSpPr/>
          <p:nvPr/>
        </p:nvSpPr>
        <p:spPr>
          <a:xfrm>
            <a:off x="6080760" y="3675888"/>
            <a:ext cx="2560320" cy="868680"/>
          </a:xfrm>
          <a:prstGeom prst="roundRect">
            <a:avLst>
              <a:gd name="adj" fmla="val 10526"/>
            </a:avLst>
          </a:prstGeom>
          <a:solidFill>
            <a:srgbClr val="EDF1F0"/>
          </a:solidFill>
          <a:ln w="12700">
            <a:solidFill>
              <a:srgbClr val="333333"/>
            </a:solidFill>
            <a:prstDash val="solid"/>
          </a:ln>
        </p:spPr>
        <p:txBody>
          <a:bodyPr/>
          <a:lstStyle/>
          <a:p>
            <a:endParaRPr lang="ko-KR" altLang="en-US"/>
          </a:p>
        </p:txBody>
      </p:sp>
      <p:sp>
        <p:nvSpPr>
          <p:cNvPr id="37" name="Text 27"/>
          <p:cNvSpPr/>
          <p:nvPr/>
        </p:nvSpPr>
        <p:spPr>
          <a:xfrm>
            <a:off x="6208776" y="3749040"/>
            <a:ext cx="384048" cy="256032"/>
          </a:xfrm>
          <a:prstGeom prst="rect">
            <a:avLst/>
          </a:prstGeom>
          <a:solidFill>
            <a:srgbClr val="44686B"/>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P2</a:t>
            </a:r>
            <a:endParaRPr lang="en-US" sz="1000" dirty="0"/>
          </a:p>
        </p:txBody>
      </p:sp>
      <p:sp>
        <p:nvSpPr>
          <p:cNvPr id="38" name="Text 28"/>
          <p:cNvSpPr/>
          <p:nvPr/>
        </p:nvSpPr>
        <p:spPr>
          <a:xfrm>
            <a:off x="6647688" y="3749040"/>
            <a:ext cx="1874520" cy="256032"/>
          </a:xfrm>
          <a:prstGeom prst="rect">
            <a:avLst/>
          </a:prstGeom>
          <a:noFill/>
          <a:ln/>
        </p:spPr>
        <p:txBody>
          <a:bodyPr wrap="square" lIns="0" tIns="0" rIns="0" bIns="0" rtlCol="0" anchor="ctr"/>
          <a:lstStyle/>
          <a:p>
            <a:pPr marL="0" indent="0">
              <a:buNone/>
            </a:pPr>
            <a:r>
              <a:rPr lang="en-US" sz="1000" b="1" dirty="0">
                <a:solidFill>
                  <a:srgbClr val="44686B"/>
                </a:solidFill>
                <a:latin typeface="맑은 고딕" pitchFamily="34" charset="0"/>
                <a:ea typeface="맑은 고딕" pitchFamily="34" charset="-122"/>
                <a:cs typeface="맑은 고딕" pitchFamily="34" charset="-120"/>
              </a:rPr>
              <a:t>표현 변형 대응</a:t>
            </a:r>
            <a:endParaRPr lang="en-US" sz="1000" dirty="0"/>
          </a:p>
        </p:txBody>
      </p:sp>
      <p:sp>
        <p:nvSpPr>
          <p:cNvPr id="39" name="Text 29"/>
          <p:cNvSpPr/>
          <p:nvPr/>
        </p:nvSpPr>
        <p:spPr>
          <a:xfrm>
            <a:off x="620877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오션뷰 = 바다 보이는 = 해변 앞 동의어 묶음을 검색 전 단계에서 확장</a:t>
            </a:r>
            <a:endParaRPr lang="en-US" sz="800" dirty="0"/>
          </a:p>
        </p:txBody>
      </p:sp>
      <p:sp>
        <p:nvSpPr>
          <p:cNvPr id="40" name="Text 30"/>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1" name="Text 31"/>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DCD4-C12D-CACD-7A61-EF2DE8AF5A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309285-AF7D-4D8E-D187-AF7BCE925143}"/>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③</a:t>
            </a:r>
            <a:endParaRPr lang="en-US" sz="1100" dirty="0"/>
          </a:p>
        </p:txBody>
      </p:sp>
      <p:sp>
        <p:nvSpPr>
          <p:cNvPr id="3" name="Text 1">
            <a:extLst>
              <a:ext uri="{FF2B5EF4-FFF2-40B4-BE49-F238E27FC236}">
                <a16:creationId xmlns:a16="http://schemas.microsoft.com/office/drawing/2014/main" id="{7EEE0214-2A7D-2C6E-88D8-23041B740466}"/>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모델　구조　업데이트와　성능　개선</a:t>
            </a:r>
            <a:endParaRPr lang="en-US" sz="2700" dirty="0"/>
          </a:p>
        </p:txBody>
      </p:sp>
      <p:sp>
        <p:nvSpPr>
          <p:cNvPr id="40" name="Text 30">
            <a:extLst>
              <a:ext uri="{FF2B5EF4-FFF2-40B4-BE49-F238E27FC236}">
                <a16:creationId xmlns:a16="http://schemas.microsoft.com/office/drawing/2014/main" id="{1DAF084C-BB19-DD1D-6DB1-58DA36A10892}"/>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1" name="Text 31">
            <a:extLst>
              <a:ext uri="{FF2B5EF4-FFF2-40B4-BE49-F238E27FC236}">
                <a16:creationId xmlns:a16="http://schemas.microsoft.com/office/drawing/2014/main" id="{0564605A-FE57-1BEB-AE3A-B7EE85FB8E03}"/>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13</a:t>
            </a:r>
            <a:endParaRPr lang="en-US" sz="1100" dirty="0"/>
          </a:p>
        </p:txBody>
      </p:sp>
      <p:sp>
        <p:nvSpPr>
          <p:cNvPr id="43" name="직사각형 42">
            <a:extLst>
              <a:ext uri="{FF2B5EF4-FFF2-40B4-BE49-F238E27FC236}">
                <a16:creationId xmlns:a16="http://schemas.microsoft.com/office/drawing/2014/main" id="{4500E3CB-9515-3D4E-1B33-D634B181D6A6}"/>
              </a:ext>
            </a:extLst>
          </p:cNvPr>
          <p:cNvSpPr/>
          <p:nvPr/>
        </p:nvSpPr>
        <p:spPr>
          <a:xfrm>
            <a:off x="576196" y="1997900"/>
            <a:ext cx="4753627" cy="97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모델　구조의　변경과　함께</a:t>
            </a:r>
            <a:endParaRPr lang="en-US" altLang="ko-KR" dirty="0"/>
          </a:p>
          <a:p>
            <a:pPr algn="ctr"/>
            <a:r>
              <a:rPr lang="ko-KR" altLang="en-US" dirty="0"/>
              <a:t>성능지표가　어떻게　변했는지　그래프　및　간략　문장으로　설명　필요</a:t>
            </a:r>
          </a:p>
        </p:txBody>
      </p:sp>
    </p:spTree>
    <p:extLst>
      <p:ext uri="{BB962C8B-B14F-4D97-AF65-F5344CB8AC3E}">
        <p14:creationId xmlns:p14="http://schemas.microsoft.com/office/powerpoint/2010/main" val="1775693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07  EVALUATION CRITERIA</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평가 항목별 — 우리는 무엇으로 답했는가</a:t>
            </a:r>
            <a:endParaRPr lang="en-US" sz="2700" dirty="0"/>
          </a:p>
        </p:txBody>
      </p:sp>
      <p:sp>
        <p:nvSpPr>
          <p:cNvPr id="4" name="Shape 2"/>
          <p:cNvSpPr/>
          <p:nvPr/>
        </p:nvSpPr>
        <p:spPr>
          <a:xfrm>
            <a:off x="502920" y="1188720"/>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5" name="Shape 3"/>
          <p:cNvSpPr/>
          <p:nvPr/>
        </p:nvSpPr>
        <p:spPr>
          <a:xfrm>
            <a:off x="640080" y="1307592"/>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30423" y="1397935"/>
            <a:ext cx="166787" cy="166787"/>
          </a:xfrm>
          <a:prstGeom prst="rect">
            <a:avLst/>
          </a:prstGeom>
        </p:spPr>
      </p:pic>
      <p:sp>
        <p:nvSpPr>
          <p:cNvPr id="7" name="Text 4"/>
          <p:cNvSpPr/>
          <p:nvPr/>
        </p:nvSpPr>
        <p:spPr>
          <a:xfrm>
            <a:off x="1097280" y="1225296"/>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문제 정의 · 기획</a:t>
            </a:r>
            <a:endParaRPr lang="en-US" sz="1100" dirty="0"/>
          </a:p>
        </p:txBody>
      </p:sp>
      <p:sp>
        <p:nvSpPr>
          <p:cNvPr id="8" name="Text 5"/>
          <p:cNvSpPr/>
          <p:nvPr/>
        </p:nvSpPr>
        <p:spPr>
          <a:xfrm>
            <a:off x="2834640" y="1234440"/>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여행자의 3대 장벽(광고 오염 · 실존 · 무근거 추천)을 정의하고,</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“신뢰”를 컨셉이 아니라 데이터 구조로 푼다는 목표를 세웠다.</a:t>
            </a:r>
            <a:endParaRPr lang="en-US" sz="900" dirty="0"/>
          </a:p>
        </p:txBody>
      </p:sp>
      <p:sp>
        <p:nvSpPr>
          <p:cNvPr id="9" name="Shape 6"/>
          <p:cNvSpPr/>
          <p:nvPr/>
        </p:nvSpPr>
        <p:spPr>
          <a:xfrm>
            <a:off x="502920" y="1847088"/>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10" name="Shape 7"/>
          <p:cNvSpPr/>
          <p:nvPr/>
        </p:nvSpPr>
        <p:spPr>
          <a:xfrm>
            <a:off x="640080" y="1965960"/>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1"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30423" y="2056303"/>
            <a:ext cx="166787" cy="166787"/>
          </a:xfrm>
          <a:prstGeom prst="rect">
            <a:avLst/>
          </a:prstGeom>
        </p:spPr>
      </p:pic>
      <p:sp>
        <p:nvSpPr>
          <p:cNvPr id="12" name="Text 8"/>
          <p:cNvSpPr/>
          <p:nvPr/>
        </p:nvSpPr>
        <p:spPr>
          <a:xfrm>
            <a:off x="1097280" y="1883664"/>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모델 설계 · 활용</a:t>
            </a:r>
            <a:endParaRPr lang="en-US" sz="1100" dirty="0"/>
          </a:p>
        </p:txBody>
      </p:sp>
      <p:sp>
        <p:nvSpPr>
          <p:cNvPr id="13" name="Text 9"/>
          <p:cNvSpPr/>
          <p:nvPr/>
        </p:nvSpPr>
        <p:spPr>
          <a:xfrm>
            <a:off x="2834640" y="1892808"/>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gpt-5-mini는 런타임 양끝 2회(의도 분석 · 근거 종합)만. 임베딩은 검색이 아닌 번역기.</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3분기 라우팅(이름 · 브라우즈 · 조건) — 선택마다 비교 실험 근거를 남겼다.</a:t>
            </a:r>
            <a:endParaRPr lang="en-US" sz="900" dirty="0"/>
          </a:p>
        </p:txBody>
      </p:sp>
      <p:sp>
        <p:nvSpPr>
          <p:cNvPr id="14" name="Shape 10"/>
          <p:cNvSpPr/>
          <p:nvPr/>
        </p:nvSpPr>
        <p:spPr>
          <a:xfrm>
            <a:off x="502920" y="2505456"/>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15" name="Shape 11"/>
          <p:cNvSpPr/>
          <p:nvPr/>
        </p:nvSpPr>
        <p:spPr>
          <a:xfrm>
            <a:off x="640080" y="2624328"/>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6"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30423" y="2714671"/>
            <a:ext cx="166787" cy="166787"/>
          </a:xfrm>
          <a:prstGeom prst="rect">
            <a:avLst/>
          </a:prstGeom>
        </p:spPr>
      </p:pic>
      <p:sp>
        <p:nvSpPr>
          <p:cNvPr id="17" name="Text 12"/>
          <p:cNvSpPr/>
          <p:nvPr/>
        </p:nvSpPr>
        <p:spPr>
          <a:xfrm>
            <a:off x="1097280" y="2542032"/>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서비스 견고성</a:t>
            </a:r>
            <a:endParaRPr lang="en-US" sz="1100" dirty="0"/>
          </a:p>
        </p:txBody>
      </p:sp>
      <p:sp>
        <p:nvSpPr>
          <p:cNvPr id="18" name="Text 13"/>
          <p:cNvSpPr/>
          <p:nvPr/>
        </p:nvSpPr>
        <p:spPr>
          <a:xfrm>
            <a:off x="2834640" y="2551176"/>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LLM 실패 시 원래 순서로 무해 폴백 · API 다운 시 프론트 mock 폴백 ·</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0건이면 완화 사다리(하드조건은 절대 완화 안 함) · 반복 결정성 90% 측정.</a:t>
            </a:r>
            <a:endParaRPr lang="en-US" sz="900" dirty="0"/>
          </a:p>
        </p:txBody>
      </p:sp>
      <p:sp>
        <p:nvSpPr>
          <p:cNvPr id="19" name="Shape 14"/>
          <p:cNvSpPr/>
          <p:nvPr/>
        </p:nvSpPr>
        <p:spPr>
          <a:xfrm>
            <a:off x="502920" y="3163824"/>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20" name="Shape 15"/>
          <p:cNvSpPr/>
          <p:nvPr/>
        </p:nvSpPr>
        <p:spPr>
          <a:xfrm>
            <a:off x="640080" y="3282696"/>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1" name="Image 3" descr="preencoded.png"/>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30423" y="3373039"/>
            <a:ext cx="166787" cy="166787"/>
          </a:xfrm>
          <a:prstGeom prst="rect">
            <a:avLst/>
          </a:prstGeom>
        </p:spPr>
      </p:pic>
      <p:sp>
        <p:nvSpPr>
          <p:cNvPr id="22" name="Text 16"/>
          <p:cNvSpPr/>
          <p:nvPr/>
        </p:nvSpPr>
        <p:spPr>
          <a:xfrm>
            <a:off x="1097280" y="3200400"/>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신뢰성 · 설득력</a:t>
            </a:r>
            <a:endParaRPr lang="en-US" sz="1100" dirty="0"/>
          </a:p>
        </p:txBody>
      </p:sp>
      <p:sp>
        <p:nvSpPr>
          <p:cNvPr id="23" name="Text 17"/>
          <p:cNvSpPr/>
          <p:nvPr/>
        </p:nvSpPr>
        <p:spPr>
          <a:xfrm>
            <a:off x="2834640" y="3209544"/>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모든 인용은 원문 부분문자열 검증 통과분만 (파일럿 75건, 실패 0건).</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Gold 50 / Silver 168 / Bronze 3단 정량 평가로 강점과 약점을 함께 공개.</a:t>
            </a:r>
            <a:endParaRPr lang="en-US" sz="900" dirty="0"/>
          </a:p>
        </p:txBody>
      </p:sp>
      <p:sp>
        <p:nvSpPr>
          <p:cNvPr id="24" name="Shape 18"/>
          <p:cNvSpPr/>
          <p:nvPr/>
        </p:nvSpPr>
        <p:spPr>
          <a:xfrm>
            <a:off x="502920" y="3822192"/>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25" name="Shape 19"/>
          <p:cNvSpPr/>
          <p:nvPr/>
        </p:nvSpPr>
        <p:spPr>
          <a:xfrm>
            <a:off x="640080" y="3941064"/>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6" name="Image 4" descr="preencoded.png"/>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730423" y="4031407"/>
            <a:ext cx="166787" cy="166787"/>
          </a:xfrm>
          <a:prstGeom prst="rect">
            <a:avLst/>
          </a:prstGeom>
        </p:spPr>
      </p:pic>
      <p:sp>
        <p:nvSpPr>
          <p:cNvPr id="27" name="Text 20"/>
          <p:cNvSpPr/>
          <p:nvPr/>
        </p:nvSpPr>
        <p:spPr>
          <a:xfrm>
            <a:off x="1097280" y="3858768"/>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보안</a:t>
            </a:r>
            <a:endParaRPr lang="en-US" sz="1100" dirty="0"/>
          </a:p>
        </p:txBody>
      </p:sp>
      <p:sp>
        <p:nvSpPr>
          <p:cNvPr id="28" name="Text 21"/>
          <p:cNvSpPr/>
          <p:nvPr/>
        </p:nvSpPr>
        <p:spPr>
          <a:xfrm>
            <a:off x="2834640" y="3867912"/>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OpenAI · 유튜브 · 카카오 키는 서버 .env에서만 로드, 프론트로는 만료되는 임시 URL만 전달(/photos).</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카카오 JS 키는 config.local.js로 분리 · gitignore. 사용자 입력은 코드가 토큰화 후 사용.</a:t>
            </a:r>
            <a:endParaRPr lang="en-US" sz="900" dirty="0"/>
          </a:p>
        </p:txBody>
      </p:sp>
      <p:sp>
        <p:nvSpPr>
          <p:cNvPr id="29" name="Text 22"/>
          <p:cNvSpPr/>
          <p:nvPr/>
        </p:nvSpPr>
        <p:spPr>
          <a:xfrm>
            <a:off x="502920" y="4443984"/>
            <a:ext cx="8138160" cy="256032"/>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다섯 항목 모두 “말” 대신 “실측치와 코드 위치”로 답할 수 있게 설계했습니다.</a:t>
            </a:r>
            <a:endParaRPr lang="en-US" sz="950" dirty="0"/>
          </a:p>
        </p:txBody>
      </p:sp>
      <p:sp>
        <p:nvSpPr>
          <p:cNvPr id="30"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08  DEMO</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지금부터 보실 네 장면</a:t>
            </a:r>
            <a:endParaRPr lang="en-US" sz="2700" dirty="0"/>
          </a:p>
        </p:txBody>
      </p:sp>
      <p:sp>
        <p:nvSpPr>
          <p:cNvPr id="4" name="Shape 2"/>
          <p:cNvSpPr/>
          <p:nvPr/>
        </p:nvSpPr>
        <p:spPr>
          <a:xfrm>
            <a:off x="50292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8580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01</a:t>
            </a:r>
            <a:endParaRPr lang="en-US" sz="1200" dirty="0"/>
          </a:p>
        </p:txBody>
      </p:sp>
      <p:sp>
        <p:nvSpPr>
          <p:cNvPr id="6" name="Text 4"/>
          <p:cNvSpPr/>
          <p:nvPr/>
        </p:nvSpPr>
        <p:spPr>
          <a:xfrm>
            <a:off x="114300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이름 조회</a:t>
            </a:r>
            <a:endParaRPr lang="en-US" sz="1250" dirty="0"/>
          </a:p>
        </p:txBody>
      </p:sp>
      <p:sp>
        <p:nvSpPr>
          <p:cNvPr id="7" name="Shape 5"/>
          <p:cNvSpPr/>
          <p:nvPr/>
        </p:nvSpPr>
        <p:spPr>
          <a:xfrm>
            <a:off x="242316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242316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“바다다”</a:t>
            </a:r>
            <a:endParaRPr lang="en-US" sz="900" dirty="0"/>
          </a:p>
        </p:txBody>
      </p:sp>
      <p:sp>
        <p:nvSpPr>
          <p:cNvPr id="9" name="Text 7"/>
          <p:cNvSpPr/>
          <p:nvPr/>
        </p:nvSpPr>
        <p:spPr>
          <a:xfrm>
            <a:off x="68580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카페명 사전이 매치하면 임베딩 점수와 무관하게</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name_match 카드를 1순위로 고정한다 (집행은 코드)</a:t>
            </a:r>
            <a:endParaRPr lang="en-US" sz="950" dirty="0"/>
          </a:p>
        </p:txBody>
      </p:sp>
      <p:sp>
        <p:nvSpPr>
          <p:cNvPr id="10" name="Shape 8"/>
          <p:cNvSpPr/>
          <p:nvPr/>
        </p:nvSpPr>
        <p:spPr>
          <a:xfrm>
            <a:off x="466344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1" name="Text 9"/>
          <p:cNvSpPr/>
          <p:nvPr/>
        </p:nvSpPr>
        <p:spPr>
          <a:xfrm>
            <a:off x="484632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02</a:t>
            </a:r>
            <a:endParaRPr lang="en-US" sz="1200" dirty="0"/>
          </a:p>
        </p:txBody>
      </p:sp>
      <p:sp>
        <p:nvSpPr>
          <p:cNvPr id="12" name="Text 10"/>
          <p:cNvSpPr/>
          <p:nvPr/>
        </p:nvSpPr>
        <p:spPr>
          <a:xfrm>
            <a:off x="530352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브라우즈</a:t>
            </a:r>
            <a:endParaRPr lang="en-US" sz="1250" dirty="0"/>
          </a:p>
        </p:txBody>
      </p:sp>
      <p:sp>
        <p:nvSpPr>
          <p:cNvPr id="13" name="Shape 11"/>
          <p:cNvSpPr/>
          <p:nvPr/>
        </p:nvSpPr>
        <p:spPr>
          <a:xfrm>
            <a:off x="658368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14" name="Text 12"/>
          <p:cNvSpPr/>
          <p:nvPr/>
        </p:nvSpPr>
        <p:spPr>
          <a:xfrm>
            <a:off x="658368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카페”</a:t>
            </a:r>
            <a:endParaRPr lang="en-US" sz="900" dirty="0"/>
          </a:p>
        </p:txBody>
      </p:sp>
      <p:sp>
        <p:nvSpPr>
          <p:cNvPr id="15" name="Text 13"/>
          <p:cNvSpPr/>
          <p:nvPr/>
        </p:nvSpPr>
        <p:spPr>
          <a:xfrm>
            <a:off x="484632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조건이 없는 질의는 임베딩을 생략한다.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지역 필터 + 다수결(고유 블로거 수) 정렬만</a:t>
            </a:r>
            <a:endParaRPr lang="en-US" sz="950" dirty="0"/>
          </a:p>
        </p:txBody>
      </p:sp>
      <p:sp>
        <p:nvSpPr>
          <p:cNvPr id="16" name="Shape 14"/>
          <p:cNvSpPr/>
          <p:nvPr/>
        </p:nvSpPr>
        <p:spPr>
          <a:xfrm>
            <a:off x="502920" y="2871216"/>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68580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03</a:t>
            </a:r>
            <a:endParaRPr lang="en-US" sz="1200" dirty="0"/>
          </a:p>
        </p:txBody>
      </p:sp>
      <p:sp>
        <p:nvSpPr>
          <p:cNvPr id="18" name="Text 16"/>
          <p:cNvSpPr/>
          <p:nvPr/>
        </p:nvSpPr>
        <p:spPr>
          <a:xfrm>
            <a:off x="114300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조건 검색</a:t>
            </a:r>
            <a:endParaRPr lang="en-US" sz="1250" dirty="0"/>
          </a:p>
        </p:txBody>
      </p:sp>
      <p:sp>
        <p:nvSpPr>
          <p:cNvPr id="19" name="Shape 17"/>
          <p:cNvSpPr/>
          <p:nvPr/>
        </p:nvSpPr>
        <p:spPr>
          <a:xfrm>
            <a:off x="242316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0" name="Text 18"/>
          <p:cNvSpPr/>
          <p:nvPr/>
        </p:nvSpPr>
        <p:spPr>
          <a:xfrm>
            <a:off x="242316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노을 조용한 카페”</a:t>
            </a:r>
            <a:endParaRPr lang="en-US" sz="900" dirty="0"/>
          </a:p>
        </p:txBody>
      </p:sp>
      <p:sp>
        <p:nvSpPr>
          <p:cNvPr id="21" name="Text 19"/>
          <p:cNvSpPr/>
          <p:nvPr/>
        </p:nvSpPr>
        <p:spPr>
          <a:xfrm>
            <a:off x="685800" y="3374136"/>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질의 임베딩 → Chroma 조회 → 주소 기반 지역 교정</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 gpt-5-mini 선별·정렬 (인기 수치는 입력 차단)</a:t>
            </a:r>
            <a:endParaRPr lang="en-US" sz="950" dirty="0"/>
          </a:p>
        </p:txBody>
      </p:sp>
      <p:sp>
        <p:nvSpPr>
          <p:cNvPr id="22" name="Shape 20"/>
          <p:cNvSpPr/>
          <p:nvPr/>
        </p:nvSpPr>
        <p:spPr>
          <a:xfrm>
            <a:off x="4663440" y="2871216"/>
            <a:ext cx="3977640" cy="1389888"/>
          </a:xfrm>
          <a:prstGeom prst="roundRect">
            <a:avLst>
              <a:gd name="adj" fmla="val 789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484632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04</a:t>
            </a:r>
            <a:endParaRPr lang="en-US" sz="1200" dirty="0"/>
          </a:p>
        </p:txBody>
      </p:sp>
      <p:sp>
        <p:nvSpPr>
          <p:cNvPr id="24" name="Text 22"/>
          <p:cNvSpPr/>
          <p:nvPr/>
        </p:nvSpPr>
        <p:spPr>
          <a:xfrm>
            <a:off x="530352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근거 보기</a:t>
            </a:r>
            <a:endParaRPr lang="en-US" sz="1250" dirty="0"/>
          </a:p>
        </p:txBody>
      </p:sp>
      <p:sp>
        <p:nvSpPr>
          <p:cNvPr id="25" name="Shape 23"/>
          <p:cNvSpPr/>
          <p:nvPr/>
        </p:nvSpPr>
        <p:spPr>
          <a:xfrm>
            <a:off x="658368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6" name="Text 24"/>
          <p:cNvSpPr/>
          <p:nvPr/>
        </p:nvSpPr>
        <p:spPr>
          <a:xfrm>
            <a:off x="658368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/evidence</a:t>
            </a:r>
            <a:endParaRPr lang="en-US" sz="900" dirty="0"/>
          </a:p>
        </p:txBody>
      </p:sp>
      <p:sp>
        <p:nvSpPr>
          <p:cNvPr id="27" name="Text 25"/>
          <p:cNvSpPr/>
          <p:nvPr/>
        </p:nvSpPr>
        <p:spPr>
          <a:xfrm>
            <a:off x="4846320" y="3374136"/>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블로그 · 카카오 리뷰 원문 인용 + 별점.</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부정·혼합 리뷰 1개는 반드시 포함한다</a:t>
            </a:r>
            <a:endParaRPr lang="en-US" sz="950" dirty="0"/>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0F5257"/>
        </a:solidFill>
        <a:effectLst/>
      </p:bgPr>
    </p:bg>
    <p:spTree>
      <p:nvGrpSpPr>
        <p:cNvPr id="1" name=""/>
        <p:cNvGrpSpPr/>
        <p:nvPr/>
      </p:nvGrpSpPr>
      <p:grpSpPr>
        <a:xfrm>
          <a:off x="0" y="0"/>
          <a:ext cx="0" cy="0"/>
          <a:chOff x="0" y="0"/>
          <a:chExt cx="0" cy="0"/>
        </a:xfrm>
      </p:grpSpPr>
      <p:pic>
        <p:nvPicPr>
          <p:cNvPr id="2" name="Image 0" descr="img/window.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263640" y="502920"/>
            <a:ext cx="2651760" cy="2651760"/>
          </a:xfrm>
          <a:prstGeom prst="ellipse">
            <a:avLst/>
          </a:prstGeom>
        </p:spPr>
      </p:pic>
      <p:sp>
        <p:nvSpPr>
          <p:cNvPr id="3" name="Text 0"/>
          <p:cNvSpPr/>
          <p:nvPr/>
        </p:nvSpPr>
        <p:spPr>
          <a:xfrm>
            <a:off x="548640" y="457200"/>
            <a:ext cx="4572000" cy="274320"/>
          </a:xfrm>
          <a:prstGeom prst="rect">
            <a:avLst/>
          </a:prstGeom>
          <a:noFill/>
          <a:ln/>
        </p:spPr>
        <p:txBody>
          <a:bodyPr wrap="square" lIns="0" tIns="0" rIns="0" bIns="0" rtlCol="0" anchor="ctr"/>
          <a:lstStyle/>
          <a:p>
            <a:pPr marL="0" indent="0">
              <a:buNone/>
            </a:pPr>
            <a:r>
              <a:rPr lang="en-US" sz="1100" b="1" kern="0" spc="200" dirty="0">
                <a:solidFill>
                  <a:srgbClr val="6FD0C0"/>
                </a:solidFill>
                <a:latin typeface="맑은 고딕" pitchFamily="34" charset="0"/>
                <a:ea typeface="맑은 고딕" pitchFamily="34" charset="-122"/>
                <a:cs typeface="맑은 고딕" pitchFamily="34" charset="-120"/>
              </a:rPr>
              <a:t>09  INSIGHT</a:t>
            </a:r>
            <a:endParaRPr lang="en-US" sz="1100" dirty="0"/>
          </a:p>
        </p:txBody>
      </p:sp>
      <p:sp>
        <p:nvSpPr>
          <p:cNvPr id="4" name="Text 1"/>
          <p:cNvSpPr/>
          <p:nvPr/>
        </p:nvSpPr>
        <p:spPr>
          <a:xfrm>
            <a:off x="548640" y="777240"/>
            <a:ext cx="5303520" cy="548640"/>
          </a:xfrm>
          <a:prstGeom prst="rect">
            <a:avLst/>
          </a:prstGeom>
          <a:noFill/>
          <a:ln/>
        </p:spPr>
        <p:txBody>
          <a:bodyPr wrap="square" lIns="0" tIns="0" rIns="0" bIns="0" rtlCol="0" anchor="ctr"/>
          <a:lstStyle/>
          <a:p>
            <a:pPr marL="0" indent="0">
              <a:buNone/>
            </a:pPr>
            <a:r>
              <a:rPr lang="ko-KR" altLang="en-US" sz="3000" b="1" dirty="0">
                <a:solidFill>
                  <a:srgbClr val="FFFFFF"/>
                </a:solidFill>
                <a:latin typeface="맑은 고딕" pitchFamily="34" charset="0"/>
                <a:ea typeface="맑은 고딕" pitchFamily="34" charset="-122"/>
                <a:cs typeface="맑은 고딕" pitchFamily="34" charset="-120"/>
              </a:rPr>
              <a:t>９６시간</a:t>
            </a:r>
            <a:r>
              <a:rPr lang="en-US" sz="3000" b="1" dirty="0">
                <a:solidFill>
                  <a:srgbClr val="FFFFFF"/>
                </a:solidFill>
                <a:latin typeface="맑은 고딕" pitchFamily="34" charset="0"/>
                <a:ea typeface="맑은 고딕" pitchFamily="34" charset="-122"/>
                <a:cs typeface="맑은 고딕" pitchFamily="34" charset="-120"/>
              </a:rPr>
              <a:t>을 세 줄로</a:t>
            </a:r>
            <a:endParaRPr lang="en-US" sz="3000" dirty="0"/>
          </a:p>
        </p:txBody>
      </p:sp>
      <p:sp>
        <p:nvSpPr>
          <p:cNvPr id="5" name="Shape 2"/>
          <p:cNvSpPr/>
          <p:nvPr/>
        </p:nvSpPr>
        <p:spPr>
          <a:xfrm>
            <a:off x="548640" y="1600200"/>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6" name="Shape 3"/>
          <p:cNvSpPr/>
          <p:nvPr/>
        </p:nvSpPr>
        <p:spPr>
          <a:xfrm>
            <a:off x="731520" y="1819656"/>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7" name="Text 4"/>
          <p:cNvSpPr/>
          <p:nvPr/>
        </p:nvSpPr>
        <p:spPr>
          <a:xfrm>
            <a:off x="731520" y="18196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5"/>
          <p:cNvSpPr/>
          <p:nvPr/>
        </p:nvSpPr>
        <p:spPr>
          <a:xfrm>
            <a:off x="1298448" y="1709928"/>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판단은 LLM, 사실과 강제는 코드</a:t>
            </a:r>
            <a:endParaRPr lang="en-US" sz="1350" dirty="0"/>
          </a:p>
        </p:txBody>
      </p:sp>
      <p:sp>
        <p:nvSpPr>
          <p:cNvPr id="9" name="Text 6"/>
          <p:cNvSpPr/>
          <p:nvPr/>
        </p:nvSpPr>
        <p:spPr>
          <a:xfrm>
            <a:off x="1298448" y="2020824"/>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요약·분류는 맡기되 식별자·숫자·사전 준수·인용 검증은 코드가 쥔다</a:t>
            </a:r>
            <a:endParaRPr lang="en-US" sz="950" dirty="0"/>
          </a:p>
        </p:txBody>
      </p:sp>
      <p:sp>
        <p:nvSpPr>
          <p:cNvPr id="10" name="Shape 7"/>
          <p:cNvSpPr/>
          <p:nvPr/>
        </p:nvSpPr>
        <p:spPr>
          <a:xfrm>
            <a:off x="548640" y="2624328"/>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1" name="Shape 8"/>
          <p:cNvSpPr/>
          <p:nvPr/>
        </p:nvSpPr>
        <p:spPr>
          <a:xfrm>
            <a:off x="731520" y="2843784"/>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2" name="Text 9"/>
          <p:cNvSpPr/>
          <p:nvPr/>
        </p:nvSpPr>
        <p:spPr>
          <a:xfrm>
            <a:off x="731520" y="2843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0"/>
          <p:cNvSpPr/>
          <p:nvPr/>
        </p:nvSpPr>
        <p:spPr>
          <a:xfrm>
            <a:off x="1298448" y="2734056"/>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층을 옮기면 독이 약이 된다</a:t>
            </a:r>
            <a:endParaRPr lang="en-US" sz="1350" dirty="0"/>
          </a:p>
        </p:txBody>
      </p:sp>
      <p:sp>
        <p:nvSpPr>
          <p:cNvPr id="14" name="Text 11"/>
          <p:cNvSpPr/>
          <p:nvPr/>
        </p:nvSpPr>
        <p:spPr>
          <a:xfrm>
            <a:off x="1298448" y="3044952"/>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감정 데이터는 임베딩에선 만능 자석, 표시층에선 가장 정직한 근거</a:t>
            </a:r>
            <a:endParaRPr lang="en-US" sz="950" dirty="0"/>
          </a:p>
        </p:txBody>
      </p:sp>
      <p:sp>
        <p:nvSpPr>
          <p:cNvPr id="15" name="Shape 12"/>
          <p:cNvSpPr/>
          <p:nvPr/>
        </p:nvSpPr>
        <p:spPr>
          <a:xfrm>
            <a:off x="548640" y="3648456"/>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6" name="Shape 13"/>
          <p:cNvSpPr/>
          <p:nvPr/>
        </p:nvSpPr>
        <p:spPr>
          <a:xfrm>
            <a:off x="731520" y="3867912"/>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7" name="Text 14"/>
          <p:cNvSpPr/>
          <p:nvPr/>
        </p:nvSpPr>
        <p:spPr>
          <a:xfrm>
            <a:off x="731520" y="38679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5"/>
          <p:cNvSpPr/>
          <p:nvPr/>
        </p:nvSpPr>
        <p:spPr>
          <a:xfrm>
            <a:off x="1298448" y="3758184"/>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횟수가 아니라 사람 수를 센다</a:t>
            </a:r>
            <a:endParaRPr lang="en-US" sz="1350" dirty="0"/>
          </a:p>
        </p:txBody>
      </p:sp>
      <p:sp>
        <p:nvSpPr>
          <p:cNvPr id="19" name="Text 16"/>
          <p:cNvSpPr/>
          <p:nvPr/>
        </p:nvSpPr>
        <p:spPr>
          <a:xfrm>
            <a:off x="1298448" y="4069080"/>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한 명이 열 번 말한 카페보다, 열 명이 한 번씩 말한 카페가 진짜다</a:t>
            </a:r>
            <a:endParaRPr lang="en-US" sz="950" dirty="0"/>
          </a:p>
        </p:txBody>
      </p:sp>
      <p:sp>
        <p:nvSpPr>
          <p:cNvPr id="20" name="Text 17"/>
          <p:cNvSpPr/>
          <p:nvPr/>
        </p:nvSpPr>
        <p:spPr>
          <a:xfrm>
            <a:off x="548640" y="4718304"/>
            <a:ext cx="3657600" cy="256032"/>
          </a:xfrm>
          <a:prstGeom prst="rect">
            <a:avLst/>
          </a:prstGeom>
          <a:noFill/>
          <a:ln/>
        </p:spPr>
        <p:txBody>
          <a:bodyPr wrap="square" lIns="0" tIns="0" rIns="0" bIns="0" rtlCol="0" anchor="ctr"/>
          <a:lstStyle/>
          <a:p>
            <a:pPr marL="0" indent="0">
              <a:buNone/>
            </a:pPr>
            <a:r>
              <a:rPr lang="en-US" sz="900" dirty="0">
                <a:solidFill>
                  <a:srgbClr val="5D8F8B"/>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1" name="Text 18"/>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6FD0C0"/>
                </a:solidFill>
                <a:latin typeface="맑은 고딕" pitchFamily="34" charset="0"/>
                <a:ea typeface="맑은 고딕" pitchFamily="34" charset="-122"/>
                <a:cs typeface="맑은 고딕" pitchFamily="34" charset="-120"/>
              </a:rPr>
              <a:t>16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10  LIMITATIONS &amp; NEXT</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 못 하는 것, 다음에 할 것</a:t>
            </a:r>
            <a:endParaRPr lang="en-US" sz="2700" dirty="0"/>
          </a:p>
        </p:txBody>
      </p:sp>
      <p:sp>
        <p:nvSpPr>
          <p:cNvPr id="4" name="Text 2"/>
          <p:cNvSpPr/>
          <p:nvPr/>
        </p:nvSpPr>
        <p:spPr>
          <a:xfrm>
            <a:off x="502920" y="1280160"/>
            <a:ext cx="3931920" cy="274320"/>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현재 한계 (정직하게)</a:t>
            </a:r>
            <a:endParaRPr lang="en-US" sz="1150" dirty="0"/>
          </a:p>
        </p:txBody>
      </p:sp>
      <p:pic>
        <p:nvPicPr>
          <p:cNvPr id="5"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1698224"/>
            <a:ext cx="96561" cy="96561"/>
          </a:xfrm>
          <a:prstGeom prst="rect">
            <a:avLst/>
          </a:prstGeom>
        </p:spPr>
      </p:pic>
      <p:sp>
        <p:nvSpPr>
          <p:cNvPr id="6" name="Text 3"/>
          <p:cNvSpPr/>
          <p:nvPr/>
        </p:nvSpPr>
        <p:spPr>
          <a:xfrm>
            <a:off x="868680" y="1591056"/>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서비스 밖 질문(서울 · 24시간 · 맥주)을 거절하지 못한다 — 거절률 0.0%</a:t>
            </a:r>
            <a:endParaRPr lang="en-US" sz="950" dirty="0"/>
          </a:p>
        </p:txBody>
      </p:sp>
      <p:pic>
        <p:nvPicPr>
          <p:cNvPr id="7" name="Image 1"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173712"/>
            <a:ext cx="96561" cy="96561"/>
          </a:xfrm>
          <a:prstGeom prst="rect">
            <a:avLst/>
          </a:prstGeom>
        </p:spPr>
      </p:pic>
      <p:sp>
        <p:nvSpPr>
          <p:cNvPr id="8" name="Text 4"/>
          <p:cNvSpPr/>
          <p:nvPr/>
        </p:nvSpPr>
        <p:spPr>
          <a:xfrm>
            <a:off x="868680" y="2066544"/>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같은 의도의 다른 표현에 결과가 흔들린다 — 안정성@10 22.8%</a:t>
            </a:r>
            <a:endParaRPr lang="en-US" sz="950" dirty="0"/>
          </a:p>
        </p:txBody>
      </p:sp>
      <p:pic>
        <p:nvPicPr>
          <p:cNvPr id="9" name="Image 2"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649200"/>
            <a:ext cx="96561" cy="96561"/>
          </a:xfrm>
          <a:prstGeom prst="rect">
            <a:avLst/>
          </a:prstGeom>
        </p:spPr>
      </p:pic>
      <p:sp>
        <p:nvSpPr>
          <p:cNvPr id="10" name="Text 5"/>
          <p:cNvSpPr/>
          <p:nvPr/>
        </p:nvSpPr>
        <p:spPr>
          <a:xfrm>
            <a:off x="868680" y="2542032"/>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카드 정본 병합(merge.py) 미완 — 식별자 고유성 76.3%</a:t>
            </a:r>
            <a:endParaRPr lang="en-US" sz="950" dirty="0"/>
          </a:p>
        </p:txBody>
      </p:sp>
      <p:pic>
        <p:nvPicPr>
          <p:cNvPr id="11" name="Image 3"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3124688"/>
            <a:ext cx="96561" cy="96561"/>
          </a:xfrm>
          <a:prstGeom prst="rect">
            <a:avLst/>
          </a:prstGeom>
        </p:spPr>
      </p:pic>
      <p:sp>
        <p:nvSpPr>
          <p:cNvPr id="12" name="Text 6"/>
          <p:cNvSpPr/>
          <p:nvPr/>
        </p:nvSpPr>
        <p:spPr>
          <a:xfrm>
            <a:off x="868680" y="3017520"/>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완화 사다리 · 조건 번역기 · 종합 모듈은 구현 착수 단계</a:t>
            </a:r>
            <a:endParaRPr lang="en-US" sz="950" dirty="0"/>
          </a:p>
        </p:txBody>
      </p:sp>
      <p:sp>
        <p:nvSpPr>
          <p:cNvPr id="13" name="Text 7"/>
          <p:cNvSpPr/>
          <p:nvPr/>
        </p:nvSpPr>
        <p:spPr>
          <a:xfrm>
            <a:off x="4937760" y="1280160"/>
            <a:ext cx="3703320" cy="274320"/>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로드맵</a:t>
            </a:r>
            <a:endParaRPr lang="en-US" sz="1150" dirty="0"/>
          </a:p>
        </p:txBody>
      </p:sp>
      <p:sp>
        <p:nvSpPr>
          <p:cNvPr id="14" name="Shape 8"/>
          <p:cNvSpPr/>
          <p:nvPr/>
        </p:nvSpPr>
        <p:spPr>
          <a:xfrm>
            <a:off x="4937760" y="1627632"/>
            <a:ext cx="3703320" cy="621792"/>
          </a:xfrm>
          <a:prstGeom prst="roundRect">
            <a:avLst>
              <a:gd name="adj" fmla="val 13235"/>
            </a:avLst>
          </a:prstGeom>
          <a:solidFill>
            <a:srgbClr val="FBEEE0"/>
          </a:solidFill>
          <a:ln w="9525">
            <a:solidFill>
              <a:srgbClr val="DCE6E3"/>
            </a:solidFill>
            <a:prstDash val="solid"/>
          </a:ln>
        </p:spPr>
        <p:txBody>
          <a:bodyPr/>
          <a:lstStyle/>
          <a:p>
            <a:endParaRPr lang="ko-KR" altLang="en-US"/>
          </a:p>
        </p:txBody>
      </p:sp>
      <p:sp>
        <p:nvSpPr>
          <p:cNvPr id="15" name="Shape 9"/>
          <p:cNvSpPr/>
          <p:nvPr/>
        </p:nvSpPr>
        <p:spPr>
          <a:xfrm>
            <a:off x="5074920" y="1773936"/>
            <a:ext cx="329184" cy="329184"/>
          </a:xfrm>
          <a:prstGeom prst="ellipse">
            <a:avLst/>
          </a:prstGeom>
          <a:solidFill>
            <a:srgbClr val="E8842B"/>
          </a:solidFill>
          <a:ln w="12700">
            <a:solidFill>
              <a:srgbClr val="E8842B"/>
            </a:solidFill>
            <a:prstDash val="solid"/>
          </a:ln>
        </p:spPr>
        <p:txBody>
          <a:bodyPr/>
          <a:lstStyle/>
          <a:p>
            <a:endParaRPr lang="ko-KR" altLang="en-US"/>
          </a:p>
        </p:txBody>
      </p:sp>
      <p:sp>
        <p:nvSpPr>
          <p:cNvPr id="16" name="Text 10"/>
          <p:cNvSpPr/>
          <p:nvPr/>
        </p:nvSpPr>
        <p:spPr>
          <a:xfrm>
            <a:off x="5074920" y="177393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즉시</a:t>
            </a:r>
            <a:endParaRPr lang="en-US" sz="750" dirty="0"/>
          </a:p>
        </p:txBody>
      </p:sp>
      <p:sp>
        <p:nvSpPr>
          <p:cNvPr id="17" name="Text 11"/>
          <p:cNvSpPr/>
          <p:nvPr/>
        </p:nvSpPr>
        <p:spPr>
          <a:xfrm>
            <a:off x="5504688" y="168249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P0 — 서비스 밖 질문 거절 + HOLD/폐업 후보 차단</a:t>
            </a:r>
            <a:endParaRPr lang="en-US" sz="950" dirty="0"/>
          </a:p>
        </p:txBody>
      </p:sp>
      <p:sp>
        <p:nvSpPr>
          <p:cNvPr id="18" name="Shape 12"/>
          <p:cNvSpPr/>
          <p:nvPr/>
        </p:nvSpPr>
        <p:spPr>
          <a:xfrm>
            <a:off x="4937760" y="235915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19" name="Shape 13"/>
          <p:cNvSpPr/>
          <p:nvPr/>
        </p:nvSpPr>
        <p:spPr>
          <a:xfrm>
            <a:off x="5074920" y="250545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0" name="Text 14"/>
          <p:cNvSpPr/>
          <p:nvPr/>
        </p:nvSpPr>
        <p:spPr>
          <a:xfrm>
            <a:off x="5074920" y="250545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1주</a:t>
            </a:r>
            <a:endParaRPr lang="en-US" sz="750" dirty="0"/>
          </a:p>
        </p:txBody>
      </p:sp>
      <p:sp>
        <p:nvSpPr>
          <p:cNvPr id="21" name="Text 15"/>
          <p:cNvSpPr/>
          <p:nvPr/>
        </p:nvSpPr>
        <p:spPr>
          <a:xfrm>
            <a:off x="5504688" y="241401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merge.py 완성 → cards.json 정본 + 재임베딩</a:t>
            </a:r>
            <a:endParaRPr lang="en-US" sz="950" dirty="0"/>
          </a:p>
        </p:txBody>
      </p:sp>
      <p:sp>
        <p:nvSpPr>
          <p:cNvPr id="22" name="Shape 16"/>
          <p:cNvSpPr/>
          <p:nvPr/>
        </p:nvSpPr>
        <p:spPr>
          <a:xfrm>
            <a:off x="4937760" y="309067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3" name="Shape 17"/>
          <p:cNvSpPr/>
          <p:nvPr/>
        </p:nvSpPr>
        <p:spPr>
          <a:xfrm>
            <a:off x="5074920" y="323697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4" name="Text 18"/>
          <p:cNvSpPr/>
          <p:nvPr/>
        </p:nvSpPr>
        <p:spPr>
          <a:xfrm>
            <a:off x="5074920" y="323697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2주</a:t>
            </a:r>
            <a:endParaRPr lang="en-US" sz="750" dirty="0"/>
          </a:p>
        </p:txBody>
      </p:sp>
      <p:sp>
        <p:nvSpPr>
          <p:cNvPr id="25" name="Text 19"/>
          <p:cNvSpPr/>
          <p:nvPr/>
        </p:nvSpPr>
        <p:spPr>
          <a:xfrm>
            <a:off x="5504688" y="314553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태그 기반 Top-20 재정렬 + 동의어 사전 v2</a:t>
            </a:r>
            <a:endParaRPr lang="en-US" sz="950" dirty="0"/>
          </a:p>
        </p:txBody>
      </p:sp>
      <p:sp>
        <p:nvSpPr>
          <p:cNvPr id="26" name="Shape 20"/>
          <p:cNvSpPr/>
          <p:nvPr/>
        </p:nvSpPr>
        <p:spPr>
          <a:xfrm>
            <a:off x="4937760" y="382219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7" name="Shape 21"/>
          <p:cNvSpPr/>
          <p:nvPr/>
        </p:nvSpPr>
        <p:spPr>
          <a:xfrm>
            <a:off x="5074920" y="3968496"/>
            <a:ext cx="329184" cy="329184"/>
          </a:xfrm>
          <a:prstGeom prst="ellipse">
            <a:avLst/>
          </a:prstGeom>
          <a:solidFill>
            <a:srgbClr val="0F5257"/>
          </a:solidFill>
          <a:ln w="12700">
            <a:solidFill>
              <a:srgbClr val="0F5257"/>
            </a:solidFill>
            <a:prstDash val="solid"/>
          </a:ln>
        </p:spPr>
        <p:txBody>
          <a:bodyPr/>
          <a:lstStyle/>
          <a:p>
            <a:endParaRPr lang="ko-KR" altLang="en-US"/>
          </a:p>
        </p:txBody>
      </p:sp>
      <p:sp>
        <p:nvSpPr>
          <p:cNvPr id="28" name="Text 22"/>
          <p:cNvSpPr/>
          <p:nvPr/>
        </p:nvSpPr>
        <p:spPr>
          <a:xfrm>
            <a:off x="5074920" y="396849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3주</a:t>
            </a:r>
            <a:endParaRPr lang="en-US" sz="750" dirty="0"/>
          </a:p>
        </p:txBody>
      </p:sp>
      <p:sp>
        <p:nvSpPr>
          <p:cNvPr id="29" name="Text 23"/>
          <p:cNvSpPr/>
          <p:nvPr/>
        </p:nvSpPr>
        <p:spPr>
          <a:xfrm>
            <a:off x="5504688" y="387705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LangGraph 조립 · 골든셋 Hit@5 재측정</a:t>
            </a:r>
            <a:endParaRPr lang="en-US" sz="950" dirty="0"/>
          </a:p>
        </p:txBody>
      </p:sp>
      <p:sp>
        <p:nvSpPr>
          <p:cNvPr id="30" name="Shape 24"/>
          <p:cNvSpPr/>
          <p:nvPr/>
        </p:nvSpPr>
        <p:spPr>
          <a:xfrm>
            <a:off x="502920" y="3950208"/>
            <a:ext cx="3977640" cy="594360"/>
          </a:xfrm>
          <a:prstGeom prst="roundRect">
            <a:avLst>
              <a:gd name="adj" fmla="val 15385"/>
            </a:avLst>
          </a:prstGeom>
          <a:solidFill>
            <a:srgbClr val="E7F3F1"/>
          </a:solidFill>
          <a:ln w="12700">
            <a:solidFill>
              <a:srgbClr val="333333"/>
            </a:solidFill>
            <a:prstDash val="solid"/>
          </a:ln>
        </p:spPr>
        <p:txBody>
          <a:bodyPr/>
          <a:lstStyle/>
          <a:p>
            <a:endParaRPr lang="ko-KR" altLang="en-US"/>
          </a:p>
        </p:txBody>
      </p:sp>
      <p:sp>
        <p:nvSpPr>
          <p:cNvPr id="31" name="Text 25"/>
          <p:cNvSpPr/>
          <p:nvPr/>
        </p:nvSpPr>
        <p:spPr>
          <a:xfrm>
            <a:off x="640080" y="3950208"/>
            <a:ext cx="3749040" cy="594360"/>
          </a:xfrm>
          <a:prstGeom prst="rect">
            <a:avLst/>
          </a:prstGeom>
          <a:noFill/>
          <a:ln/>
        </p:spPr>
        <p:txBody>
          <a:bodyPr wrap="square" lIns="0" tIns="0" rIns="0" bIns="0" rtlCol="0" anchor="ctr"/>
          <a:lstStyle/>
          <a:p>
            <a:pPr marL="0" indent="0">
              <a:lnSpc>
                <a:spcPts val="1500"/>
              </a:lnSpc>
              <a:buNone/>
            </a:pPr>
            <a:r>
              <a:rPr lang="en-US" sz="950" b="1" dirty="0">
                <a:solidFill>
                  <a:srgbClr val="0F5257"/>
                </a:solidFill>
                <a:latin typeface="맑은 고딕" pitchFamily="34" charset="0"/>
                <a:ea typeface="맑은 고딕" pitchFamily="34" charset="-122"/>
                <a:cs typeface="맑은 고딕" pitchFamily="34" charset="-120"/>
              </a:rPr>
              <a:t>다음 개선의 핵심은 데이터를 더 넣는 것이 아니라</a:t>
            </a:r>
            <a:endParaRPr lang="en-US" sz="950" dirty="0"/>
          </a:p>
          <a:p>
            <a:pPr marL="0" indent="0">
              <a:lnSpc>
                <a:spcPts val="1500"/>
              </a:lnSpc>
              <a:buNone/>
            </a:pPr>
            <a:r>
              <a:rPr lang="en-US" sz="950" b="1" dirty="0">
                <a:solidFill>
                  <a:srgbClr val="0F5257"/>
                </a:solidFill>
                <a:latin typeface="맑은 고딕" pitchFamily="34" charset="0"/>
                <a:ea typeface="맑은 고딕" pitchFamily="34" charset="-122"/>
                <a:cs typeface="맑은 고딕" pitchFamily="34" charset="-120"/>
              </a:rPr>
              <a:t>후보 차단 · place_id 병합 · 태그 기반 재정렬이다.</a:t>
            </a:r>
            <a:endParaRPr lang="en-US" sz="950" dirty="0"/>
          </a:p>
        </p:txBody>
      </p:sp>
      <p:sp>
        <p:nvSpPr>
          <p:cNvPr id="32" name="Text 26"/>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7"/>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0" y="0"/>
            <a:ext cx="4206240" cy="3154680"/>
          </a:xfrm>
          <a:prstGeom prst="rect">
            <a:avLst/>
          </a:prstGeom>
        </p:spPr>
      </p:pic>
      <p:sp>
        <p:nvSpPr>
          <p:cNvPr id="3" name="Shape 0"/>
          <p:cNvSpPr/>
          <p:nvPr/>
        </p:nvSpPr>
        <p:spPr>
          <a:xfrm>
            <a:off x="0" y="3154680"/>
            <a:ext cx="4206240" cy="1988820"/>
          </a:xfrm>
          <a:prstGeom prst="rect">
            <a:avLst/>
          </a:prstGeom>
          <a:solidFill>
            <a:srgbClr val="0B4247"/>
          </a:solidFill>
          <a:ln w="12700">
            <a:solidFill>
              <a:srgbClr val="333333"/>
            </a:solidFill>
            <a:prstDash val="solid"/>
          </a:ln>
        </p:spPr>
        <p:txBody>
          <a:bodyPr/>
          <a:lstStyle/>
          <a:p>
            <a:endParaRPr lang="ko-KR" altLang="en-US"/>
          </a:p>
        </p:txBody>
      </p:sp>
      <p:sp>
        <p:nvSpPr>
          <p:cNvPr id="4" name="Shape 1"/>
          <p:cNvSpPr/>
          <p:nvPr/>
        </p:nvSpPr>
        <p:spPr>
          <a:xfrm>
            <a:off x="411480" y="3429000"/>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5"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30352" y="3547872"/>
            <a:ext cx="219456" cy="219456"/>
          </a:xfrm>
          <a:prstGeom prst="rect">
            <a:avLst/>
          </a:prstGeom>
        </p:spPr>
      </p:pic>
      <p:sp>
        <p:nvSpPr>
          <p:cNvPr id="6" name="Text 2"/>
          <p:cNvSpPr/>
          <p:nvPr/>
        </p:nvSpPr>
        <p:spPr>
          <a:xfrm>
            <a:off x="411480" y="3977640"/>
            <a:ext cx="3474720" cy="731520"/>
          </a:xfrm>
          <a:prstGeom prst="rect">
            <a:avLst/>
          </a:prstGeom>
          <a:noFill/>
          <a:ln/>
        </p:spPr>
        <p:txBody>
          <a:bodyPr wrap="square" lIns="0" tIns="0" rIns="0" bIns="0" rtlCol="0" anchor="ctr"/>
          <a:lstStyle/>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좋은 말만 고르지 않습니다.</a:t>
            </a:r>
            <a:endParaRPr lang="en-US" sz="1100" dirty="0"/>
          </a:p>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아쉬운 점도, 없다는 대답도 그대로 드립니다.</a:t>
            </a:r>
            <a:endParaRPr lang="en-US" sz="1100" dirty="0"/>
          </a:p>
        </p:txBody>
      </p:sp>
      <p:sp>
        <p:nvSpPr>
          <p:cNvPr id="7" name="Text 3"/>
          <p:cNvSpPr/>
          <p:nvPr/>
        </p:nvSpPr>
        <p:spPr>
          <a:xfrm>
            <a:off x="4617720" y="388620"/>
            <a:ext cx="4023360" cy="274320"/>
          </a:xfrm>
          <a:prstGeom prst="rect">
            <a:avLst/>
          </a:prstGeom>
          <a:noFill/>
          <a:ln/>
        </p:spPr>
        <p:txBody>
          <a:bodyPr wrap="square" lIns="0" tIns="0" rIns="0" bIns="0" rtlCol="0" anchor="ctr"/>
          <a:lstStyle/>
          <a:p>
            <a:pPr marL="0" indent="0">
              <a:buNone/>
            </a:pPr>
            <a:r>
              <a:rPr lang="ko-KR" altLang="en-US" sz="1100" b="1" kern="0" spc="200" dirty="0" err="1">
                <a:solidFill>
                  <a:srgbClr val="6FD0C0"/>
                </a:solidFill>
                <a:latin typeface="맑은 고딕" pitchFamily="34" charset="0"/>
                <a:ea typeface="맑은 고딕" pitchFamily="34" charset="-122"/>
                <a:cs typeface="맑은 고딕" pitchFamily="34" charset="-120"/>
              </a:rPr>
              <a:t>클로징</a:t>
            </a:r>
            <a:endParaRPr lang="en-US" sz="1100" dirty="0"/>
          </a:p>
        </p:txBody>
      </p:sp>
      <p:sp>
        <p:nvSpPr>
          <p:cNvPr id="8" name="Text 4"/>
          <p:cNvSpPr/>
          <p:nvPr/>
        </p:nvSpPr>
        <p:spPr>
          <a:xfrm>
            <a:off x="4671582" y="615027"/>
            <a:ext cx="4023360" cy="3443405"/>
          </a:xfrm>
          <a:prstGeom prst="rect">
            <a:avLst/>
          </a:prstGeom>
          <a:noFill/>
          <a:ln/>
        </p:spPr>
        <p:txBody>
          <a:bodyPr wrap="square" lIns="0" tIns="0" rIns="0" bIns="0" rtlCol="0" anchor="ctr"/>
          <a:lstStyle/>
          <a:p>
            <a:pPr marL="0" indent="0">
              <a:lnSpc>
                <a:spcPts val="3600"/>
              </a:lnSpc>
              <a:buNone/>
            </a:pPr>
            <a:r>
              <a:rPr lang="ko-KR" altLang="en-US" sz="2100" b="1" dirty="0">
                <a:solidFill>
                  <a:srgbClr val="FFFFFF"/>
                </a:solidFill>
                <a:latin typeface="맑은 고딕" pitchFamily="34" charset="0"/>
                <a:ea typeface="맑은 고딕" pitchFamily="34" charset="-122"/>
                <a:cs typeface="맑은 고딕" pitchFamily="34" charset="-120"/>
              </a:rPr>
              <a:t>＇</a:t>
            </a:r>
            <a:r>
              <a:rPr lang="ko-KR" altLang="en-US" sz="2100" b="1" dirty="0" err="1">
                <a:solidFill>
                  <a:srgbClr val="FFFFFF"/>
                </a:solidFill>
                <a:latin typeface="맑은 고딕" pitchFamily="34" charset="0"/>
                <a:ea typeface="맑은 고딕" pitchFamily="34" charset="-122"/>
                <a:cs typeface="맑은 고딕" pitchFamily="34" charset="-120"/>
              </a:rPr>
              <a:t>카페ｉｎ제주＇가</a:t>
            </a:r>
            <a:r>
              <a:rPr lang="ko-KR" altLang="en-US" sz="2100" b="1" dirty="0">
                <a:solidFill>
                  <a:srgbClr val="FFFFFF"/>
                </a:solidFill>
                <a:latin typeface="맑은 고딕" pitchFamily="34" charset="0"/>
                <a:ea typeface="맑은 고딕" pitchFamily="34" charset="-122"/>
                <a:cs typeface="맑은 고딕" pitchFamily="34" charset="-120"/>
              </a:rPr>
              <a:t>　꿈꾸는</a:t>
            </a:r>
            <a:endParaRPr lang="en-US" altLang="ko-KR" sz="2100" b="1" dirty="0">
              <a:solidFill>
                <a:srgbClr val="FFFFFF"/>
              </a:solidFill>
              <a:latin typeface="맑은 고딕" pitchFamily="34" charset="0"/>
              <a:ea typeface="맑은 고딕" pitchFamily="34" charset="-122"/>
              <a:cs typeface="맑은 고딕" pitchFamily="34" charset="-120"/>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고ㄹ져스한</a:t>
            </a:r>
            <a:r>
              <a:rPr lang="ko-KR" altLang="en-US" sz="2100" b="1" dirty="0">
                <a:solidFill>
                  <a:srgbClr val="FFFFFF"/>
                </a:solidFill>
                <a:latin typeface="맑은 고딕" pitchFamily="34" charset="0"/>
                <a:ea typeface="맑은 고딕" pitchFamily="34" charset="-122"/>
              </a:rPr>
              <a:t>　제주　여행！</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ＡＩ로</a:t>
            </a:r>
            <a:r>
              <a:rPr lang="ko-KR" altLang="en-US" sz="2100" b="1" dirty="0">
                <a:solidFill>
                  <a:srgbClr val="FFFFFF"/>
                </a:solidFill>
                <a:latin typeface="맑은 고딕" pitchFamily="34" charset="0"/>
                <a:ea typeface="맑은 고딕" pitchFamily="34" charset="-122"/>
              </a:rPr>
              <a:t>　찾아주는　신뢰　정보，</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제주（濟州）를　</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재주（再走）하게！　</a:t>
            </a:r>
            <a:endParaRPr lang="en-US" sz="2100" dirty="0"/>
          </a:p>
        </p:txBody>
      </p:sp>
      <p:sp>
        <p:nvSpPr>
          <p:cNvPr id="11" name="Text 7"/>
          <p:cNvSpPr/>
          <p:nvPr/>
        </p:nvSpPr>
        <p:spPr>
          <a:xfrm>
            <a:off x="4709160" y="4215634"/>
            <a:ext cx="1828800" cy="502920"/>
          </a:xfrm>
          <a:prstGeom prst="rect">
            <a:avLst/>
          </a:prstGeom>
          <a:noFill/>
          <a:ln/>
        </p:spPr>
        <p:txBody>
          <a:bodyPr wrap="square" lIns="0" tIns="0" rIns="0" bIns="0" rtlCol="0" anchor="ctr"/>
          <a:lstStyle/>
          <a:p>
            <a:pPr marL="0" indent="0">
              <a:buNone/>
            </a:pPr>
            <a:r>
              <a:rPr lang="en-US" sz="2600" b="1" dirty="0">
                <a:solidFill>
                  <a:srgbClr val="E8842B"/>
                </a:solidFill>
                <a:latin typeface="맑은 고딕" pitchFamily="34" charset="0"/>
                <a:ea typeface="맑은 고딕" pitchFamily="34" charset="-122"/>
                <a:cs typeface="맑은 고딕" pitchFamily="34" charset="-120"/>
              </a:rPr>
              <a:t>Q &amp; A</a:t>
            </a:r>
            <a:endParaRPr lang="en-US" sz="2600" dirty="0"/>
          </a:p>
        </p:txBody>
      </p:sp>
      <p:sp>
        <p:nvSpPr>
          <p:cNvPr id="12" name="Text 8"/>
          <p:cNvSpPr/>
          <p:nvPr/>
        </p:nvSpPr>
        <p:spPr>
          <a:xfrm>
            <a:off x="6309360" y="4307074"/>
            <a:ext cx="2423160" cy="320040"/>
          </a:xfrm>
          <a:prstGeom prst="rect">
            <a:avLst/>
          </a:prstGeom>
          <a:noFill/>
          <a:ln/>
        </p:spPr>
        <p:txBody>
          <a:bodyPr wrap="square" lIns="0" tIns="0" rIns="0" bIns="0" rtlCol="0" anchor="ctr"/>
          <a:lstStyle/>
          <a:p>
            <a:pPr marL="0" indent="0" algn="r">
              <a:buNone/>
            </a:pPr>
            <a:r>
              <a:rPr lang="en-US" sz="1000" dirty="0">
                <a:solidFill>
                  <a:srgbClr val="7FA9A4"/>
                </a:solidFill>
                <a:latin typeface="맑은 고딕" pitchFamily="34" charset="0"/>
                <a:ea typeface="맑은 고딕" pitchFamily="34" charset="-122"/>
                <a:cs typeface="맑은 고딕" pitchFamily="34" charset="-120"/>
              </a:rPr>
              <a:t>감사합니다  ·  팀 마요선수</a:t>
            </a:r>
            <a:endParaRPr lang="en-US" sz="1000" dirty="0"/>
          </a:p>
        </p:txBody>
      </p:sp>
      <p:sp>
        <p:nvSpPr>
          <p:cNvPr id="13" name="Text 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6FD0C0"/>
                </a:solidFill>
                <a:latin typeface="맑은 고딕" pitchFamily="34" charset="0"/>
                <a:ea typeface="맑은 고딕" pitchFamily="34" charset="-122"/>
                <a:cs typeface="맑은 고딕" pitchFamily="34" charset="-120"/>
              </a:rPr>
              <a:t>18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B0F8BE9-BAA4-C722-1E88-1850929BC34D}"/>
              </a:ext>
            </a:extLst>
          </p:cNvPr>
          <p:cNvSpPr/>
          <p:nvPr/>
        </p:nvSpPr>
        <p:spPr>
          <a:xfrm>
            <a:off x="344466" y="507303"/>
            <a:ext cx="8461331" cy="42964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dirty="0"/>
              <a:t>＜　그　외　이슈　＞</a:t>
            </a:r>
            <a:endParaRPr lang="en-US" altLang="ko-KR" dirty="0"/>
          </a:p>
          <a:p>
            <a:endParaRPr lang="en-US" altLang="ko-KR" dirty="0"/>
          </a:p>
          <a:p>
            <a:r>
              <a:rPr lang="ko-KR" altLang="en-US" dirty="0"/>
              <a:t>－페이지　넘버링　</a:t>
            </a:r>
            <a:r>
              <a:rPr lang="ko-KR" altLang="en-US" dirty="0" err="1"/>
              <a:t>다시해야</a:t>
            </a:r>
            <a:r>
              <a:rPr lang="ko-KR" altLang="en-US" dirty="0"/>
              <a:t>　함　</a:t>
            </a:r>
            <a:endParaRPr lang="en-US" altLang="ko-KR" dirty="0"/>
          </a:p>
          <a:p>
            <a:r>
              <a:rPr lang="ko-KR" altLang="en-US" dirty="0"/>
              <a:t>－ＰＰＴ　초기　버전에서　수정한　부분은　텍스트의　간격이　넓어지는데．．．　이거　해결방법　아시는　분？？</a:t>
            </a:r>
            <a:endParaRPr lang="en-US" altLang="ko-KR" dirty="0"/>
          </a:p>
          <a:p>
            <a:r>
              <a:rPr lang="ko-KR" altLang="en-US" dirty="0"/>
              <a:t>－태그　정보의　분포　그래프를　</a:t>
            </a:r>
            <a:r>
              <a:rPr lang="ko-KR" altLang="en-US" dirty="0" err="1"/>
              <a:t>어딘가에</a:t>
            </a:r>
            <a:r>
              <a:rPr lang="ko-KR" altLang="en-US" dirty="0"/>
              <a:t>　</a:t>
            </a:r>
            <a:r>
              <a:rPr lang="ko-KR" altLang="en-US" dirty="0" err="1"/>
              <a:t>넣을수</a:t>
            </a:r>
            <a:r>
              <a:rPr lang="ko-KR" altLang="en-US" dirty="0"/>
              <a:t>　있으면　</a:t>
            </a:r>
            <a:r>
              <a:rPr lang="ko-KR" altLang="en-US" dirty="0" err="1"/>
              <a:t>좋을듯</a:t>
            </a:r>
            <a:r>
              <a:rPr lang="ko-KR" altLang="en-US" dirty="0"/>
              <a:t>　해요　</a:t>
            </a:r>
            <a:endParaRPr lang="en-US" altLang="ko-KR" dirty="0"/>
          </a:p>
          <a:p>
            <a:r>
              <a:rPr lang="ko-KR" altLang="en-US" dirty="0"/>
              <a:t>－카페　지역별　분포　그래프도　</a:t>
            </a:r>
            <a:r>
              <a:rPr lang="ko-KR" altLang="en-US" dirty="0" err="1"/>
              <a:t>Ａｐｐｅｎｄｉｘ에</a:t>
            </a:r>
            <a:r>
              <a:rPr lang="ko-KR" altLang="en-US" dirty="0"/>
              <a:t>　넣으면　</a:t>
            </a:r>
            <a:r>
              <a:rPr lang="ko-KR" altLang="en-US" dirty="0" err="1"/>
              <a:t>좋구요</a:t>
            </a:r>
            <a:r>
              <a:rPr lang="ko-KR" altLang="en-US" dirty="0"/>
              <a:t>．．．</a:t>
            </a:r>
            <a:endParaRPr lang="en-US" altLang="ko-KR" dirty="0"/>
          </a:p>
          <a:p>
            <a:r>
              <a:rPr lang="en-US" altLang="ko-KR" dirty="0"/>
              <a:t>- </a:t>
            </a:r>
            <a:r>
              <a:rPr lang="ko-KR" altLang="en-US" dirty="0"/>
              <a:t>각 슬라이드별 텍스트 검수 꼭 부탁해요</a:t>
            </a:r>
            <a:r>
              <a:rPr lang="en-US" altLang="ko-KR" dirty="0"/>
              <a:t>~ (</a:t>
            </a:r>
            <a:r>
              <a:rPr lang="ko-KR" altLang="en-US" dirty="0"/>
              <a:t>눈에 띄는 것들만 우선 수정했는데 아직 더 수정해야 해요</a:t>
            </a:r>
            <a:r>
              <a:rPr lang="en-US" altLang="ko-KR" dirty="0"/>
              <a:t>)</a:t>
            </a:r>
            <a:r>
              <a:rPr lang="ko-KR" altLang="en-US" dirty="0"/>
              <a:t> 　</a:t>
            </a:r>
            <a:endParaRPr lang="en-US" altLang="ko-KR" dirty="0"/>
          </a:p>
          <a:p>
            <a:r>
              <a:rPr lang="ko-KR" altLang="en-US" dirty="0"/>
              <a:t>－</a:t>
            </a:r>
            <a:r>
              <a:rPr lang="ko-KR" altLang="en-US" dirty="0" err="1"/>
              <a:t>Ｄｅｍｏ는</a:t>
            </a:r>
            <a:r>
              <a:rPr lang="ko-KR" altLang="en-US" dirty="0"/>
              <a:t>　꼭　시나리오　정해놓고　</a:t>
            </a:r>
            <a:r>
              <a:rPr lang="ko-KR" altLang="en-US" dirty="0" err="1"/>
              <a:t>애드립</a:t>
            </a:r>
            <a:r>
              <a:rPr lang="ko-KR" altLang="en-US" dirty="0"/>
              <a:t>　없이　그대로　실행하는　연습해야　합니다．　</a:t>
            </a:r>
            <a:endParaRPr lang="en-US" altLang="ko-KR" dirty="0"/>
          </a:p>
          <a:p>
            <a:r>
              <a:rPr lang="ko-KR" altLang="en-US" dirty="0"/>
              <a:t>（</a:t>
            </a:r>
            <a:r>
              <a:rPr lang="ko-KR" altLang="en-US" dirty="0" err="1"/>
              <a:t>Ｄｅｍｏ</a:t>
            </a:r>
            <a:r>
              <a:rPr lang="ko-KR" altLang="en-US" dirty="0"/>
              <a:t>　시간도　체크해서　필요　시간　공유하기）</a:t>
            </a:r>
          </a:p>
        </p:txBody>
      </p:sp>
    </p:spTree>
    <p:extLst>
      <p:ext uri="{BB962C8B-B14F-4D97-AF65-F5344CB8AC3E}">
        <p14:creationId xmlns:p14="http://schemas.microsoft.com/office/powerpoint/2010/main" val="1586703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569CC3-FA41-9183-6581-B81EB7DE2699}"/>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3F8A9FF-6F01-A1D6-0459-F53A10D9B3D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rot="5400000">
            <a:off x="5127403" y="1117240"/>
            <a:ext cx="5136916" cy="2902437"/>
          </a:xfrm>
          <a:prstGeom prst="rect">
            <a:avLst/>
          </a:prstGeom>
        </p:spPr>
      </p:pic>
      <p:pic>
        <p:nvPicPr>
          <p:cNvPr id="7" name="그림 6">
            <a:extLst>
              <a:ext uri="{FF2B5EF4-FFF2-40B4-BE49-F238E27FC236}">
                <a16:creationId xmlns:a16="http://schemas.microsoft.com/office/drawing/2014/main" id="{341FC47D-CA4B-CB11-36E4-AC02C0932753}"/>
              </a:ext>
            </a:extLst>
          </p:cNvPr>
          <p:cNvPicPr>
            <a:picLocks noChangeAspect="1"/>
          </p:cNvPicPr>
          <p:nvPr/>
        </p:nvPicPr>
        <p:blipFill>
          <a:blip r:embed="rId3" cstate="hqprint">
            <a:extLst>
              <a:ext uri="{28A0092B-C50C-407E-A947-70E740481C1C}">
                <a14:useLocalDpi xmlns:a14="http://schemas.microsoft.com/office/drawing/2010/main"/>
              </a:ext>
            </a:extLst>
          </a:blip>
          <a:srcRect b="-4"/>
          <a:stretch>
            <a:fillRect/>
          </a:stretch>
        </p:blipFill>
        <p:spPr>
          <a:xfrm>
            <a:off x="-896" y="2735953"/>
            <a:ext cx="3897316" cy="2407548"/>
          </a:xfrm>
          <a:prstGeom prst="rect">
            <a:avLst/>
          </a:prstGeom>
        </p:spPr>
      </p:pic>
      <p:pic>
        <p:nvPicPr>
          <p:cNvPr id="11" name="그림 10">
            <a:extLst>
              <a:ext uri="{FF2B5EF4-FFF2-40B4-BE49-F238E27FC236}">
                <a16:creationId xmlns:a16="http://schemas.microsoft.com/office/drawing/2014/main" id="{C6C6CB08-B97E-1269-7503-88A2C1669E53}"/>
              </a:ext>
            </a:extLst>
          </p:cNvPr>
          <p:cNvPicPr>
            <a:picLocks noChangeAspect="1"/>
          </p:cNvPicPr>
          <p:nvPr/>
        </p:nvPicPr>
        <p:blipFill>
          <a:blip r:embed="rId4" cstate="hqprint">
            <a:extLst>
              <a:ext uri="{28A0092B-C50C-407E-A947-70E740481C1C}">
                <a14:useLocalDpi xmlns:a14="http://schemas.microsoft.com/office/drawing/2010/main"/>
              </a:ext>
            </a:extLst>
          </a:blip>
          <a:srcRect t="-124" b="-2"/>
          <a:stretch>
            <a:fillRect/>
          </a:stretch>
        </p:blipFill>
        <p:spPr>
          <a:xfrm>
            <a:off x="-5366" y="-1"/>
            <a:ext cx="3005343" cy="2016691"/>
          </a:xfrm>
          <a:prstGeom prst="rect">
            <a:avLst/>
          </a:prstGeom>
        </p:spPr>
      </p:pic>
      <p:pic>
        <p:nvPicPr>
          <p:cNvPr id="9" name="그림 8">
            <a:extLst>
              <a:ext uri="{FF2B5EF4-FFF2-40B4-BE49-F238E27FC236}">
                <a16:creationId xmlns:a16="http://schemas.microsoft.com/office/drawing/2014/main" id="{374EAB16-C16C-68DA-5B89-56921A1EF5F6}"/>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984538" y="2962142"/>
            <a:ext cx="2223712" cy="2181358"/>
          </a:xfrm>
          <a:prstGeom prst="rect">
            <a:avLst/>
          </a:prstGeom>
        </p:spPr>
      </p:pic>
      <p:pic>
        <p:nvPicPr>
          <p:cNvPr id="15" name="그림 14">
            <a:extLst>
              <a:ext uri="{FF2B5EF4-FFF2-40B4-BE49-F238E27FC236}">
                <a16:creationId xmlns:a16="http://schemas.microsoft.com/office/drawing/2014/main" id="{0C4AB59E-A2EE-73A6-0FC2-18454F35DD78}"/>
              </a:ext>
            </a:extLst>
          </p:cNvPr>
          <p:cNvPicPr>
            <a:picLocks noChangeAspect="1"/>
          </p:cNvPicPr>
          <p:nvPr/>
        </p:nvPicPr>
        <p:blipFill>
          <a:blip r:embed="rId6" cstate="hqprint">
            <a:extLst>
              <a:ext uri="{28A0092B-C50C-407E-A947-70E740481C1C}">
                <a14:useLocalDpi xmlns:a14="http://schemas.microsoft.com/office/drawing/2010/main"/>
              </a:ext>
            </a:extLst>
          </a:blip>
          <a:srcRect t="-1"/>
          <a:stretch>
            <a:fillRect/>
          </a:stretch>
        </p:blipFill>
        <p:spPr>
          <a:xfrm>
            <a:off x="3030395" y="69429"/>
            <a:ext cx="3164094" cy="2567300"/>
          </a:xfrm>
          <a:prstGeom prst="rect">
            <a:avLst/>
          </a:prstGeom>
        </p:spPr>
      </p:pic>
      <p:sp>
        <p:nvSpPr>
          <p:cNvPr id="20" name="Text 5">
            <a:extLst>
              <a:ext uri="{FF2B5EF4-FFF2-40B4-BE49-F238E27FC236}">
                <a16:creationId xmlns:a16="http://schemas.microsoft.com/office/drawing/2014/main" id="{F9B28A69-4514-800A-0D24-B90051D4A998}"/>
              </a:ext>
            </a:extLst>
          </p:cNvPr>
          <p:cNvSpPr/>
          <p:nvPr/>
        </p:nvSpPr>
        <p:spPr>
          <a:xfrm>
            <a:off x="-5366" y="6583"/>
            <a:ext cx="9141714" cy="5130334"/>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endParaRPr lang="en-US" altLang="ko-KR" sz="2800" b="1" dirty="0">
              <a:solidFill>
                <a:schemeClr val="bg1"/>
              </a:solidFill>
            </a:endParaRPr>
          </a:p>
        </p:txBody>
      </p:sp>
      <p:sp>
        <p:nvSpPr>
          <p:cNvPr id="4" name="Text 5">
            <a:extLst>
              <a:ext uri="{FF2B5EF4-FFF2-40B4-BE49-F238E27FC236}">
                <a16:creationId xmlns:a16="http://schemas.microsoft.com/office/drawing/2014/main" id="{F89879EF-78E1-162B-967E-F5D50CBBB485}"/>
              </a:ext>
            </a:extLst>
          </p:cNvPr>
          <p:cNvSpPr/>
          <p:nvPr/>
        </p:nvSpPr>
        <p:spPr>
          <a:xfrm>
            <a:off x="-5366" y="2016689"/>
            <a:ext cx="9141714" cy="71926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000" dirty="0">
                <a:solidFill>
                  <a:schemeClr val="bg1"/>
                </a:solidFill>
              </a:rPr>
              <a:t>　　</a:t>
            </a:r>
            <a:endParaRPr lang="en-US" altLang="ko-KR" sz="2000" dirty="0">
              <a:solidFill>
                <a:schemeClr val="bg1"/>
              </a:solidFill>
            </a:endParaRPr>
          </a:p>
          <a:p>
            <a:pPr marL="180975">
              <a:lnSpc>
                <a:spcPts val="1700"/>
              </a:lnSpc>
              <a:buNone/>
            </a:pPr>
            <a:r>
              <a:rPr lang="ko-KR" altLang="en-US" sz="2800" b="1" dirty="0">
                <a:solidFill>
                  <a:schemeClr val="bg1"/>
                </a:solidFill>
              </a:rPr>
              <a:t>아름다운　제주에서　카페로　하나되는　마요선수</a:t>
            </a:r>
            <a:endParaRPr lang="en-US" altLang="ko-KR" sz="2800" b="1" dirty="0">
              <a:solidFill>
                <a:schemeClr val="bg1"/>
              </a:solidFill>
            </a:endParaRPr>
          </a:p>
        </p:txBody>
      </p:sp>
    </p:spTree>
    <p:extLst>
      <p:ext uri="{BB962C8B-B14F-4D97-AF65-F5344CB8AC3E}">
        <p14:creationId xmlns:p14="http://schemas.microsoft.com/office/powerpoint/2010/main" val="2897128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3906</Words>
  <Application>Microsoft Office PowerPoint</Application>
  <PresentationFormat>화면 슬라이드 쇼(16:9)</PresentationFormat>
  <Paragraphs>521</Paragraphs>
  <Slides>25</Slides>
  <Notes>23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25</vt:i4>
      </vt:variant>
    </vt:vector>
  </HeadingPairs>
  <TitlesOfParts>
    <vt:vector size="28"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카페인제주 — 제주 카페 추천 RAG 검색 서비스</dc:title>
  <dc:subject>PptxGenJS Presentation</dc:subject>
  <dc:creator>팀 마요선수</dc:creator>
  <cp:lastModifiedBy>e31866</cp:lastModifiedBy>
  <cp:revision>11</cp:revision>
  <dcterms:created xsi:type="dcterms:W3CDTF">2026-07-09T14:56:54Z</dcterms:created>
  <dcterms:modified xsi:type="dcterms:W3CDTF">2026-07-09T18:01:56Z</dcterms:modified>
</cp:coreProperties>
</file>